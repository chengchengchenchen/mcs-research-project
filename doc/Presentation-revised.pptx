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ppm"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41130059ae474ffa" Type="http://schemas.microsoft.com/office/2006/relationships/ui/extensibility" Target="customUI/customUI.xml"/><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370" r:id="rId5"/>
    <p:sldId id="456" r:id="rId6"/>
    <p:sldId id="483" r:id="rId7"/>
    <p:sldId id="469" r:id="rId8"/>
    <p:sldId id="481" r:id="rId9"/>
    <p:sldId id="482" r:id="rId10"/>
    <p:sldId id="468" r:id="rId11"/>
    <p:sldId id="485" r:id="rId12"/>
    <p:sldId id="461" r:id="rId13"/>
    <p:sldId id="458" r:id="rId14"/>
    <p:sldId id="465" r:id="rId15"/>
    <p:sldId id="462" r:id="rId16"/>
    <p:sldId id="486" r:id="rId17"/>
    <p:sldId id="463" r:id="rId18"/>
    <p:sldId id="488" r:id="rId19"/>
    <p:sldId id="487" r:id="rId20"/>
    <p:sldId id="489" r:id="rId21"/>
  </p:sldIdLst>
  <p:sldSz cx="12192000" cy="6858000"/>
  <p:notesSz cx="6858000" cy="9144000"/>
  <p:defaultTex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defaultTextStyle>
  <p:extLst>
    <p:ext uri="{521415D9-36F7-43E2-AB2F-B90AF26B5E84}">
      <p14:sectionLst xmlns:p14="http://schemas.microsoft.com/office/powerpoint/2010/main">
        <p14:section name="Right Click for Option" id="{4FDA67CD-A15C-4C29-8948-D1BF91269A83}">
          <p14:sldIdLst>
            <p14:sldId id="370"/>
            <p14:sldId id="456"/>
            <p14:sldId id="483"/>
            <p14:sldId id="469"/>
            <p14:sldId id="481"/>
            <p14:sldId id="482"/>
            <p14:sldId id="468"/>
            <p14:sldId id="485"/>
            <p14:sldId id="461"/>
            <p14:sldId id="458"/>
            <p14:sldId id="465"/>
            <p14:sldId id="462"/>
            <p14:sldId id="486"/>
            <p14:sldId id="463"/>
            <p14:sldId id="488"/>
            <p14:sldId id="487"/>
            <p14:sldId id="48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y" initials="" lastIdx="0" clrIdx="0"/>
  <p:cmAuthor id="1" name="Shay" initial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999E"/>
    <a:srgbClr val="FFFFFF"/>
    <a:srgbClr val="000F46"/>
    <a:srgbClr val="F2B8D8"/>
    <a:srgbClr val="EB7BBE"/>
    <a:srgbClr val="FFD629"/>
    <a:srgbClr val="EBEBEB"/>
    <a:srgbClr val="4F4C37"/>
    <a:srgbClr val="1E497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186E7CC-E9CA-4A81-9595-9A8B10420DC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5" autoAdjust="0"/>
    <p:restoredTop sz="78636" autoAdjust="0"/>
  </p:normalViewPr>
  <p:slideViewPr>
    <p:cSldViewPr snapToObjects="1">
      <p:cViewPr varScale="1">
        <p:scale>
          <a:sx n="86" d="100"/>
          <a:sy n="86" d="100"/>
        </p:scale>
        <p:origin x="1404" y="7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72" d="100"/>
        <a:sy n="172" d="100"/>
      </p:scale>
      <p:origin x="0" y="-9864"/>
    </p:cViewPr>
  </p:sorterViewPr>
  <p:notesViewPr>
    <p:cSldViewPr snapToObjects="1" showGuides="1">
      <p:cViewPr varScale="1">
        <p:scale>
          <a:sx n="84" d="100"/>
          <a:sy n="84" d="100"/>
        </p:scale>
        <p:origin x="297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72000" tIns="72000" rIns="72000" bIns="72000" rtlCol="0" anchor="t" anchorCtr="0"/>
          <a:lstStyle/>
          <a:p>
            <a:endParaRPr lang="en-AU" sz="1000" dirty="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72000" tIns="72000" rIns="72000" bIns="72000" rtlCol="0"/>
          <a:lstStyle>
            <a:lvl1pPr algn="r">
              <a:defRPr sz="1200"/>
            </a:lvl1pPr>
          </a:lstStyle>
          <a:p>
            <a:fld id="{4E50C307-5AD1-4F8C-91A0-1FC7219EFB34}" type="datetimeFigureOut">
              <a:rPr lang="en-AU" sz="1000" smtClean="0">
                <a:cs typeface="Arial" pitchFamily="34" charset="0"/>
              </a:rPr>
              <a:t>24/10/2025</a:t>
            </a:fld>
            <a:endParaRPr lang="en-AU" sz="1000" dirty="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72000" tIns="72000" rIns="72000" bIns="72000" rtlCol="0" anchor="b"/>
          <a:lstStyle>
            <a:lvl1pPr algn="l">
              <a:defRPr sz="1200"/>
            </a:lvl1pPr>
          </a:lstStyle>
          <a:p>
            <a:endParaRPr lang="en-AU" sz="1000" dirty="0">
              <a:cs typeface="Arial" pitchFamily="34" charset="0"/>
            </a:endParaRPr>
          </a:p>
        </p:txBody>
      </p:sp>
      <p:sp>
        <p:nvSpPr>
          <p:cNvPr id="5" name="Slide Number Placeholder 4"/>
          <p:cNvSpPr>
            <a:spLocks noGrp="1"/>
          </p:cNvSpPr>
          <p:nvPr>
            <p:ph type="sldNum" sz="quarter" idx="3"/>
          </p:nvPr>
        </p:nvSpPr>
        <p:spPr>
          <a:xfrm>
            <a:off x="5769261" y="8685213"/>
            <a:ext cx="1087153" cy="457200"/>
          </a:xfrm>
          <a:prstGeom prst="rect">
            <a:avLst/>
          </a:prstGeom>
        </p:spPr>
        <p:txBody>
          <a:bodyPr vert="horz" lIns="0" tIns="36000" rIns="91440" bIns="36000" rtlCol="0" anchor="b"/>
          <a:lstStyle>
            <a:lvl1pPr algn="r">
              <a:defRPr sz="1200"/>
            </a:lvl1pPr>
          </a:lstStyle>
          <a:p>
            <a:fld id="{AF84CFB5-B6E9-4915-957C-05CFA717E28F}" type="slidenum">
              <a:rPr lang="en-AU" sz="1000" smtClean="0">
                <a:cs typeface="Arial" pitchFamily="34" charset="0"/>
              </a:rPr>
              <a:t>‹#›</a:t>
            </a:fld>
            <a:endParaRPr lang="en-AU" sz="1000" dirty="0">
              <a:cs typeface="Arial" pitchFamily="34" charset="0"/>
            </a:endParaRPr>
          </a:p>
        </p:txBody>
      </p:sp>
    </p:spTree>
    <p:extLst>
      <p:ext uri="{BB962C8B-B14F-4D97-AF65-F5344CB8AC3E}">
        <p14:creationId xmlns:p14="http://schemas.microsoft.com/office/powerpoint/2010/main" val="2668290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6200" y="76200"/>
            <a:ext cx="5017985" cy="381000"/>
          </a:xfrm>
          <a:prstGeom prst="rect">
            <a:avLst/>
          </a:prstGeom>
        </p:spPr>
        <p:txBody>
          <a:bodyPr vert="horz" lIns="0" tIns="0" rIns="0" bIns="0" rtlCol="0"/>
          <a:lstStyle>
            <a:lvl1pPr algn="l">
              <a:defRPr sz="1200">
                <a:latin typeface="+mn-lt"/>
              </a:defRPr>
            </a:lvl1pPr>
          </a:lstStyle>
          <a:p>
            <a:endParaRPr lang="en-AU" dirty="0"/>
          </a:p>
        </p:txBody>
      </p:sp>
      <p:sp>
        <p:nvSpPr>
          <p:cNvPr id="3" name="Date Placeholder 2"/>
          <p:cNvSpPr>
            <a:spLocks noGrp="1"/>
          </p:cNvSpPr>
          <p:nvPr>
            <p:ph type="dt" idx="1"/>
          </p:nvPr>
        </p:nvSpPr>
        <p:spPr>
          <a:xfrm>
            <a:off x="5398770" y="64770"/>
            <a:ext cx="1417320" cy="381000"/>
          </a:xfrm>
          <a:prstGeom prst="rect">
            <a:avLst/>
          </a:prstGeom>
        </p:spPr>
        <p:txBody>
          <a:bodyPr vert="horz" lIns="0" tIns="0" rIns="0" bIns="0" rtlCol="0"/>
          <a:lstStyle>
            <a:lvl1pPr algn="r">
              <a:defRPr sz="1200">
                <a:latin typeface="+mn-lt"/>
              </a:defRPr>
            </a:lvl1pPr>
          </a:lstStyle>
          <a:p>
            <a:fld id="{9BB1C32A-CF46-409D-8B8D-587A7E3A4DCC}" type="datetimeFigureOut">
              <a:rPr lang="en-AU" smtClean="0"/>
              <a:pPr/>
              <a:t>24/10/2025</a:t>
            </a:fld>
            <a:endParaRPr lang="en-AU" dirty="0"/>
          </a:p>
        </p:txBody>
      </p:sp>
      <p:sp>
        <p:nvSpPr>
          <p:cNvPr id="4" name="Slide Image Placeholder 3"/>
          <p:cNvSpPr>
            <a:spLocks noGrp="1" noRot="1" noChangeAspect="1"/>
          </p:cNvSpPr>
          <p:nvPr>
            <p:ph type="sldImg" idx="2"/>
          </p:nvPr>
        </p:nvSpPr>
        <p:spPr>
          <a:xfrm>
            <a:off x="-246063" y="542925"/>
            <a:ext cx="7342188" cy="4130675"/>
          </a:xfrm>
          <a:prstGeom prst="rect">
            <a:avLst/>
          </a:prstGeom>
          <a:noFill/>
          <a:ln w="3175">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2264" y="4977044"/>
            <a:ext cx="5505891" cy="3481155"/>
          </a:xfrm>
          <a:prstGeom prst="rect">
            <a:avLst/>
          </a:prstGeom>
        </p:spPr>
        <p:txBody>
          <a:bodyPr vert="horz" lIns="0" tIns="0" rIns="0" bIns="0" rtlCol="0">
            <a:normAutofit/>
          </a:bodyPr>
          <a:lstStyle/>
          <a:p>
            <a:pPr lvl="0"/>
            <a:r>
              <a:rPr lang="en-AU" noProof="0" dirty="0"/>
              <a:t>Click to edit Master text styles</a:t>
            </a:r>
          </a:p>
          <a:p>
            <a:pPr marL="0" lvl="1"/>
            <a:r>
              <a:rPr lang="en-AU" noProof="0" dirty="0"/>
              <a:t>Second level</a:t>
            </a:r>
          </a:p>
          <a:p>
            <a:pPr marL="144000" lvl="2" indent="-144000">
              <a:buFont typeface="Arial" pitchFamily="34" charset="0"/>
              <a:buChar char="•"/>
            </a:pPr>
            <a:r>
              <a:rPr lang="en-AU" noProof="0" dirty="0"/>
              <a:t>Third level</a:t>
            </a:r>
          </a:p>
          <a:p>
            <a:pPr marL="288000" lvl="3" indent="-144000">
              <a:buFont typeface="Arial" pitchFamily="34" charset="0"/>
              <a:buChar char="•"/>
            </a:pPr>
            <a:r>
              <a:rPr lang="en-AU" noProof="0" dirty="0"/>
              <a:t>Fourth level</a:t>
            </a:r>
          </a:p>
        </p:txBody>
      </p:sp>
      <p:sp>
        <p:nvSpPr>
          <p:cNvPr id="6" name="Footer Placeholder 5"/>
          <p:cNvSpPr>
            <a:spLocks noGrp="1"/>
          </p:cNvSpPr>
          <p:nvPr>
            <p:ph type="ftr" sz="quarter" idx="4"/>
          </p:nvPr>
        </p:nvSpPr>
        <p:spPr>
          <a:xfrm>
            <a:off x="76200" y="8685213"/>
            <a:ext cx="4800600" cy="360000"/>
          </a:xfrm>
          <a:prstGeom prst="rect">
            <a:avLst/>
          </a:prstGeom>
        </p:spPr>
        <p:txBody>
          <a:bodyPr vert="horz" lIns="91440" tIns="45720" rIns="91440" bIns="45720" rtlCol="0" anchor="b"/>
          <a:lstStyle>
            <a:lvl1pPr algn="l">
              <a:defRPr sz="1200">
                <a:latin typeface="+mn-lt"/>
                <a:cs typeface="Arial" pitchFamily="34" charset="0"/>
              </a:defRPr>
            </a:lvl1pPr>
          </a:lstStyle>
          <a:p>
            <a:endParaRPr lang="en-AU" dirty="0"/>
          </a:p>
        </p:txBody>
      </p:sp>
      <p:sp>
        <p:nvSpPr>
          <p:cNvPr id="7" name="Slide Number Placeholder 6"/>
          <p:cNvSpPr>
            <a:spLocks noGrp="1"/>
          </p:cNvSpPr>
          <p:nvPr>
            <p:ph type="sldNum" sz="quarter" idx="5"/>
          </p:nvPr>
        </p:nvSpPr>
        <p:spPr>
          <a:xfrm>
            <a:off x="5855969" y="8685213"/>
            <a:ext cx="989013" cy="360000"/>
          </a:xfrm>
          <a:prstGeom prst="rect">
            <a:avLst/>
          </a:prstGeom>
        </p:spPr>
        <p:txBody>
          <a:bodyPr vert="horz" lIns="91440" tIns="45720" rIns="91440" bIns="45720" rtlCol="0" anchor="b"/>
          <a:lstStyle>
            <a:lvl1pPr algn="r">
              <a:defRPr sz="1200">
                <a:latin typeface="+mn-lt"/>
              </a:defRPr>
            </a:lvl1pPr>
          </a:lstStyle>
          <a:p>
            <a:fld id="{D5A593CC-2149-4E6C-BC3C-0044C280ECB2}" type="slidenum">
              <a:rPr lang="en-AU" smtClean="0"/>
              <a:pPr/>
              <a:t>‹#›</a:t>
            </a:fld>
            <a:endParaRPr lang="en-AU"/>
          </a:p>
        </p:txBody>
      </p:sp>
    </p:spTree>
    <p:extLst>
      <p:ext uri="{BB962C8B-B14F-4D97-AF65-F5344CB8AC3E}">
        <p14:creationId xmlns:p14="http://schemas.microsoft.com/office/powerpoint/2010/main" val="3772576877"/>
      </p:ext>
    </p:extLst>
  </p:cSld>
  <p:clrMap bg1="lt1" tx1="dk1" bg2="lt2" tx2="dk2" accent1="accent1" accent2="accent2" accent3="accent3" accent4="accent4" accent5="accent5" accent6="accent6" hlink="hlink" folHlink="folHlink"/>
  <p:notesStyle>
    <a:lvl1pPr marL="0" algn="l" defTabSz="1218895" rtl="0" eaLnBrk="1" latinLnBrk="0" hangingPunct="1">
      <a:defRPr lang="en-US" sz="1600" b="1" kern="1200" dirty="0" smtClean="0">
        <a:solidFill>
          <a:schemeClr val="tx1"/>
        </a:solidFill>
        <a:latin typeface="+mn-lt"/>
        <a:ea typeface="+mn-ea"/>
        <a:cs typeface="Arial" pitchFamily="34" charset="0"/>
      </a:defRPr>
    </a:lvl1pPr>
    <a:lvl2pPr marL="609448" algn="l" defTabSz="1218895" rtl="0" eaLnBrk="1" latinLnBrk="0" hangingPunct="1">
      <a:defRPr lang="en-US" sz="1600" kern="1200" dirty="0" smtClean="0">
        <a:solidFill>
          <a:schemeClr val="tx1"/>
        </a:solidFill>
        <a:latin typeface="Arial" pitchFamily="34" charset="0"/>
        <a:ea typeface="+mn-ea"/>
        <a:cs typeface="Arial" pitchFamily="34" charset="0"/>
      </a:defRPr>
    </a:lvl2pPr>
    <a:lvl3pPr marL="1218895" algn="l" defTabSz="1218895" rtl="0" eaLnBrk="1" latinLnBrk="0" hangingPunct="1">
      <a:defRPr lang="en-US" sz="1600" kern="1200" dirty="0" smtClean="0">
        <a:solidFill>
          <a:schemeClr val="tx1"/>
        </a:solidFill>
        <a:latin typeface="Arial" pitchFamily="34" charset="0"/>
        <a:ea typeface="+mn-ea"/>
        <a:cs typeface="Arial" pitchFamily="34" charset="0"/>
      </a:defRPr>
    </a:lvl3pPr>
    <a:lvl4pPr marL="1828343" algn="l" defTabSz="1218895" rtl="0" eaLnBrk="1" latinLnBrk="0" hangingPunct="1">
      <a:defRPr lang="en-US" sz="1600" kern="1200" dirty="0" smtClean="0">
        <a:solidFill>
          <a:schemeClr val="tx1"/>
        </a:solidFill>
        <a:latin typeface="Arial" pitchFamily="34" charset="0"/>
        <a:ea typeface="+mn-ea"/>
        <a:cs typeface="Arial" pitchFamily="34" charset="0"/>
      </a:defRPr>
    </a:lvl4pPr>
    <a:lvl5pPr marL="2437790" algn="l" defTabSz="1218895" rtl="0" eaLnBrk="1" latinLnBrk="0" hangingPunct="1">
      <a:defRPr lang="en-AU" sz="1600" kern="1200" baseline="0" dirty="0">
        <a:solidFill>
          <a:schemeClr val="tx1"/>
        </a:solidFill>
        <a:latin typeface="Arial" pitchFamily="34" charset="0"/>
        <a:ea typeface="+mn-ea"/>
        <a:cs typeface="Arial" pitchFamily="34" charset="0"/>
      </a:defRPr>
    </a:lvl5pPr>
    <a:lvl6pPr marL="3047238" algn="l" defTabSz="1218895" rtl="0" eaLnBrk="1" latinLnBrk="0" hangingPunct="1">
      <a:defRPr sz="1600" kern="1200">
        <a:solidFill>
          <a:schemeClr val="tx1"/>
        </a:solidFill>
        <a:latin typeface="+mn-lt"/>
        <a:ea typeface="+mn-ea"/>
        <a:cs typeface="+mn-cs"/>
      </a:defRPr>
    </a:lvl6pPr>
    <a:lvl7pPr marL="3656686" algn="l" defTabSz="1218895" rtl="0" eaLnBrk="1" latinLnBrk="0" hangingPunct="1">
      <a:defRPr sz="1600" kern="1200">
        <a:solidFill>
          <a:schemeClr val="tx1"/>
        </a:solidFill>
        <a:latin typeface="+mn-lt"/>
        <a:ea typeface="+mn-ea"/>
        <a:cs typeface="+mn-cs"/>
      </a:defRPr>
    </a:lvl7pPr>
    <a:lvl8pPr marL="4266133" algn="l" defTabSz="1218895" rtl="0" eaLnBrk="1" latinLnBrk="0" hangingPunct="1">
      <a:defRPr sz="1600" kern="1200">
        <a:solidFill>
          <a:schemeClr val="tx1"/>
        </a:solidFill>
        <a:latin typeface="+mn-lt"/>
        <a:ea typeface="+mn-ea"/>
        <a:cs typeface="+mn-cs"/>
      </a:defRPr>
    </a:lvl8pPr>
    <a:lvl9pPr marL="4875581" algn="l" defTabSz="121889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Good afternoon everyone. My name is </a:t>
            </a:r>
            <a:r>
              <a:rPr lang="en-US" altLang="zh-CN" b="0" dirty="0" err="1"/>
              <a:t>Jingcheng</a:t>
            </a:r>
            <a:r>
              <a:rPr lang="en-US" altLang="zh-CN" b="0" dirty="0"/>
              <a:t> Qian, and today I’ll be presenting my research on </a:t>
            </a:r>
            <a:r>
              <a:rPr lang="en-US" altLang="zh-CN" b="1" dirty="0"/>
              <a:t>“Data Quality of Generative Images for Object Detection.”</a:t>
            </a:r>
            <a:endParaRPr lang="en-US" altLang="zh-CN" b="1" i="1" dirty="0"/>
          </a:p>
        </p:txBody>
      </p:sp>
      <p:sp>
        <p:nvSpPr>
          <p:cNvPr id="4" name="灯片编号占位符 3"/>
          <p:cNvSpPr>
            <a:spLocks noGrp="1"/>
          </p:cNvSpPr>
          <p:nvPr>
            <p:ph type="sldNum" sz="quarter" idx="5"/>
          </p:nvPr>
        </p:nvSpPr>
        <p:spPr/>
        <p:txBody>
          <a:bodyPr/>
          <a:lstStyle/>
          <a:p>
            <a:fld id="{D5A593CC-2149-4E6C-BC3C-0044C280ECB2}" type="slidenum">
              <a:rPr lang="en-AU" smtClean="0"/>
              <a:pPr/>
              <a:t>1</a:t>
            </a:fld>
            <a:endParaRPr lang="en-AU"/>
          </a:p>
        </p:txBody>
      </p:sp>
    </p:spTree>
    <p:extLst>
      <p:ext uri="{BB962C8B-B14F-4D97-AF65-F5344CB8AC3E}">
        <p14:creationId xmlns:p14="http://schemas.microsoft.com/office/powerpoint/2010/main" val="2110191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20000"/>
          </a:bodyPr>
          <a:lstStyle/>
          <a:p>
            <a:pPr algn="l"/>
            <a:r>
              <a:rPr lang="en-US" altLang="zh-CN" b="0" i="0" dirty="0">
                <a:solidFill>
                  <a:srgbClr val="333333"/>
                </a:solidFill>
                <a:effectLst/>
                <a:latin typeface="Open Sans" panose="020B0606030504020204" pitchFamily="34" charset="0"/>
              </a:rPr>
              <a:t>In the past decade, object detection has become powerful and easy to use. Thanks to open-source models and affordable hardware, almost anyone can train a detector even on a laptop.</a:t>
            </a:r>
          </a:p>
          <a:p>
            <a:pPr algn="l"/>
            <a:r>
              <a:rPr lang="en-US" altLang="zh-CN" b="0" i="0" dirty="0">
                <a:solidFill>
                  <a:srgbClr val="333333"/>
                </a:solidFill>
                <a:effectLst/>
                <a:latin typeface="Open Sans" panose="020B0606030504020204" pitchFamily="34" charset="0"/>
              </a:rPr>
              <a:t>But what really limits progress today is still </a:t>
            </a:r>
            <a:r>
              <a:rPr lang="en-US" altLang="zh-CN" b="1" i="0" dirty="0">
                <a:solidFill>
                  <a:srgbClr val="333333"/>
                </a:solidFill>
                <a:effectLst/>
                <a:latin typeface="Open Sans" panose="020B0606030504020204" pitchFamily="34" charset="0"/>
              </a:rPr>
              <a:t>data</a:t>
            </a:r>
            <a:r>
              <a:rPr lang="en-US" altLang="zh-CN" b="0" i="0" dirty="0">
                <a:solidFill>
                  <a:srgbClr val="333333"/>
                </a:solidFill>
                <a:effectLst/>
                <a:latin typeface="Open Sans" panose="020B0606030504020204" pitchFamily="34" charset="0"/>
              </a:rPr>
              <a:t>, not the model. In academia, we usually focus on improving architectures using large, public datasets. But in the </a:t>
            </a:r>
            <a:r>
              <a:rPr lang="en-US" altLang="zh-CN" b="1" i="0" dirty="0">
                <a:solidFill>
                  <a:srgbClr val="333333"/>
                </a:solidFill>
                <a:effectLst/>
                <a:latin typeface="Open Sans" panose="020B0606030504020204" pitchFamily="34" charset="0"/>
              </a:rPr>
              <a:t>industry</a:t>
            </a:r>
            <a:r>
              <a:rPr lang="en-US" altLang="zh-CN" b="0" i="0" dirty="0">
                <a:solidFill>
                  <a:srgbClr val="333333"/>
                </a:solidFill>
                <a:effectLst/>
                <a:latin typeface="Open Sans" panose="020B0606030504020204" pitchFamily="34" charset="0"/>
              </a:rPr>
              <a:t>, it’s a very different story — companies often need to detect </a:t>
            </a:r>
            <a:r>
              <a:rPr lang="en-US" altLang="zh-CN" b="1" i="0" dirty="0">
                <a:solidFill>
                  <a:srgbClr val="333333"/>
                </a:solidFill>
                <a:effectLst/>
                <a:latin typeface="Open Sans" panose="020B0606030504020204" pitchFamily="34" charset="0"/>
              </a:rPr>
              <a:t>uncommon or new types of objects</a:t>
            </a:r>
            <a:r>
              <a:rPr lang="en-US" altLang="zh-CN" b="0" i="0" dirty="0">
                <a:solidFill>
                  <a:srgbClr val="333333"/>
                </a:solidFill>
                <a:effectLst/>
                <a:latin typeface="Open Sans" panose="020B0606030504020204" pitchFamily="34" charset="0"/>
              </a:rPr>
              <a:t>, and they usually have </a:t>
            </a:r>
            <a:r>
              <a:rPr lang="en-US" altLang="zh-CN" b="1" i="0" dirty="0">
                <a:solidFill>
                  <a:srgbClr val="333333"/>
                </a:solidFill>
                <a:effectLst/>
                <a:latin typeface="Open Sans" panose="020B0606030504020204" pitchFamily="34" charset="0"/>
              </a:rPr>
              <a:t>very limited labeled data</a:t>
            </a:r>
            <a:r>
              <a:rPr lang="en-US" altLang="zh-CN" b="0" i="0" dirty="0">
                <a:solidFill>
                  <a:srgbClr val="333333"/>
                </a:solidFill>
                <a:effectLst/>
                <a:latin typeface="Open Sans" panose="020B0606030504020204" pitchFamily="34" charset="0"/>
              </a:rPr>
              <a:t> to work with.</a:t>
            </a:r>
          </a:p>
          <a:p>
            <a:pPr algn="l"/>
            <a:r>
              <a:rPr lang="en-US" altLang="zh-CN" b="0" i="0" dirty="0">
                <a:solidFill>
                  <a:srgbClr val="333333"/>
                </a:solidFill>
                <a:effectLst/>
                <a:latin typeface="Open Sans" panose="020B0606030504020204" pitchFamily="34" charset="0"/>
              </a:rPr>
              <a:t>That’s where </a:t>
            </a:r>
            <a:r>
              <a:rPr lang="en-US" altLang="zh-CN" b="1" i="0" dirty="0">
                <a:solidFill>
                  <a:srgbClr val="333333"/>
                </a:solidFill>
                <a:effectLst/>
                <a:latin typeface="Open Sans" panose="020B0606030504020204" pitchFamily="34" charset="0"/>
              </a:rPr>
              <a:t>Generative AI</a:t>
            </a:r>
            <a:r>
              <a:rPr lang="en-US" altLang="zh-CN" b="0" i="0" dirty="0">
                <a:solidFill>
                  <a:srgbClr val="333333"/>
                </a:solidFill>
                <a:effectLst/>
                <a:latin typeface="Open Sans" panose="020B0606030504020204" pitchFamily="34" charset="0"/>
              </a:rPr>
              <a:t> comes in. Diffusion models can now create </a:t>
            </a:r>
            <a:r>
              <a:rPr lang="en-US" altLang="zh-CN" b="1" i="0" dirty="0">
                <a:solidFill>
                  <a:srgbClr val="333333"/>
                </a:solidFill>
                <a:effectLst/>
                <a:latin typeface="Open Sans" panose="020B0606030504020204" pitchFamily="34" charset="0"/>
              </a:rPr>
              <a:t>realistic and diverse AI-generated scenes</a:t>
            </a:r>
            <a:r>
              <a:rPr lang="en-US" altLang="zh-CN" b="0" i="0" dirty="0">
                <a:solidFill>
                  <a:srgbClr val="333333"/>
                </a:solidFill>
                <a:effectLst/>
                <a:latin typeface="Open Sans" panose="020B0606030504020204" pitchFamily="34" charset="0"/>
              </a:rPr>
              <a:t>, offering a way to </a:t>
            </a:r>
            <a:r>
              <a:rPr lang="en-US" altLang="zh-CN" b="1" i="0" dirty="0">
                <a:solidFill>
                  <a:srgbClr val="333333"/>
                </a:solidFill>
                <a:effectLst/>
                <a:latin typeface="Open Sans" panose="020B0606030504020204" pitchFamily="34" charset="0"/>
              </a:rPr>
              <a:t>expand datasets</a:t>
            </a:r>
            <a:r>
              <a:rPr lang="en-US" altLang="zh-CN" b="0" i="0" dirty="0">
                <a:solidFill>
                  <a:srgbClr val="333333"/>
                </a:solidFill>
                <a:effectLst/>
                <a:latin typeface="Open Sans" panose="020B0606030504020204" pitchFamily="34" charset="0"/>
              </a:rPr>
              <a:t> when real samples are limited.</a:t>
            </a:r>
          </a:p>
          <a:p>
            <a:pPr algn="l"/>
            <a:r>
              <a:rPr lang="en-US" altLang="zh-CN" b="0" i="1" dirty="0">
                <a:solidFill>
                  <a:srgbClr val="333333"/>
                </a:solidFill>
                <a:effectLst/>
                <a:latin typeface="Open Sans" panose="020B0606030504020204" pitchFamily="34" charset="0"/>
              </a:rPr>
              <a:t>(In the figure here — the top shows a real photo captured at dusk, and the bottom is a diffusion-generated version — similar scene, but created entirely from text.)</a:t>
            </a:r>
            <a:endParaRPr lang="en-US" altLang="zh-CN" b="0" i="0" dirty="0">
              <a:solidFill>
                <a:srgbClr val="333333"/>
              </a:solidFill>
              <a:effectLst/>
              <a:latin typeface="Open Sans" panose="020B0606030504020204" pitchFamily="34" charset="0"/>
            </a:endParaRPr>
          </a:p>
          <a:p>
            <a:pPr algn="l"/>
            <a:r>
              <a:rPr lang="en-US" altLang="zh-CN" b="0" i="0" dirty="0">
                <a:solidFill>
                  <a:srgbClr val="333333"/>
                </a:solidFill>
                <a:effectLst/>
                <a:latin typeface="Open Sans" panose="020B0606030504020204" pitchFamily="34" charset="0"/>
              </a:rPr>
              <a:t>However, the quality and usefulness of such data for detection are still uncertain.</a:t>
            </a:r>
          </a:p>
          <a:p>
            <a:pPr algn="l"/>
            <a:r>
              <a:rPr lang="en-US" altLang="zh-CN" b="0" i="0" dirty="0">
                <a:solidFill>
                  <a:srgbClr val="333333"/>
                </a:solidFill>
                <a:effectLst/>
                <a:latin typeface="Open Sans" panose="020B0606030504020204" pitchFamily="34" charset="0"/>
              </a:rPr>
              <a:t>So, in collaboration with </a:t>
            </a:r>
            <a:r>
              <a:rPr lang="en-US" altLang="zh-CN" b="1" i="0" dirty="0">
                <a:solidFill>
                  <a:srgbClr val="333333"/>
                </a:solidFill>
                <a:effectLst/>
                <a:latin typeface="Open Sans" panose="020B0606030504020204" pitchFamily="34" charset="0"/>
              </a:rPr>
              <a:t>Swordfish Computing</a:t>
            </a:r>
            <a:r>
              <a:rPr lang="en-US" altLang="zh-CN" b="0" i="0" dirty="0">
                <a:solidFill>
                  <a:srgbClr val="333333"/>
                </a:solidFill>
                <a:effectLst/>
                <a:latin typeface="Open Sans" panose="020B0606030504020204" pitchFamily="34" charset="0"/>
              </a:rPr>
              <a:t>, this research explores how generated data improve accuracy and under what conditions.</a:t>
            </a:r>
          </a:p>
        </p:txBody>
      </p:sp>
      <p:sp>
        <p:nvSpPr>
          <p:cNvPr id="4" name="灯片编号占位符 3"/>
          <p:cNvSpPr>
            <a:spLocks noGrp="1"/>
          </p:cNvSpPr>
          <p:nvPr>
            <p:ph type="sldNum" sz="quarter" idx="5"/>
          </p:nvPr>
        </p:nvSpPr>
        <p:spPr/>
        <p:txBody>
          <a:bodyPr/>
          <a:lstStyle/>
          <a:p>
            <a:fld id="{D5A593CC-2149-4E6C-BC3C-0044C280ECB2}" type="slidenum">
              <a:rPr lang="en-AU" smtClean="0"/>
              <a:pPr/>
              <a:t>2</a:t>
            </a:fld>
            <a:endParaRPr lang="en-AU"/>
          </a:p>
        </p:txBody>
      </p:sp>
    </p:spTree>
    <p:extLst>
      <p:ext uri="{BB962C8B-B14F-4D97-AF65-F5344CB8AC3E}">
        <p14:creationId xmlns:p14="http://schemas.microsoft.com/office/powerpoint/2010/main" val="57290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So, here’s the outline for today’s talk.</a:t>
            </a:r>
          </a:p>
          <a:p>
            <a:r>
              <a:rPr lang="en-US" altLang="zh-CN" b="0" dirty="0"/>
              <a:t>I’ll start with some </a:t>
            </a:r>
            <a:r>
              <a:rPr lang="en-US" altLang="zh-CN" b="1" dirty="0"/>
              <a:t>background</a:t>
            </a:r>
            <a:r>
              <a:rPr lang="en-US" altLang="zh-CN" b="0" dirty="0"/>
              <a:t> — what’s the key </a:t>
            </a:r>
            <a:r>
              <a:rPr lang="en-US" altLang="zh-CN" b="1" dirty="0"/>
              <a:t>data challenge</a:t>
            </a:r>
            <a:r>
              <a:rPr lang="en-US" altLang="zh-CN" b="0" dirty="0"/>
              <a:t> and why it matters.</a:t>
            </a:r>
          </a:p>
          <a:p>
            <a:r>
              <a:rPr lang="en-US" altLang="zh-CN" b="0" dirty="0"/>
              <a:t> Then I’ll briefly go over </a:t>
            </a:r>
            <a:r>
              <a:rPr lang="en-US" altLang="zh-CN" b="1" dirty="0"/>
              <a:t>current methods</a:t>
            </a:r>
            <a:r>
              <a:rPr lang="en-US" altLang="zh-CN" b="0" dirty="0"/>
              <a:t> and their limitations.</a:t>
            </a:r>
          </a:p>
          <a:p>
            <a:r>
              <a:rPr lang="en-US" altLang="zh-CN" b="0" dirty="0"/>
              <a:t>After that, I’ll introduce </a:t>
            </a:r>
            <a:r>
              <a:rPr lang="en-US" altLang="zh-CN" b="1" dirty="0"/>
              <a:t>controllable diffusion models</a:t>
            </a:r>
            <a:r>
              <a:rPr lang="en-US" altLang="zh-CN" b="0" dirty="0"/>
              <a:t> and discuss the </a:t>
            </a:r>
            <a:r>
              <a:rPr lang="en-US" altLang="zh-CN" b="1" dirty="0"/>
              <a:t>main research objective</a:t>
            </a:r>
            <a:r>
              <a:rPr lang="en-US" altLang="zh-CN" b="0" dirty="0"/>
              <a:t> and </a:t>
            </a:r>
            <a:r>
              <a:rPr lang="en-US" altLang="zh-CN" b="1" dirty="0"/>
              <a:t>tasks</a:t>
            </a:r>
            <a:r>
              <a:rPr lang="en-US" altLang="zh-CN" b="0" dirty="0"/>
              <a:t>.</a:t>
            </a:r>
          </a:p>
          <a:p>
            <a:r>
              <a:rPr lang="en-US" altLang="zh-CN" b="0" dirty="0"/>
              <a:t>Finally, I’ll explain the overall framework, including the </a:t>
            </a:r>
            <a:r>
              <a:rPr lang="en-US" altLang="zh-CN" b="1" dirty="0"/>
              <a:t>methodology, dataset, generation pipeline</a:t>
            </a:r>
            <a:r>
              <a:rPr lang="en-US" altLang="zh-CN" b="0" dirty="0"/>
              <a:t>, and how we </a:t>
            </a:r>
            <a:r>
              <a:rPr lang="en-US" altLang="zh-CN" b="1" dirty="0"/>
              <a:t>evaluate</a:t>
            </a:r>
            <a:r>
              <a:rPr lang="en-US" altLang="zh-CN" b="0" dirty="0"/>
              <a:t> the results.</a:t>
            </a:r>
            <a:endParaRPr lang="en-US" altLang="zh-CN" b="0" i="1" dirty="0"/>
          </a:p>
        </p:txBody>
      </p:sp>
      <p:sp>
        <p:nvSpPr>
          <p:cNvPr id="4" name="灯片编号占位符 3"/>
          <p:cNvSpPr>
            <a:spLocks noGrp="1"/>
          </p:cNvSpPr>
          <p:nvPr>
            <p:ph type="sldNum" sz="quarter" idx="5"/>
          </p:nvPr>
        </p:nvSpPr>
        <p:spPr/>
        <p:txBody>
          <a:bodyPr/>
          <a:lstStyle/>
          <a:p>
            <a:fld id="{D5A593CC-2149-4E6C-BC3C-0044C280ECB2}" type="slidenum">
              <a:rPr lang="en-AU" smtClean="0"/>
              <a:pPr/>
              <a:t>3</a:t>
            </a:fld>
            <a:endParaRPr lang="en-AU"/>
          </a:p>
        </p:txBody>
      </p:sp>
    </p:spTree>
    <p:extLst>
      <p:ext uri="{BB962C8B-B14F-4D97-AF65-F5344CB8AC3E}">
        <p14:creationId xmlns:p14="http://schemas.microsoft.com/office/powerpoint/2010/main" val="216513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Modern object detection systems are extremely data-hungry — they require massive amounts of well-labeled images. But in practice, collecting and annotating diverse real-world scenes is both </a:t>
            </a:r>
            <a:r>
              <a:rPr lang="en-US" altLang="zh-CN" b="1" dirty="0"/>
              <a:t>expensive and time-consuming</a:t>
            </a:r>
            <a:r>
              <a:rPr lang="en-US" altLang="zh-CN" b="0" dirty="0"/>
              <a:t>. Even after all that effort, datasets are often unbalanced. Common situations, like clear daytime driving, appear in abundance, while rare but safety-critical ones — such as fog, night, or emergencies — are scarce. This imbalance, known as the </a:t>
            </a:r>
            <a:r>
              <a:rPr lang="en-US" altLang="zh-CN" b="1" dirty="0"/>
              <a:t>long-tail problem</a:t>
            </a:r>
            <a:r>
              <a:rPr lang="en-US" altLang="zh-CN" b="0" dirty="0"/>
              <a:t>, creates a major data bottleneck. As a result, models perform well on frequent cases but struggle to generalize to rare or unseen scenarios.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4</a:t>
            </a:fld>
            <a:endParaRPr lang="en-AU"/>
          </a:p>
        </p:txBody>
      </p:sp>
    </p:spTree>
    <p:extLst>
      <p:ext uri="{BB962C8B-B14F-4D97-AF65-F5344CB8AC3E}">
        <p14:creationId xmlns:p14="http://schemas.microsoft.com/office/powerpoint/2010/main" val="1898908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b="0" dirty="0"/>
              <a:t>Researchers have explored several methods to overcome the data bottleneck.</a:t>
            </a:r>
          </a:p>
          <a:p>
            <a:r>
              <a:rPr lang="en-US" altLang="zh-CN" b="0" i="1" dirty="0"/>
              <a:t>(These three figures show examples of the methods)</a:t>
            </a:r>
          </a:p>
          <a:p>
            <a:r>
              <a:rPr lang="en-US" altLang="zh-CN" b="0" dirty="0"/>
              <a:t> First, </a:t>
            </a:r>
            <a:r>
              <a:rPr lang="en-US" altLang="zh-CN" b="1" dirty="0"/>
              <a:t>traditional augmentation</a:t>
            </a:r>
            <a:r>
              <a:rPr lang="en-US" altLang="zh-CN" b="0" dirty="0"/>
              <a:t> techniques like rotation, cropping, or pixel mixing can slightly improve diversity, but they only modify existing images and can’t create new or unseen scenes.</a:t>
            </a:r>
          </a:p>
          <a:p>
            <a:r>
              <a:rPr lang="en-US" altLang="zh-CN" b="0" dirty="0"/>
              <a:t> Second, </a:t>
            </a:r>
            <a:r>
              <a:rPr lang="en-US" altLang="zh-CN" b="1" dirty="0"/>
              <a:t>simulation-based datasets</a:t>
            </a:r>
            <a:r>
              <a:rPr lang="en-US" altLang="zh-CN" b="0" dirty="0"/>
              <a:t>, like GTA-V, automatically generate labeled scenes at scale. However, these images often appear too clean or artificial, lacking the natural lighting and textures of real photos.</a:t>
            </a:r>
          </a:p>
          <a:p>
            <a:r>
              <a:rPr lang="en-US" altLang="zh-CN" b="0" dirty="0"/>
              <a:t> Finally, </a:t>
            </a:r>
            <a:r>
              <a:rPr lang="en-US" altLang="zh-CN" b="1" dirty="0"/>
              <a:t>domain adaptation</a:t>
            </a:r>
            <a:r>
              <a:rPr lang="en-US" altLang="zh-CN" b="0" dirty="0"/>
              <a:t> techniques try to make generated images look more realistic by transferring styles, but some visual inconsistencies always remain.</a:t>
            </a:r>
          </a:p>
          <a:p>
            <a:r>
              <a:rPr lang="en-US" altLang="zh-CN" b="0" dirty="0"/>
              <a:t>Despite these efforts, there’s still a clear gap between generated and real data. This is where modern generative models start to make a difference.</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5</a:t>
            </a:fld>
            <a:endParaRPr lang="en-AU"/>
          </a:p>
        </p:txBody>
      </p:sp>
    </p:spTree>
    <p:extLst>
      <p:ext uri="{BB962C8B-B14F-4D97-AF65-F5344CB8AC3E}">
        <p14:creationId xmlns:p14="http://schemas.microsoft.com/office/powerpoint/2010/main" val="2764761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en-US" altLang="zh-CN" b="0" dirty="0"/>
              <a:t>Recent advances in </a:t>
            </a:r>
            <a:r>
              <a:rPr lang="en-US" altLang="zh-CN" b="1" dirty="0"/>
              <a:t>diffusion models</a:t>
            </a:r>
            <a:r>
              <a:rPr lang="en-US" altLang="zh-CN" b="0" dirty="0"/>
              <a:t> have opened a new path for data generation.</a:t>
            </a:r>
          </a:p>
          <a:p>
            <a:r>
              <a:rPr lang="en-US" altLang="zh-CN" b="0" dirty="0"/>
              <a:t> Unlike traditional augmentation, these models can actually create new and realistic scenes, instead of simply transforming existing pixels.</a:t>
            </a:r>
          </a:p>
          <a:p>
            <a:r>
              <a:rPr lang="en-US" altLang="zh-CN" b="1" dirty="0"/>
              <a:t>ControlNet</a:t>
            </a:r>
            <a:r>
              <a:rPr lang="en-US" altLang="zh-CN" b="0" dirty="0"/>
              <a:t> plays a key role by adding structure — like edges, depth maps, or segmentation layouts — so that the generated images maintain accurate spatial relationships and respect the original layout.</a:t>
            </a:r>
          </a:p>
          <a:p>
            <a:r>
              <a:rPr lang="en-US" altLang="zh-CN" b="1" dirty="0"/>
              <a:t>Low-Rank Adaptation</a:t>
            </a:r>
            <a:r>
              <a:rPr lang="en-US" altLang="zh-CN" b="0" dirty="0"/>
              <a:t>, Originally developed for large language models, </a:t>
            </a:r>
            <a:r>
              <a:rPr lang="en-US" altLang="zh-CN" b="0" dirty="0" err="1"/>
              <a:t>LoRA</a:t>
            </a:r>
            <a:r>
              <a:rPr lang="en-US" altLang="zh-CN" b="0" dirty="0"/>
              <a:t> was designed to fine-tune massive networks efficiently by updating only a small number of parameters instead of retraining the entire model. This idea has since been successfully transferred to diffusion models, allowing them to adapt quickly to new visual domains. For instance, converting daytime scenes into foggy or nighttime environments — without full retraining.</a:t>
            </a:r>
          </a:p>
          <a:p>
            <a:r>
              <a:rPr lang="en-US" altLang="zh-CN" b="0" dirty="0"/>
              <a:t>Together, these components make diffusion models both controllable and adaptable.</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6</a:t>
            </a:fld>
            <a:endParaRPr lang="en-AU"/>
          </a:p>
        </p:txBody>
      </p:sp>
    </p:spTree>
    <p:extLst>
      <p:ext uri="{BB962C8B-B14F-4D97-AF65-F5344CB8AC3E}">
        <p14:creationId xmlns:p14="http://schemas.microsoft.com/office/powerpoint/2010/main" val="504459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b="1" dirty="0"/>
              <a:t>Building on these ideas, this research aims to evaluate the effectiveness and reliability of generated data in object detection.</a:t>
            </a:r>
          </a:p>
          <a:p>
            <a:r>
              <a:rPr lang="en-US" altLang="zh-CN" b="0" dirty="0"/>
              <a:t> To achieve this goal, the study focuses on several key tasks:</a:t>
            </a:r>
          </a:p>
          <a:p>
            <a:r>
              <a:rPr lang="en-US" altLang="zh-CN" b="1" dirty="0"/>
              <a:t>quantify the domain gap</a:t>
            </a:r>
            <a:r>
              <a:rPr lang="en-US" altLang="zh-CN" b="0" dirty="0"/>
              <a:t> between real and generated data using multiple visual and semantic metrics.</a:t>
            </a:r>
          </a:p>
          <a:p>
            <a:r>
              <a:rPr lang="en-US" altLang="zh-CN" b="1" dirty="0"/>
              <a:t>evaluate cross-domain robustness</a:t>
            </a:r>
            <a:r>
              <a:rPr lang="en-US" altLang="zh-CN" b="0" dirty="0"/>
              <a:t>, examining how well models trained with generative data perform when applied to real-world images.</a:t>
            </a:r>
          </a:p>
          <a:p>
            <a:r>
              <a:rPr lang="en-US" altLang="zh-CN" b="1" dirty="0"/>
              <a:t>assess the realism and annotation consistency</a:t>
            </a:r>
            <a:r>
              <a:rPr lang="en-US" altLang="zh-CN" b="0" dirty="0"/>
              <a:t> of generated samples, ensuring they are both visually convincing and semantically accurate.</a:t>
            </a:r>
          </a:p>
          <a:p>
            <a:r>
              <a:rPr lang="en-US" altLang="zh-CN" b="1" dirty="0"/>
              <a:t>develop best practices</a:t>
            </a:r>
            <a:r>
              <a:rPr lang="en-US" altLang="zh-CN" b="0" dirty="0"/>
              <a:t> for using generative data effectively in object detection training pipelines.</a:t>
            </a:r>
          </a:p>
          <a:p>
            <a:r>
              <a:rPr lang="en-US" altLang="zh-CN" b="0" dirty="0"/>
              <a:t>And additionally, </a:t>
            </a:r>
            <a:r>
              <a:rPr lang="en-US" altLang="zh-CN" b="1" dirty="0"/>
              <a:t>Identify the contribution of individual components</a:t>
            </a:r>
            <a:r>
              <a:rPr lang="en-US" altLang="zh-CN" b="0" dirty="0"/>
              <a:t> in the generative augmentation pipeline through **ablation studies**.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7</a:t>
            </a:fld>
            <a:endParaRPr lang="en-AU"/>
          </a:p>
        </p:txBody>
      </p:sp>
    </p:spTree>
    <p:extLst>
      <p:ext uri="{BB962C8B-B14F-4D97-AF65-F5344CB8AC3E}">
        <p14:creationId xmlns:p14="http://schemas.microsoft.com/office/powerpoint/2010/main" val="3393263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l"/>
            <a:r>
              <a:rPr lang="en-US" altLang="zh-CN" b="0" i="0" dirty="0">
                <a:solidFill>
                  <a:srgbClr val="333333"/>
                </a:solidFill>
                <a:effectLst/>
                <a:latin typeface="Open Sans" panose="020B0606030504020204" pitchFamily="34" charset="0"/>
              </a:rPr>
              <a:t>The research follows a four-stage framework: </a:t>
            </a:r>
            <a:r>
              <a:rPr lang="en-US" altLang="zh-CN" b="1" i="0" dirty="0">
                <a:solidFill>
                  <a:srgbClr val="333333"/>
                </a:solidFill>
                <a:effectLst/>
                <a:latin typeface="Open Sans" panose="020B0606030504020204" pitchFamily="34" charset="0"/>
              </a:rPr>
              <a:t>generation</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filtering</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training</a:t>
            </a:r>
            <a:r>
              <a:rPr lang="en-US" altLang="zh-CN" b="0" i="0" dirty="0">
                <a:solidFill>
                  <a:srgbClr val="333333"/>
                </a:solidFill>
                <a:effectLst/>
                <a:latin typeface="Open Sans" panose="020B0606030504020204" pitchFamily="34" charset="0"/>
              </a:rPr>
              <a:t>, and </a:t>
            </a:r>
            <a:r>
              <a:rPr lang="en-US" altLang="zh-CN" b="1" i="0" dirty="0">
                <a:solidFill>
                  <a:srgbClr val="333333"/>
                </a:solidFill>
                <a:effectLst/>
                <a:latin typeface="Open Sans" panose="020B0606030504020204" pitchFamily="34" charset="0"/>
              </a:rPr>
              <a:t>evaluation</a:t>
            </a:r>
            <a:r>
              <a:rPr lang="en-US" altLang="zh-CN" b="0" i="0" dirty="0">
                <a:solidFill>
                  <a:srgbClr val="333333"/>
                </a:solidFill>
                <a:effectLst/>
                <a:latin typeface="Open Sans" panose="020B0606030504020204" pitchFamily="34" charset="0"/>
              </a:rPr>
              <a:t>. </a:t>
            </a:r>
            <a:r>
              <a:rPr lang="en-US" altLang="zh-CN" b="1" i="0" dirty="0">
                <a:solidFill>
                  <a:srgbClr val="333333"/>
                </a:solidFill>
                <a:effectLst/>
                <a:latin typeface="Open Sans" panose="020B0606030504020204" pitchFamily="34" charset="0"/>
              </a:rPr>
              <a:t>(</a:t>
            </a:r>
            <a:r>
              <a:rPr lang="en-US" altLang="zh-CN" b="1" i="1" dirty="0"/>
              <a:t>Figure 6 shows the pipeline of our closed-loop research framework)</a:t>
            </a:r>
            <a:endParaRPr lang="en-US" altLang="zh-CN" b="1" i="1" dirty="0">
              <a:solidFill>
                <a:srgbClr val="333333"/>
              </a:solidFill>
              <a:effectLst/>
              <a:latin typeface="Open Sans" panose="020B0606030504020204" pitchFamily="34" charset="0"/>
            </a:endParaRPr>
          </a:p>
          <a:p>
            <a:pPr algn="l"/>
            <a:r>
              <a:rPr lang="en-US" altLang="zh-CN" b="0" i="0" dirty="0">
                <a:solidFill>
                  <a:srgbClr val="333333"/>
                </a:solidFill>
                <a:effectLst/>
                <a:latin typeface="Open Sans" panose="020B0606030504020204" pitchFamily="34" charset="0"/>
              </a:rPr>
              <a:t>In the generation stage, diffusion models enhanced with ControlNet and </a:t>
            </a:r>
            <a:r>
              <a:rPr lang="en-US" altLang="zh-CN" b="0" i="0" dirty="0" err="1">
                <a:solidFill>
                  <a:srgbClr val="333333"/>
                </a:solidFill>
                <a:effectLst/>
                <a:latin typeface="Open Sans" panose="020B0606030504020204" pitchFamily="34" charset="0"/>
              </a:rPr>
              <a:t>LoRA</a:t>
            </a:r>
            <a:r>
              <a:rPr lang="en-US" altLang="zh-CN" b="0" i="0" dirty="0">
                <a:solidFill>
                  <a:srgbClr val="333333"/>
                </a:solidFill>
                <a:effectLst/>
                <a:latin typeface="Open Sans" panose="020B0606030504020204" pitchFamily="34" charset="0"/>
              </a:rPr>
              <a:t> are used to produce controllable and adaptive generated data. The filtering stage then selects high-quality samples using visual and semantic metrics.</a:t>
            </a:r>
          </a:p>
          <a:p>
            <a:pPr algn="l"/>
            <a:r>
              <a:rPr lang="en-US" altLang="zh-CN" b="0" i="0" dirty="0">
                <a:solidFill>
                  <a:srgbClr val="333333"/>
                </a:solidFill>
                <a:effectLst/>
                <a:latin typeface="Open Sans" panose="020B0606030504020204" pitchFamily="34" charset="0"/>
              </a:rPr>
              <a:t>Training proceeds with different ratios of real and generated data, then we evaluate both the visual quality and the detection performance. The feedback from each stage is used to refine the generation process, so that improvements are measurable and repeatable.</a:t>
            </a:r>
          </a:p>
        </p:txBody>
      </p:sp>
      <p:sp>
        <p:nvSpPr>
          <p:cNvPr id="4" name="灯片编号占位符 3"/>
          <p:cNvSpPr>
            <a:spLocks noGrp="1"/>
          </p:cNvSpPr>
          <p:nvPr>
            <p:ph type="sldNum" sz="quarter" idx="5"/>
          </p:nvPr>
        </p:nvSpPr>
        <p:spPr/>
        <p:txBody>
          <a:bodyPr/>
          <a:lstStyle/>
          <a:p>
            <a:fld id="{D5A593CC-2149-4E6C-BC3C-0044C280ECB2}" type="slidenum">
              <a:rPr lang="en-AU" smtClean="0"/>
              <a:pPr/>
              <a:t>8</a:t>
            </a:fld>
            <a:endParaRPr lang="en-AU"/>
          </a:p>
        </p:txBody>
      </p:sp>
    </p:spTree>
    <p:extLst>
      <p:ext uri="{BB962C8B-B14F-4D97-AF65-F5344CB8AC3E}">
        <p14:creationId xmlns:p14="http://schemas.microsoft.com/office/powerpoint/2010/main" val="2371884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For the dataset setup, we follow a staged strategy.</a:t>
            </a:r>
          </a:p>
          <a:p>
            <a:r>
              <a:rPr lang="en-US" altLang="zh-CN" b="0" dirty="0"/>
              <a:t>We begin with benchmark datasets like </a:t>
            </a:r>
            <a:r>
              <a:rPr lang="en-US" altLang="zh-CN" b="1" dirty="0"/>
              <a:t>COCO</a:t>
            </a:r>
            <a:r>
              <a:rPr lang="en-US" altLang="zh-CN" b="0" dirty="0"/>
              <a:t> and </a:t>
            </a:r>
            <a:r>
              <a:rPr lang="en-US" altLang="zh-CN" b="1" dirty="0"/>
              <a:t>PASCAL VOC </a:t>
            </a:r>
            <a:r>
              <a:rPr lang="en-US" altLang="zh-CN" b="0" dirty="0"/>
              <a:t>to validate the pipeline. To simulate real-world data shortage, we also use reduced subsets with only </a:t>
            </a:r>
            <a:r>
              <a:rPr lang="en-US" altLang="zh-CN" b="1" dirty="0"/>
              <a:t>a few dozen images per class</a:t>
            </a:r>
            <a:r>
              <a:rPr lang="en-US" altLang="zh-CN" b="0" dirty="0"/>
              <a:t>.</a:t>
            </a:r>
          </a:p>
          <a:p>
            <a:r>
              <a:rPr lang="en-US" altLang="zh-CN" b="0" dirty="0"/>
              <a:t>Then, we move to **niche datasets** from domains like self-driving, focusing on rare objects and difficult conditions. We also fine-tune the diffusion model using </a:t>
            </a:r>
            <a:r>
              <a:rPr lang="en-US" altLang="zh-CN" b="0" dirty="0" err="1"/>
              <a:t>LoRA</a:t>
            </a:r>
            <a:r>
              <a:rPr lang="en-US" altLang="zh-CN" b="0" dirty="0"/>
              <a:t> on small real-world image sets to better capture realistic lighting and textures.</a:t>
            </a:r>
          </a:p>
          <a:p>
            <a:r>
              <a:rPr lang="en-US" altLang="zh-CN" b="0" dirty="0"/>
              <a:t>This setup lets us compare performance under both </a:t>
            </a:r>
            <a:r>
              <a:rPr lang="en-US" altLang="zh-CN" b="1" dirty="0"/>
              <a:t>rich</a:t>
            </a:r>
            <a:r>
              <a:rPr lang="en-US" altLang="zh-CN" b="0" dirty="0"/>
              <a:t> and </a:t>
            </a:r>
            <a:r>
              <a:rPr lang="en-US" altLang="zh-CN" b="1" dirty="0"/>
              <a:t>limited</a:t>
            </a:r>
            <a:r>
              <a:rPr lang="en-US" altLang="zh-CN" b="0" dirty="0"/>
              <a:t> data conditions, showing how well the generative augmentation adapts to different domains.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9</a:t>
            </a:fld>
            <a:endParaRPr lang="en-AU"/>
          </a:p>
        </p:txBody>
      </p:sp>
    </p:spTree>
    <p:extLst>
      <p:ext uri="{BB962C8B-B14F-4D97-AF65-F5344CB8AC3E}">
        <p14:creationId xmlns:p14="http://schemas.microsoft.com/office/powerpoint/2010/main" val="2056440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b="0" dirty="0"/>
              <a:t>The generation pipeline is developed using </a:t>
            </a:r>
            <a:r>
              <a:rPr lang="en-US" altLang="zh-CN" b="0" dirty="0" err="1"/>
              <a:t>ComfyUI</a:t>
            </a:r>
            <a:r>
              <a:rPr lang="en-US" altLang="zh-CN" b="0" dirty="0"/>
              <a:t>, a modular and node-based workflow system that’s flexible and easy to reproduce.</a:t>
            </a:r>
          </a:p>
          <a:p>
            <a:r>
              <a:rPr lang="en-US" altLang="zh-CN" i="1" dirty="0"/>
              <a:t>(Here you can see one of our preliminary experimental results. It’s built in </a:t>
            </a:r>
            <a:r>
              <a:rPr lang="en-US" altLang="zh-CN" i="1" dirty="0" err="1"/>
              <a:t>ComfyUI</a:t>
            </a:r>
            <a:r>
              <a:rPr lang="en-US" altLang="zh-CN" i="1" dirty="0"/>
              <a:t> and uses Stable Diffusion 3.5 together with the Canny ControlNet to guide the generation process.)</a:t>
            </a:r>
            <a:endParaRPr lang="en-US" altLang="zh-CN" b="0" i="1" dirty="0"/>
          </a:p>
          <a:p>
            <a:r>
              <a:rPr lang="en-US" altLang="zh-CN" b="0" dirty="0"/>
              <a:t>Using a generation example, we start with an </a:t>
            </a:r>
            <a:r>
              <a:rPr lang="en-US" altLang="zh-CN" b="1" dirty="0"/>
              <a:t>original image</a:t>
            </a:r>
            <a:r>
              <a:rPr lang="en-US" altLang="zh-CN" b="0" dirty="0"/>
              <a:t>, which is first converted into a </a:t>
            </a:r>
            <a:r>
              <a:rPr lang="en-US" altLang="zh-CN" b="1" dirty="0"/>
              <a:t>Canny edge map</a:t>
            </a:r>
            <a:r>
              <a:rPr lang="en-US" altLang="zh-CN" b="0" dirty="0"/>
              <a:t>.</a:t>
            </a:r>
          </a:p>
          <a:p>
            <a:r>
              <a:rPr lang="en-US" altLang="zh-CN" b="0" dirty="0"/>
              <a:t>That edge map is then fed into </a:t>
            </a:r>
            <a:r>
              <a:rPr lang="en-US" altLang="zh-CN" b="1" dirty="0"/>
              <a:t>ControlNet</a:t>
            </a:r>
            <a:r>
              <a:rPr lang="en-US" altLang="zh-CN" b="0" dirty="0"/>
              <a:t>, guiding the model to make a new image with the same layout.</a:t>
            </a:r>
          </a:p>
          <a:p>
            <a:r>
              <a:rPr lang="en-US" altLang="zh-CN" b="0" dirty="0"/>
              <a:t>Next, </a:t>
            </a:r>
            <a:r>
              <a:rPr lang="en-US" altLang="zh-CN" b="1" dirty="0" err="1"/>
              <a:t>LoRA</a:t>
            </a:r>
            <a:r>
              <a:rPr lang="en-US" altLang="zh-CN" b="0" dirty="0"/>
              <a:t> helps adapt the model to different domains.</a:t>
            </a:r>
          </a:p>
          <a:p>
            <a:r>
              <a:rPr lang="en-US" altLang="zh-CN" b="0" dirty="0"/>
              <a:t>Finally, we reuse the original bounding boxes directly.</a:t>
            </a:r>
          </a:p>
          <a:p>
            <a:r>
              <a:rPr lang="en-US" altLang="zh-CN" b="0" dirty="0"/>
              <a:t>This pipeline automatically produces realistic, well-labeled images at scale — greatly reducing manual labeling.</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10</a:t>
            </a:fld>
            <a:endParaRPr lang="en-AU"/>
          </a:p>
        </p:txBody>
      </p:sp>
    </p:spTree>
    <p:extLst>
      <p:ext uri="{BB962C8B-B14F-4D97-AF65-F5344CB8AC3E}">
        <p14:creationId xmlns:p14="http://schemas.microsoft.com/office/powerpoint/2010/main" val="2708187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en-US" altLang="zh-CN" b="0" dirty="0"/>
              <a:t>After generating the generated dataset, we move to the downstream task.</a:t>
            </a:r>
          </a:p>
          <a:p>
            <a:r>
              <a:rPr lang="en-US" altLang="zh-CN" b="0" dirty="0"/>
              <a:t> Here, I focus on some representative object detectors: </a:t>
            </a:r>
            <a:r>
              <a:rPr lang="en-US" altLang="zh-CN" b="1" dirty="0"/>
              <a:t>YOLO</a:t>
            </a:r>
            <a:r>
              <a:rPr lang="en-US" altLang="zh-CN" b="0" dirty="0"/>
              <a:t> =</a:t>
            </a:r>
            <a:r>
              <a:rPr lang="en-US" altLang="zh-CN" sz="1600" dirty="0">
                <a:latin typeface="+mn-ea"/>
              </a:rPr>
              <a:t>Faster R-CNN, RT-DETR</a:t>
            </a:r>
            <a:r>
              <a:rPr lang="en-US" altLang="zh-CN" b="0" dirty="0"/>
              <a:t>. These models balance accuracy and real-time efficiency, making them suitable for practical applications like self-driving.</a:t>
            </a:r>
          </a:p>
          <a:p>
            <a:r>
              <a:rPr lang="en-US" altLang="zh-CN" b="0" dirty="0"/>
              <a:t>The </a:t>
            </a:r>
            <a:r>
              <a:rPr lang="en-US" altLang="zh-CN" b="1" dirty="0"/>
              <a:t>training strategy</a:t>
            </a:r>
            <a:r>
              <a:rPr lang="en-US" altLang="zh-CN" b="0" dirty="0"/>
              <a:t> involves mixing real and generated data in different ratios — from entirely real to heavily generated — to explore how generative data contributes under various levels of limited data.</a:t>
            </a:r>
          </a:p>
          <a:p>
            <a:r>
              <a:rPr lang="en-US" altLang="zh-CN" b="0" dirty="0"/>
              <a:t>The main </a:t>
            </a:r>
            <a:r>
              <a:rPr lang="en-US" altLang="zh-CN" b="1" dirty="0"/>
              <a:t>objective</a:t>
            </a:r>
            <a:r>
              <a:rPr lang="en-US" altLang="zh-CN" b="0" dirty="0"/>
              <a:t> of this stage is to quantify the value of generated data and identify the most cost-effective balance between real and generated samples. This helps determine how much real data can be replaced without significant performance loss.</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11</a:t>
            </a:fld>
            <a:endParaRPr lang="en-AU"/>
          </a:p>
        </p:txBody>
      </p:sp>
    </p:spTree>
    <p:extLst>
      <p:ext uri="{BB962C8B-B14F-4D97-AF65-F5344CB8AC3E}">
        <p14:creationId xmlns:p14="http://schemas.microsoft.com/office/powerpoint/2010/main" val="2876454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en-US" altLang="zh-CN" b="0" dirty="0"/>
              <a:t>After training, the models are evaluated through multiple perspectives to understand both task performance and data quality.</a:t>
            </a:r>
          </a:p>
          <a:p>
            <a:r>
              <a:rPr lang="en-US" altLang="zh-CN" b="0" dirty="0"/>
              <a:t>For </a:t>
            </a:r>
            <a:r>
              <a:rPr lang="en-US" altLang="zh-CN" b="1" dirty="0"/>
              <a:t>detection performance</a:t>
            </a:r>
            <a:r>
              <a:rPr lang="en-US" altLang="zh-CN" b="0" dirty="0"/>
              <a:t>, I use standard object detection metrics such as mean Average Precision (</a:t>
            </a:r>
            <a:r>
              <a:rPr lang="en-US" altLang="zh-CN" b="0" dirty="0" err="1"/>
              <a:t>mAP</a:t>
            </a:r>
            <a:r>
              <a:rPr lang="en-US" altLang="zh-CN" b="0" dirty="0"/>
              <a:t>) and AP50, which directly measure how well the model finds and locates objects. These are task-oriented indicators that reflect real-world performance.</a:t>
            </a:r>
          </a:p>
          <a:p>
            <a:r>
              <a:rPr lang="en-US" altLang="zh-CN" b="0" dirty="0"/>
              <a:t>Next, </a:t>
            </a:r>
            <a:r>
              <a:rPr lang="en-US" altLang="zh-CN" b="1" dirty="0"/>
              <a:t>perceptual quality</a:t>
            </a:r>
            <a:r>
              <a:rPr lang="en-US" altLang="zh-CN" b="0" dirty="0"/>
              <a:t> is assessed using FID and IS scores to evaluate the fidelity and diversity of the generated images. Lower FID and higher IS values indicate more realistic and varied results.</a:t>
            </a:r>
          </a:p>
          <a:p>
            <a:r>
              <a:rPr lang="en-US" altLang="zh-CN" b="0" dirty="0"/>
              <a:t>To measure </a:t>
            </a:r>
            <a:r>
              <a:rPr lang="en-US" altLang="zh-CN" b="1" dirty="0"/>
              <a:t>semantic consistency</a:t>
            </a:r>
            <a:r>
              <a:rPr lang="en-US" altLang="zh-CN" b="0" dirty="0"/>
              <a:t>, I use CLIP and DINOv2 similarity scores to capture how well an image’s content aligns with its intended labels or descriptions. Specifically, **CLIP** measures image–text alignment, while **DINOv2** captures semantic similarity between visual features.</a:t>
            </a:r>
          </a:p>
          <a:p>
            <a:r>
              <a:rPr lang="en-US" altLang="zh-CN" b="0" i="1" dirty="0"/>
              <a:t>(Here on the slide, you can see examples of generated images with different semantic scores. Images with higher  scores appear more faithful to the intended object.)</a:t>
            </a:r>
          </a:p>
          <a:p>
            <a:r>
              <a:rPr lang="en-US" altLang="zh-CN" b="0" dirty="0"/>
              <a:t>Finally, </a:t>
            </a:r>
            <a:r>
              <a:rPr lang="en-US" altLang="zh-CN" b="1" dirty="0"/>
              <a:t>human evaluation</a:t>
            </a:r>
            <a:r>
              <a:rPr lang="en-US" altLang="zh-CN" b="0" dirty="0"/>
              <a:t> complements these automated metrics. Human reviewers  rate the realism and annotation accuracy of generated samples, providing human insights that pure numerical scores may miss. </a:t>
            </a:r>
            <a:r>
              <a:rPr lang="en-US" altLang="zh-CN" b="0" i="1" dirty="0"/>
              <a:t>This way, we can confirm whether improvements shown by numbers actually make sense in practice.</a:t>
            </a:r>
          </a:p>
          <a:p>
            <a:r>
              <a:rPr lang="en-US" altLang="zh-CN" b="0" dirty="0"/>
              <a:t>Together, these layers of evaluation reveal how visual quality relates to real detection performance, offering a comprehensive understanding of data </a:t>
            </a:r>
            <a:r>
              <a:rPr lang="en-US" altLang="zh-CN" b="0"/>
              <a:t>usefulness.</a:t>
            </a:r>
            <a:endParaRPr lang="en-US" altLang="zh-CN" b="0" dirty="0"/>
          </a:p>
          <a:p>
            <a:r>
              <a:rPr lang="en-US" altLang="zh-CN" b="1" dirty="0"/>
              <a:t>Answer: The meaning of human evaluation?</a:t>
            </a:r>
          </a:p>
          <a:p>
            <a:r>
              <a:rPr lang="en-US" altLang="zh-CN" b="0" dirty="0"/>
              <a:t>Human evaluation helps us check what automated metrics can’t capture — mainly how realistic and correctly labeled the generated images are.</a:t>
            </a:r>
          </a:p>
          <a:p>
            <a:r>
              <a:rPr lang="en-US" altLang="zh-CN" b="0" dirty="0"/>
              <a:t> It provides a human perspective on visual quality and consistency.</a:t>
            </a:r>
          </a:p>
          <a:p>
            <a:r>
              <a:rPr lang="en-US" altLang="zh-CN" b="0" dirty="0"/>
              <a:t> This way, we can confirm whether improvements shown by numbers actually make sense in practice.</a:t>
            </a:r>
            <a:endParaRPr lang="zh-CN" altLang="en-US" b="0" dirty="0"/>
          </a:p>
          <a:p>
            <a:endParaRPr lang="en-US" altLang="zh-CN" b="1" dirty="0"/>
          </a:p>
        </p:txBody>
      </p:sp>
      <p:sp>
        <p:nvSpPr>
          <p:cNvPr id="4" name="灯片编号占位符 3"/>
          <p:cNvSpPr>
            <a:spLocks noGrp="1"/>
          </p:cNvSpPr>
          <p:nvPr>
            <p:ph type="sldNum" sz="quarter" idx="5"/>
          </p:nvPr>
        </p:nvSpPr>
        <p:spPr/>
        <p:txBody>
          <a:bodyPr/>
          <a:lstStyle/>
          <a:p>
            <a:fld id="{D5A593CC-2149-4E6C-BC3C-0044C280ECB2}" type="slidenum">
              <a:rPr lang="en-AU" smtClean="0"/>
              <a:pPr/>
              <a:t>12</a:t>
            </a:fld>
            <a:endParaRPr lang="en-AU"/>
          </a:p>
        </p:txBody>
      </p:sp>
    </p:spTree>
    <p:extLst>
      <p:ext uri="{BB962C8B-B14F-4D97-AF65-F5344CB8AC3E}">
        <p14:creationId xmlns:p14="http://schemas.microsoft.com/office/powerpoint/2010/main" val="2605077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13</a:t>
            </a:fld>
            <a:endParaRPr lang="en-AU"/>
          </a:p>
        </p:txBody>
      </p:sp>
    </p:spTree>
    <p:extLst>
      <p:ext uri="{BB962C8B-B14F-4D97-AF65-F5344CB8AC3E}">
        <p14:creationId xmlns:p14="http://schemas.microsoft.com/office/powerpoint/2010/main" val="1854013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A diffusion model gradually transforms random noise into a realistic image through a learned denoising process, essentially “drawing” an image step by step.</a:t>
            </a:r>
            <a:endParaRPr lang="zh-CN" altLang="en-US" b="0" dirty="0"/>
          </a:p>
        </p:txBody>
      </p:sp>
      <p:sp>
        <p:nvSpPr>
          <p:cNvPr id="4" name="灯片编号占位符 3"/>
          <p:cNvSpPr>
            <a:spLocks noGrp="1"/>
          </p:cNvSpPr>
          <p:nvPr>
            <p:ph type="sldNum" sz="quarter" idx="5"/>
          </p:nvPr>
        </p:nvSpPr>
        <p:spPr/>
        <p:txBody>
          <a:bodyPr/>
          <a:lstStyle/>
          <a:p>
            <a:fld id="{D5A593CC-2149-4E6C-BC3C-0044C280ECB2}" type="slidenum">
              <a:rPr lang="en-AU" smtClean="0"/>
              <a:pPr/>
              <a:t>14</a:t>
            </a:fld>
            <a:endParaRPr lang="en-AU"/>
          </a:p>
        </p:txBody>
      </p:sp>
    </p:spTree>
    <p:extLst>
      <p:ext uri="{BB962C8B-B14F-4D97-AF65-F5344CB8AC3E}">
        <p14:creationId xmlns:p14="http://schemas.microsoft.com/office/powerpoint/2010/main" val="3120120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15</a:t>
            </a:fld>
            <a:endParaRPr lang="en-AU"/>
          </a:p>
        </p:txBody>
      </p:sp>
    </p:spTree>
    <p:extLst>
      <p:ext uri="{BB962C8B-B14F-4D97-AF65-F5344CB8AC3E}">
        <p14:creationId xmlns:p14="http://schemas.microsoft.com/office/powerpoint/2010/main" val="327436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16</a:t>
            </a:fld>
            <a:endParaRPr lang="en-AU"/>
          </a:p>
        </p:txBody>
      </p:sp>
    </p:spTree>
    <p:extLst>
      <p:ext uri="{BB962C8B-B14F-4D97-AF65-F5344CB8AC3E}">
        <p14:creationId xmlns:p14="http://schemas.microsoft.com/office/powerpoint/2010/main" val="1648744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A593CC-2149-4E6C-BC3C-0044C280ECB2}" type="slidenum">
              <a:rPr lang="en-AU" smtClean="0"/>
              <a:pPr/>
              <a:t>17</a:t>
            </a:fld>
            <a:endParaRPr lang="en-AU"/>
          </a:p>
        </p:txBody>
      </p:sp>
    </p:spTree>
    <p:extLst>
      <p:ext uri="{BB962C8B-B14F-4D97-AF65-F5344CB8AC3E}">
        <p14:creationId xmlns:p14="http://schemas.microsoft.com/office/powerpoint/2010/main" val="33273976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bg2"/>
        </a:solidFill>
        <a:effectLst/>
      </p:bgPr>
    </p:bg>
    <p:spTree>
      <p:nvGrpSpPr>
        <p:cNvPr id="1" name=""/>
        <p:cNvGrpSpPr/>
        <p:nvPr/>
      </p:nvGrpSpPr>
      <p:grpSpPr>
        <a:xfrm>
          <a:off x="0" y="0"/>
          <a:ext cx="0" cy="0"/>
          <a:chOff x="0" y="0"/>
          <a:chExt cx="0" cy="0"/>
        </a:xfrm>
      </p:grpSpPr>
      <p:pic>
        <p:nvPicPr>
          <p:cNvPr id="5" name="Picture 4" descr="A tree in a park&#10;&#10;Description automatically generated">
            <a:extLst>
              <a:ext uri="{FF2B5EF4-FFF2-40B4-BE49-F238E27FC236}">
                <a16:creationId xmlns:a16="http://schemas.microsoft.com/office/drawing/2014/main" id="{22B7B5EB-409D-C364-0E66-735E92752C91}"/>
              </a:ext>
            </a:extLst>
          </p:cNvPr>
          <p:cNvPicPr>
            <a:picLocks noGrp="1" noRot="1" noChangeAspect="1" noMove="1" noResize="1" noEditPoints="1" noAdjustHandles="1" noChangeArrowheads="1" noChangeShapeType="1" noCrop="1"/>
          </p:cNvPicPr>
          <p:nvPr userDrawn="1"/>
        </p:nvPicPr>
        <p:blipFill rotWithShape="1">
          <a:blip r:embed="rId2">
            <a:alphaModFix amt="17000"/>
            <a:extLst>
              <a:ext uri="{28A0092B-C50C-407E-A947-70E740481C1C}">
                <a14:useLocalDpi xmlns:a14="http://schemas.microsoft.com/office/drawing/2010/main"/>
              </a:ext>
            </a:extLst>
          </a:blip>
          <a:srcRect/>
          <a:stretch/>
        </p:blipFill>
        <p:spPr>
          <a:xfrm>
            <a:off x="0" y="14928"/>
            <a:ext cx="12199058" cy="6852171"/>
          </a:xfrm>
          <a:prstGeom prst="rect">
            <a:avLst/>
          </a:prstGeom>
        </p:spPr>
      </p:pic>
      <p:sp>
        <p:nvSpPr>
          <p:cNvPr id="9" name="TextBox 3">
            <a:extLst>
              <a:ext uri="{FF2B5EF4-FFF2-40B4-BE49-F238E27FC236}">
                <a16:creationId xmlns:a16="http://schemas.microsoft.com/office/drawing/2014/main" id="{CBB971FD-D847-BF4C-933A-802E03ED89A8}"/>
              </a:ext>
            </a:extLst>
          </p:cNvPr>
          <p:cNvSpPr txBox="1">
            <a:spLocks noGrp="1" noRot="1" noMove="1" noResize="1" noEditPoints="1" noAdjustHandles="1" noChangeArrowheads="1" noChangeShapeType="1"/>
          </p:cNvSpPr>
          <p:nvPr userDrawn="1"/>
        </p:nvSpPr>
        <p:spPr>
          <a:xfrm>
            <a:off x="875420" y="1628800"/>
            <a:ext cx="10441160" cy="4478149"/>
          </a:xfrm>
          <a:prstGeom prst="rect">
            <a:avLst/>
          </a:prstGeom>
          <a:solidFill>
            <a:schemeClr val="accent1">
              <a:alpha val="0"/>
            </a:schemeClr>
          </a:solidFill>
        </p:spPr>
        <p:txBody>
          <a:bodyPr wrap="square" rtlCol="0">
            <a:spAutoFit/>
          </a:bodyPr>
          <a:ls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gn="l" fontAlgn="base">
              <a:spcBef>
                <a:spcPts val="1200"/>
              </a:spcBef>
            </a:pPr>
            <a:endParaRPr lang="en-AU" sz="1100" b="0" i="0" dirty="0">
              <a:solidFill>
                <a:schemeClr val="bg1"/>
              </a:solidFill>
              <a:effectLst/>
              <a:latin typeface="+mj-lt"/>
            </a:endParaRPr>
          </a:p>
          <a:p>
            <a:pPr algn="l">
              <a:spcBef>
                <a:spcPts val="1200"/>
              </a:spcBef>
            </a:pPr>
            <a:r>
              <a:rPr lang="en-AU" sz="1600" b="0" i="0" dirty="0">
                <a:solidFill>
                  <a:schemeClr val="bg1"/>
                </a:solidFill>
                <a:effectLst/>
                <a:latin typeface="+mj-lt"/>
              </a:rPr>
              <a:t>The University of Melbourne acknowledges the Traditional Owners of the unceded land on which we work, learn and live: the Wurundjeri Woi-wurrung and Bunurong peoples (Burnley, Fishermans Bend, Parkville, Southbank and Werribee campuses), the Yorta Yorta Nation (Dookie and Shepparton campuses), and the Dja Dja Wurrung people (Creswick campus).</a:t>
            </a:r>
          </a:p>
          <a:p>
            <a:pPr algn="l">
              <a:spcBef>
                <a:spcPts val="1200"/>
              </a:spcBef>
            </a:pPr>
            <a:r>
              <a:rPr lang="en-AU" sz="1600" b="0" i="0" dirty="0">
                <a:solidFill>
                  <a:schemeClr val="bg1"/>
                </a:solidFill>
                <a:effectLst/>
                <a:latin typeface="+mj-lt"/>
              </a:rPr>
              <a:t>The University also acknowledges and is grateful to the Traditional Owners, Elders and Knowledge Holders of all Indigenous nations and clans who have been instrumental in our reconciliation journey.</a:t>
            </a:r>
          </a:p>
          <a:p>
            <a:pPr algn="l">
              <a:spcBef>
                <a:spcPts val="1200"/>
              </a:spcBef>
            </a:pPr>
            <a:r>
              <a:rPr lang="en-AU" sz="1600" b="0" i="0" dirty="0">
                <a:solidFill>
                  <a:schemeClr val="bg1"/>
                </a:solidFill>
                <a:effectLst/>
                <a:latin typeface="+mj-lt"/>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p>
          <a:p>
            <a:pPr algn="l">
              <a:spcBef>
                <a:spcPts val="1200"/>
              </a:spcBef>
            </a:pPr>
            <a:r>
              <a:rPr lang="en-AU" sz="1600" b="0" i="0" dirty="0">
                <a:solidFill>
                  <a:schemeClr val="bg1"/>
                </a:solidFill>
                <a:effectLst/>
                <a:latin typeface="+mj-lt"/>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p>
          <a:p>
            <a:pPr algn="l">
              <a:spcBef>
                <a:spcPts val="1200"/>
              </a:spcBef>
            </a:pPr>
            <a:r>
              <a:rPr lang="en-AU" sz="1600" b="0" i="0" dirty="0">
                <a:solidFill>
                  <a:schemeClr val="bg1"/>
                </a:solidFill>
                <a:effectLst/>
                <a:latin typeface="+mj-lt"/>
              </a:rPr>
              <a:t>In making this Acknowledgment of Country we commit to respectful and responsible conduct towards all others according to the Traditional lores of this land, particularly at times of formal ceremony.</a:t>
            </a:r>
            <a:endParaRPr lang="en-AU" sz="1600" dirty="0">
              <a:solidFill>
                <a:schemeClr val="bg1"/>
              </a:solidFill>
              <a:latin typeface="+mj-lt"/>
            </a:endParaRPr>
          </a:p>
        </p:txBody>
      </p:sp>
      <p:pic>
        <p:nvPicPr>
          <p:cNvPr id="6" name="Picture Placeholder 10" descr="Logo&#10;&#10;Description automatically generated">
            <a:extLst>
              <a:ext uri="{FF2B5EF4-FFF2-40B4-BE49-F238E27FC236}">
                <a16:creationId xmlns:a16="http://schemas.microsoft.com/office/drawing/2014/main" id="{72FB4B94-D733-663C-1E58-FF1318E71F5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223907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notice">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5BE21A-3472-BF8A-EB42-E260FAD81CC6}"/>
              </a:ext>
            </a:extLst>
          </p:cNvPr>
          <p:cNvSpPr txBox="1"/>
          <p:nvPr userDrawn="1"/>
        </p:nvSpPr>
        <p:spPr>
          <a:xfrm>
            <a:off x="1835696" y="1899350"/>
            <a:ext cx="8520608" cy="3305520"/>
          </a:xfrm>
          <a:prstGeom prst="rect">
            <a:avLst/>
          </a:prstGeom>
          <a:noFill/>
          <a:ln w="15875">
            <a:solidFill>
              <a:schemeClr val="bg1"/>
            </a:solidFill>
          </a:ln>
        </p:spPr>
        <p:txBody>
          <a:bodyPr wrap="square">
            <a:spAutoFit/>
          </a:bodyPr>
          <a:lstStyle/>
          <a:p>
            <a:pPr algn="ctr"/>
            <a:endPar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WARNING</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This material has been reproduced and communicated to you by or on behalf of the University of Melbourne in accordance with section 113P of the </a:t>
            </a:r>
            <a:r>
              <a:rPr lang="en-GB" sz="1600" i="1" dirty="0">
                <a:solidFill>
                  <a:schemeClr val="bg1"/>
                </a:solidFill>
                <a:effectLst/>
                <a:latin typeface="Arial" panose="020B0604020202020204" pitchFamily="34" charset="0"/>
                <a:ea typeface="Calibri" panose="020F0502020204030204" pitchFamily="34" charset="0"/>
                <a:cs typeface="Arial" panose="020B0604020202020204" pitchFamily="34" charset="0"/>
              </a:rPr>
              <a:t>Copyright Act 1968</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Act</a:t>
            </a: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The material in this communication may be subject to copyright under the Act.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dirty="0">
                <a:solidFill>
                  <a:schemeClr val="bg1"/>
                </a:solidFill>
                <a:effectLst/>
                <a:latin typeface="Arial" panose="020B0604020202020204" pitchFamily="34" charset="0"/>
                <a:ea typeface="Calibri" panose="020F0502020204030204" pitchFamily="34" charset="0"/>
                <a:cs typeface="Arial" panose="020B0604020202020204" pitchFamily="34" charset="0"/>
              </a:rPr>
              <a:t>Any further reproduction or communication of this material by you may be the subject of copyright protection under the Act.</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Do not remove this notice</a:t>
            </a:r>
            <a:endParaRPr lang="en-AU" sz="16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r>
              <a:rPr lang="en-AU" sz="1800" dirty="0">
                <a:effectLst/>
                <a:latin typeface="Calibri" panose="020F0502020204030204" pitchFamily="34" charset="0"/>
                <a:ea typeface="Calibri" panose="020F0502020204030204" pitchFamily="34" charset="0"/>
                <a:cs typeface="Times New Roman" panose="02020603050405020304" pitchFamily="18" charset="0"/>
              </a:rPr>
              <a:t> </a:t>
            </a:r>
            <a:endParaRPr lang="en-AU" dirty="0"/>
          </a:p>
        </p:txBody>
      </p:sp>
    </p:spTree>
    <p:extLst>
      <p:ext uri="{BB962C8B-B14F-4D97-AF65-F5344CB8AC3E}">
        <p14:creationId xmlns:p14="http://schemas.microsoft.com/office/powerpoint/2010/main" val="71598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tyle1">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dirty="0"/>
              <a:t>[Insert Identifier] | [Insert Report Title]</a:t>
            </a:r>
          </a:p>
        </p:txBody>
      </p:sp>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12" name="Picture Placeholder 10" descr="Logo&#10;&#10;Description automatically generated">
            <a:extLst>
              <a:ext uri="{FF2B5EF4-FFF2-40B4-BE49-F238E27FC236}">
                <a16:creationId xmlns:a16="http://schemas.microsoft.com/office/drawing/2014/main" id="{B9E60202-450E-CF2C-601B-7D1A7C9B3DF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191473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with image_style1">
    <p:bg>
      <p:bgPr>
        <a:solidFill>
          <a:schemeClr val="bg2"/>
        </a:solidFill>
        <a:effectLst/>
      </p:bgPr>
    </p:bg>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E3D3FA08-3353-A72F-AD1D-5DBF1C9647FE}"/>
              </a:ext>
            </a:extLst>
          </p:cNvPr>
          <p:cNvSpPr>
            <a:spLocks noGrp="1"/>
          </p:cNvSpPr>
          <p:nvPr>
            <p:ph type="body" sz="quarter" idx="18"/>
          </p:nvPr>
        </p:nvSpPr>
        <p:spPr>
          <a:xfrm>
            <a:off x="8966079" y="6437192"/>
            <a:ext cx="2880320"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400">
                <a:solidFill>
                  <a:schemeClr val="bg1"/>
                </a:solidFill>
              </a:defRPr>
            </a:lvl3pPr>
            <a:lvl4pPr marL="0" indent="0" algn="r">
              <a:lnSpc>
                <a:spcPct val="100000"/>
              </a:lnSpc>
              <a:spcAft>
                <a:spcPts val="0"/>
              </a:spcAft>
              <a:buFontTx/>
              <a:buNone/>
              <a:defRPr sz="1400">
                <a:solidFill>
                  <a:schemeClr val="bg1"/>
                </a:solidFill>
              </a:defRPr>
            </a:lvl4pPr>
            <a:lvl5pPr marL="0" indent="0" algn="r">
              <a:lnSpc>
                <a:spcPct val="100000"/>
              </a:lnSpc>
              <a:spcAft>
                <a:spcPts val="0"/>
              </a:spcAft>
              <a:buFontTx/>
              <a:buNone/>
              <a:defRPr sz="1400">
                <a:solidFill>
                  <a:schemeClr val="bg1"/>
                </a:solidFill>
              </a:defRPr>
            </a:lvl5pPr>
            <a:lvl6pPr marL="0" indent="0" algn="r">
              <a:lnSpc>
                <a:spcPct val="100000"/>
              </a:lnSpc>
              <a:spcAft>
                <a:spcPts val="0"/>
              </a:spcAft>
              <a:buFontTx/>
              <a:buNone/>
              <a:defRPr sz="1400">
                <a:solidFill>
                  <a:schemeClr val="bg1"/>
                </a:solidFill>
              </a:defRPr>
            </a:lvl6pPr>
            <a:lvl7pPr marL="0" indent="0" algn="r">
              <a:lnSpc>
                <a:spcPct val="100000"/>
              </a:lnSpc>
              <a:spcAft>
                <a:spcPts val="0"/>
              </a:spcAft>
              <a:buFontTx/>
              <a:buNone/>
              <a:defRPr sz="1400">
                <a:solidFill>
                  <a:schemeClr val="bg1"/>
                </a:solidFill>
              </a:defRPr>
            </a:lvl7pPr>
            <a:lvl8pPr marL="0" indent="0" algn="r">
              <a:lnSpc>
                <a:spcPct val="100000"/>
              </a:lnSpc>
              <a:spcAft>
                <a:spcPts val="0"/>
              </a:spcAft>
              <a:buFontTx/>
              <a:buNone/>
              <a:defRPr sz="1400">
                <a:solidFill>
                  <a:schemeClr val="bg1"/>
                </a:solidFill>
              </a:defRPr>
            </a:lvl8pPr>
            <a:lvl9pPr marL="0" indent="0" algn="r">
              <a:lnSpc>
                <a:spcPct val="100000"/>
              </a:lnSpc>
              <a:spcAft>
                <a:spcPts val="0"/>
              </a:spcAft>
              <a:buFontTx/>
              <a:buNone/>
              <a:defRPr sz="1400">
                <a:solidFill>
                  <a:schemeClr val="bg1"/>
                </a:solidFill>
              </a:defRPr>
            </a:lvl9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pic>
        <p:nvPicPr>
          <p:cNvPr id="6" name="Picture 5" descr="A building with a clock tower&#10;&#10;Description automatically generated">
            <a:extLst>
              <a:ext uri="{FF2B5EF4-FFF2-40B4-BE49-F238E27FC236}">
                <a16:creationId xmlns:a16="http://schemas.microsoft.com/office/drawing/2014/main" id="{539DE1A1-49DF-E58A-6C88-61C3401E0A41}"/>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322875" y="342000"/>
            <a:ext cx="11534887" cy="5791668"/>
          </a:xfrm>
          <a:prstGeom prst="rect">
            <a:avLst/>
          </a:prstGeom>
        </p:spPr>
      </p:pic>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US"/>
              <a:t>Click to edit Master title style</a:t>
            </a:r>
            <a:endParaRPr lang="en-AU" dirty="0"/>
          </a:p>
        </p:txBody>
      </p:sp>
      <p:pic>
        <p:nvPicPr>
          <p:cNvPr id="5" name="Picture Placeholder 10" descr="Logo&#10;&#10;Description automatically generated">
            <a:extLst>
              <a:ext uri="{FF2B5EF4-FFF2-40B4-BE49-F238E27FC236}">
                <a16:creationId xmlns:a16="http://schemas.microsoft.com/office/drawing/2014/main" id="{30E4AA47-6A18-5856-8B55-31A2F24D6B0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5579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_styl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2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4" name="Picture Placeholder 10" descr="Logo&#10;&#10;Description automatically generated">
            <a:extLst>
              <a:ext uri="{FF2B5EF4-FFF2-40B4-BE49-F238E27FC236}">
                <a16:creationId xmlns:a16="http://schemas.microsoft.com/office/drawing/2014/main" id="{F44244A3-AF35-00C5-3FA8-D6B57DDB2ED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2727138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1">
    <p:spTree>
      <p:nvGrpSpPr>
        <p:cNvPr id="1" name=""/>
        <p:cNvGrpSpPr/>
        <p:nvPr/>
      </p:nvGrpSpPr>
      <p:grpSpPr>
        <a:xfrm>
          <a:off x="0" y="0"/>
          <a:ext cx="0" cy="0"/>
          <a:chOff x="0" y="0"/>
          <a:chExt cx="0" cy="0"/>
        </a:xfrm>
      </p:grpSpPr>
      <p:pic>
        <p:nvPicPr>
          <p:cNvPr id="4" name="Picture 3" descr="A train on the street&#10;&#10;Description automatically generated">
            <a:extLst>
              <a:ext uri="{FF2B5EF4-FFF2-40B4-BE49-F238E27FC236}">
                <a16:creationId xmlns:a16="http://schemas.microsoft.com/office/drawing/2014/main" id="{C21B4368-12D9-57AE-3A1D-DAE6674AE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800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72152403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1">
    <p:spTree>
      <p:nvGrpSpPr>
        <p:cNvPr id="1" name=""/>
        <p:cNvGrpSpPr/>
        <p:nvPr/>
      </p:nvGrpSpPr>
      <p:grpSpPr>
        <a:xfrm>
          <a:off x="0" y="0"/>
          <a:ext cx="0" cy="0"/>
          <a:chOff x="0" y="0"/>
          <a:chExt cx="0" cy="0"/>
        </a:xfrm>
      </p:grpSpPr>
      <p:pic>
        <p:nvPicPr>
          <p:cNvPr id="3" name="Picture 2" descr="A close-up of a building&#10;&#10;Description automatically generated">
            <a:extLst>
              <a:ext uri="{FF2B5EF4-FFF2-40B4-BE49-F238E27FC236}">
                <a16:creationId xmlns:a16="http://schemas.microsoft.com/office/drawing/2014/main" id="{B81EDBD4-C9CF-59CC-461E-DB98C187D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907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4EF8F4E9-FAE8-C7F7-EED9-30CA77676534}"/>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21F14F64-41A3-A64C-2463-CAC1DD1F163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CB4A80DB-38E0-359B-9518-DCF2692A96B0}"/>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88052055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1">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FED4D6B5-F526-F625-9177-15B300C8FC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392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315C606B-DBD6-6B98-FCEE-3981CBD7676E}"/>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7" name="Picture Placeholder 10" descr="Logo&#10;&#10;Description automatically generated">
            <a:extLst>
              <a:ext uri="{FF2B5EF4-FFF2-40B4-BE49-F238E27FC236}">
                <a16:creationId xmlns:a16="http://schemas.microsoft.com/office/drawing/2014/main" id="{934572BE-6DBB-223D-542C-91D71528A17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D22CA810-7F8C-3D8D-59E6-41512FFA280C}"/>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20638221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_with image4_style1">
    <p:spTree>
      <p:nvGrpSpPr>
        <p:cNvPr id="1" name=""/>
        <p:cNvGrpSpPr/>
        <p:nvPr/>
      </p:nvGrpSpPr>
      <p:grpSpPr>
        <a:xfrm>
          <a:off x="0" y="0"/>
          <a:ext cx="0" cy="0"/>
          <a:chOff x="0" y="0"/>
          <a:chExt cx="0" cy="0"/>
        </a:xfrm>
      </p:grpSpPr>
      <p:pic>
        <p:nvPicPr>
          <p:cNvPr id="3" name="Picture 2" descr="A building with many windows&#10;&#10;Description automatically generated">
            <a:extLst>
              <a:ext uri="{FF2B5EF4-FFF2-40B4-BE49-F238E27FC236}">
                <a16:creationId xmlns:a16="http://schemas.microsoft.com/office/drawing/2014/main" id="{4ACB552C-63F8-E9C0-06FA-7DB1F7430E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7508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20000"/>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B961782D-5772-54A1-DB84-FE91617DDF6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7" name="Picture Placeholder 10" descr="Logo&#10;&#10;Description automatically generated">
            <a:extLst>
              <a:ext uri="{FF2B5EF4-FFF2-40B4-BE49-F238E27FC236}">
                <a16:creationId xmlns:a16="http://schemas.microsoft.com/office/drawing/2014/main" id="{337175A6-6452-322F-7BD0-EAA975A8656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19FE526D-CA42-9B67-5F7E-8E810C8A8C49}"/>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36321361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_with image5_style1">
    <p:spTree>
      <p:nvGrpSpPr>
        <p:cNvPr id="1" name=""/>
        <p:cNvGrpSpPr/>
        <p:nvPr/>
      </p:nvGrpSpPr>
      <p:grpSpPr>
        <a:xfrm>
          <a:off x="0" y="0"/>
          <a:ext cx="0" cy="0"/>
          <a:chOff x="0" y="0"/>
          <a:chExt cx="0" cy="0"/>
        </a:xfrm>
      </p:grpSpPr>
      <p:pic>
        <p:nvPicPr>
          <p:cNvPr id="3" name="Picture 2" descr="A large auditorium with blue lights&#10;&#10;Description automatically generated">
            <a:extLst>
              <a:ext uri="{FF2B5EF4-FFF2-40B4-BE49-F238E27FC236}">
                <a16:creationId xmlns:a16="http://schemas.microsoft.com/office/drawing/2014/main" id="{E4A9FC45-DD09-38AB-3B34-9EF99267BF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851691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4" name="Rectangle 3">
            <a:extLst>
              <a:ext uri="{FF2B5EF4-FFF2-40B4-BE49-F238E27FC236}">
                <a16:creationId xmlns:a16="http://schemas.microsoft.com/office/drawing/2014/main" id="{D3569B04-81DF-2285-6290-6A1B9AE81DFD}"/>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pic>
        <p:nvPicPr>
          <p:cNvPr id="10" name="Picture Placeholder 10" descr="Logo&#10;&#10;Description automatically generated">
            <a:extLst>
              <a:ext uri="{FF2B5EF4-FFF2-40B4-BE49-F238E27FC236}">
                <a16:creationId xmlns:a16="http://schemas.microsoft.com/office/drawing/2014/main" id="{560B8F70-2D74-855E-E3DD-E1442F6A7D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14" name="Text Placeholder 11">
            <a:extLst>
              <a:ext uri="{FF2B5EF4-FFF2-40B4-BE49-F238E27FC236}">
                <a16:creationId xmlns:a16="http://schemas.microsoft.com/office/drawing/2014/main" id="{2C42A733-BC01-7351-0C78-CD744DE94C58}"/>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Tree>
    <p:extLst>
      <p:ext uri="{BB962C8B-B14F-4D97-AF65-F5344CB8AC3E}">
        <p14:creationId xmlns:p14="http://schemas.microsoft.com/office/powerpoint/2010/main" val="321238552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Dark Mod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1"/>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139245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and Present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a:xfrm>
            <a:off x="345600" y="6437192"/>
            <a:ext cx="4114800" cy="216000"/>
          </a:xfrm>
        </p:spPr>
        <p:txBody>
          <a:bodyPr/>
          <a:lstStyle>
            <a:lvl1pPr>
              <a:defRPr>
                <a:solidFill>
                  <a:schemeClr val="bg2"/>
                </a:solidFill>
              </a:defRPr>
            </a:lvl1pPr>
          </a:lstStyle>
          <a:p>
            <a:r>
              <a:rPr lang="en-AU" dirty="0"/>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673806"/>
            <a:ext cx="7405200" cy="446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
        <p:nvSpPr>
          <p:cNvPr id="4" name="Picture Placeholder 7">
            <a:extLst>
              <a:ext uri="{FF2B5EF4-FFF2-40B4-BE49-F238E27FC236}">
                <a16:creationId xmlns:a16="http://schemas.microsoft.com/office/drawing/2014/main" id="{7C6DB685-726F-A1FB-C9B0-00C92EC7F117}"/>
              </a:ext>
            </a:extLst>
          </p:cNvPr>
          <p:cNvSpPr>
            <a:spLocks noGrp="1"/>
          </p:cNvSpPr>
          <p:nvPr>
            <p:ph type="pic" sz="quarter" idx="16" hasCustomPrompt="1"/>
          </p:nvPr>
        </p:nvSpPr>
        <p:spPr>
          <a:xfrm>
            <a:off x="8040217" y="1673806"/>
            <a:ext cx="3806182" cy="4467794"/>
          </a:xfrm>
          <a:blipFill>
            <a:blip r:embed="rId2" cstate="print">
              <a:extLst>
                <a:ext uri="{28A0092B-C50C-407E-A947-70E740481C1C}">
                  <a14:useLocalDpi xmlns:a14="http://schemas.microsoft.com/office/drawing/2010/main" val="0"/>
                </a:ext>
              </a:extLst>
            </a:blip>
            <a:stretch>
              <a:fillRect l="-12818" t="-6998" r="-14598" b="-250"/>
            </a:stretch>
          </a:blipFill>
        </p:spPr>
        <p:txBody>
          <a:bodyPr anchor="ctr" anchorCtr="0"/>
          <a:lstStyle>
            <a:lvl1pPr algn="ctr">
              <a:defRPr/>
            </a:lvl1pPr>
          </a:lstStyle>
          <a:p>
            <a:r>
              <a:rPr lang="en-AU" dirty="0"/>
              <a:t>Click icon to add Image of presenter</a:t>
            </a:r>
          </a:p>
        </p:txBody>
      </p:sp>
      <p:sp>
        <p:nvSpPr>
          <p:cNvPr id="5" name="TextBox 4">
            <a:extLst>
              <a:ext uri="{FF2B5EF4-FFF2-40B4-BE49-F238E27FC236}">
                <a16:creationId xmlns:a16="http://schemas.microsoft.com/office/drawing/2014/main" id="{8D5EAD7E-7B06-ABC7-F34C-50EDEAFC6D52}"/>
              </a:ext>
            </a:extLst>
          </p:cNvPr>
          <p:cNvSpPr txBox="1"/>
          <p:nvPr userDrawn="1"/>
        </p:nvSpPr>
        <p:spPr>
          <a:xfrm>
            <a:off x="4700845" y="6499304"/>
            <a:ext cx="7145554" cy="153888"/>
          </a:xfrm>
          <a:prstGeom prst="rect">
            <a:avLst/>
          </a:prstGeom>
          <a:noFill/>
        </p:spPr>
        <p:txBody>
          <a:bodyPr wrap="square" lIns="0" tIns="0" rIns="0" bIns="0" rtlCol="0">
            <a:spAutoFit/>
          </a:bodyPr>
          <a:lstStyle/>
          <a:p>
            <a:pPr algn="r">
              <a:lnSpc>
                <a:spcPts val="1200"/>
              </a:lnSpc>
            </a:pPr>
            <a:r>
              <a:rPr lang="en-AU" sz="1000" dirty="0"/>
              <a:t>(c) The University of Melbourne &lt;insert year&gt; This content is protected and may not be shared, uploaded, or distributed.</a:t>
            </a:r>
          </a:p>
        </p:txBody>
      </p:sp>
    </p:spTree>
    <p:extLst>
      <p:ext uri="{BB962C8B-B14F-4D97-AF65-F5344CB8AC3E}">
        <p14:creationId xmlns:p14="http://schemas.microsoft.com/office/powerpoint/2010/main" val="391554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2"/>
                </a:solidFill>
              </a:defRPr>
            </a:lvl1p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2"/>
                </a:solidFill>
              </a:defRPr>
            </a:lvl1pPr>
          </a:lstStyle>
          <a:p>
            <a:r>
              <a:rPr lang="en-AU"/>
              <a:t>Page [</a:t>
            </a:r>
            <a:fld id="{29D5CE74-914C-4689-99FC-1AEF49CE2B47}" type="slidenum">
              <a:rPr smtClean="0"/>
              <a:pPr/>
              <a:t>‹#›</a:t>
            </a:fld>
            <a:r>
              <a:t>]</a:t>
            </a:r>
            <a:endParaRPr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dirty="0"/>
          </a:p>
        </p:txBody>
      </p:sp>
    </p:spTree>
    <p:extLst>
      <p:ext uri="{BB962C8B-B14F-4D97-AF65-F5344CB8AC3E}">
        <p14:creationId xmlns:p14="http://schemas.microsoft.com/office/powerpoint/2010/main" val="3267535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7042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6219599"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5151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a:p>
        </p:txBody>
      </p:sp>
      <p:sp>
        <p:nvSpPr>
          <p:cNvPr id="6" name="Picture Placeholder 5">
            <a:extLst>
              <a:ext uri="{FF2B5EF4-FFF2-40B4-BE49-F238E27FC236}">
                <a16:creationId xmlns:a16="http://schemas.microsoft.com/office/drawing/2014/main" id="{FC2A53D8-7CC9-C8A8-3494-5EBD660356B9}"/>
              </a:ext>
            </a:extLst>
          </p:cNvPr>
          <p:cNvSpPr>
            <a:spLocks noGrp="1"/>
          </p:cNvSpPr>
          <p:nvPr>
            <p:ph type="pic" sz="quarter" idx="16" hasCustomPrompt="1"/>
          </p:nvPr>
        </p:nvSpPr>
        <p:spPr>
          <a:xfrm>
            <a:off x="6219599" y="1870075"/>
            <a:ext cx="5626800" cy="4273200"/>
          </a:xfrm>
        </p:spPr>
        <p:txBody>
          <a:bodyPr anchor="ctr" anchorCtr="0"/>
          <a:lstStyle>
            <a:lvl1pPr algn="ctr">
              <a:lnSpc>
                <a:spcPts val="1400"/>
              </a:lnSpc>
              <a:defRPr sz="1200"/>
            </a:lvl1pPr>
          </a:lstStyle>
          <a:p>
            <a:r>
              <a:rPr lang="en-AU" dirty="0"/>
              <a:t>Click icon to insert image</a:t>
            </a:r>
          </a:p>
        </p:txBody>
      </p:sp>
    </p:spTree>
    <p:extLst>
      <p:ext uri="{BB962C8B-B14F-4D97-AF65-F5344CB8AC3E}">
        <p14:creationId xmlns:p14="http://schemas.microsoft.com/office/powerpoint/2010/main" val="3118280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hart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387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4" cy="3886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6" name="Chart Placeholder 5">
            <a:extLst>
              <a:ext uri="{FF2B5EF4-FFF2-40B4-BE49-F238E27FC236}">
                <a16:creationId xmlns:a16="http://schemas.microsoft.com/office/drawing/2014/main" id="{83A92489-4F48-E651-8308-E8A1BEAEF4BD}"/>
              </a:ext>
            </a:extLst>
          </p:cNvPr>
          <p:cNvSpPr>
            <a:spLocks noGrp="1"/>
          </p:cNvSpPr>
          <p:nvPr>
            <p:ph type="chart" sz="quarter" idx="17" hasCustomPrompt="1"/>
          </p:nvPr>
        </p:nvSpPr>
        <p:spPr>
          <a:xfrm>
            <a:off x="345600" y="2573905"/>
            <a:ext cx="5626575" cy="2880320"/>
          </a:xfrm>
        </p:spPr>
        <p:txBody>
          <a:bodyPr anchor="ctr" anchorCtr="0"/>
          <a:lstStyle>
            <a:lvl1pPr algn="ctr">
              <a:defRPr/>
            </a:lvl1pPr>
          </a:lstStyle>
          <a:p>
            <a:r>
              <a:rPr lang="en-AU" dirty="0"/>
              <a:t>Click icon to insert Chart</a:t>
            </a:r>
          </a:p>
        </p:txBody>
      </p:sp>
      <p:sp>
        <p:nvSpPr>
          <p:cNvPr id="9" name="Chart Placeholder 5">
            <a:extLst>
              <a:ext uri="{FF2B5EF4-FFF2-40B4-BE49-F238E27FC236}">
                <a16:creationId xmlns:a16="http://schemas.microsoft.com/office/drawing/2014/main" id="{9D4C9335-8F56-5714-572A-14E7E23CC1AB}"/>
              </a:ext>
            </a:extLst>
          </p:cNvPr>
          <p:cNvSpPr>
            <a:spLocks noGrp="1"/>
          </p:cNvSpPr>
          <p:nvPr>
            <p:ph type="chart" sz="quarter" idx="18" hasCustomPrompt="1"/>
          </p:nvPr>
        </p:nvSpPr>
        <p:spPr>
          <a:xfrm>
            <a:off x="6223381" y="2573905"/>
            <a:ext cx="5623018" cy="2880320"/>
          </a:xfrm>
        </p:spPr>
        <p:txBody>
          <a:bodyPr anchor="ctr" anchorCtr="0"/>
          <a:lstStyle>
            <a:lvl1pPr algn="ctr">
              <a:defRPr/>
            </a:lvl1pPr>
          </a:lstStyle>
          <a:p>
            <a:r>
              <a:rPr lang="en-AU" dirty="0"/>
              <a:t>Click icon to insert Chart</a:t>
            </a:r>
          </a:p>
        </p:txBody>
      </p:sp>
      <p:sp>
        <p:nvSpPr>
          <p:cNvPr id="4" name="Title 3">
            <a:extLst>
              <a:ext uri="{FF2B5EF4-FFF2-40B4-BE49-F238E27FC236}">
                <a16:creationId xmlns:a16="http://schemas.microsoft.com/office/drawing/2014/main" id="{0C4277FC-2AB5-CB23-BC94-BEF3C9536350}"/>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06101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3"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dirty="0"/>
          </a:p>
        </p:txBody>
      </p:sp>
      <p:sp>
        <p:nvSpPr>
          <p:cNvPr id="4" name="Title 3">
            <a:extLst>
              <a:ext uri="{FF2B5EF4-FFF2-40B4-BE49-F238E27FC236}">
                <a16:creationId xmlns:a16="http://schemas.microsoft.com/office/drawing/2014/main" id="{4863FD07-110D-DEB8-85AE-92CD33C072C4}"/>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21847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dirty="0"/>
              <a:t>Page [</a:t>
            </a:r>
            <a:fld id="{29D5CE74-914C-4689-99FC-1AEF49CE2B47}" type="slidenum">
              <a:rPr smtClean="0"/>
              <a:pPr/>
              <a:t>‹#›</a:t>
            </a:fld>
            <a:r>
              <a:rPr dirty="0"/>
              <a:t>]</a:t>
            </a:r>
            <a:endParaRPr lang="en-AU" dirty="0"/>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US"/>
              <a:t>Click to edit Master title style</a:t>
            </a:r>
            <a:endParaRPr lang="en-AU" dirty="0"/>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4296000"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Content Placeholder 6">
            <a:extLst>
              <a:ext uri="{FF2B5EF4-FFF2-40B4-BE49-F238E27FC236}">
                <a16:creationId xmlns:a16="http://schemas.microsoft.com/office/drawing/2014/main" id="{A14B56AF-59AC-1DD7-A515-93236D9D5034}"/>
              </a:ext>
            </a:extLst>
          </p:cNvPr>
          <p:cNvSpPr>
            <a:spLocks noGrp="1"/>
          </p:cNvSpPr>
          <p:nvPr>
            <p:ph sz="quarter" idx="17"/>
          </p:nvPr>
        </p:nvSpPr>
        <p:spPr>
          <a:xfrm>
            <a:off x="8246399"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503064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endParaRPr lang="en-AU" dirty="0"/>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42959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4" name="Content Placeholder 6">
            <a:extLst>
              <a:ext uri="{FF2B5EF4-FFF2-40B4-BE49-F238E27FC236}">
                <a16:creationId xmlns:a16="http://schemas.microsoft.com/office/drawing/2014/main" id="{12B8F049-B051-C3CF-84AF-76D0419ECC4D}"/>
              </a:ext>
            </a:extLst>
          </p:cNvPr>
          <p:cNvSpPr>
            <a:spLocks noGrp="1"/>
          </p:cNvSpPr>
          <p:nvPr>
            <p:ph sz="quarter" idx="16"/>
          </p:nvPr>
        </p:nvSpPr>
        <p:spPr>
          <a:xfrm>
            <a:off x="8246399" y="1870255"/>
            <a:ext cx="3600000" cy="427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Slide Number Placeholder 5">
            <a:extLst>
              <a:ext uri="{FF2B5EF4-FFF2-40B4-BE49-F238E27FC236}">
                <a16:creationId xmlns:a16="http://schemas.microsoft.com/office/drawing/2014/main" id="{CA6341BC-444F-9260-2F29-DB09F5C10802}"/>
              </a:ext>
            </a:extLst>
          </p:cNvPr>
          <p:cNvSpPr>
            <a:spLocks noGrp="1"/>
          </p:cNvSpPr>
          <p:nvPr>
            <p:ph type="sldNum" sz="quarter" idx="17"/>
          </p:nvPr>
        </p:nvSpPr>
        <p:spPr>
          <a:xfrm>
            <a:off x="10267260" y="6437192"/>
            <a:ext cx="1579139" cy="216000"/>
          </a:xfrm>
        </p:spPr>
        <p:txBody>
          <a:bodyPr/>
          <a:lstStyle/>
          <a:p>
            <a:r>
              <a:rPr lang="en-AU"/>
              <a:t>Page [</a:t>
            </a:r>
            <a:fld id="{29D5CE74-914C-4689-99FC-1AEF49CE2B47}" type="slidenum">
              <a:rPr smtClean="0"/>
              <a:pPr/>
              <a:t>‹#›</a:t>
            </a:fld>
            <a:r>
              <a:t>]</a:t>
            </a:r>
            <a:endParaRPr lang="en-AU" dirty="0"/>
          </a:p>
        </p:txBody>
      </p:sp>
      <p:sp>
        <p:nvSpPr>
          <p:cNvPr id="8" name="Title 7">
            <a:extLst>
              <a:ext uri="{FF2B5EF4-FFF2-40B4-BE49-F238E27FC236}">
                <a16:creationId xmlns:a16="http://schemas.microsoft.com/office/drawing/2014/main" id="{B997EF1D-2BE4-A99C-D98C-B233628816F3}"/>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628763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1577134" y="1133745"/>
            <a:ext cx="9001001"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6023122"/>
            <a:ext cx="5490611" cy="630070"/>
          </a:xfrm>
        </p:spPr>
        <p:txBody>
          <a:bodyPr anchor="b" anchorCtr="0"/>
          <a:lstStyle>
            <a:lvl1pPr marL="0" algn="l">
              <a:lnSpc>
                <a:spcPct val="100000"/>
              </a:lnSpc>
              <a:spcAft>
                <a:spcPts val="0"/>
              </a:spcAft>
              <a:buFontTx/>
              <a:buNone/>
              <a:defRPr sz="1400" b="0">
                <a:solidFill>
                  <a:schemeClr val="bg1"/>
                </a:solidFill>
              </a:defRPr>
            </a:lvl1pPr>
            <a:lvl2pPr marL="0" algn="l">
              <a:lnSpc>
                <a:spcPct val="100000"/>
              </a:lnSpc>
              <a:spcAft>
                <a:spcPts val="0"/>
              </a:spcAft>
              <a:buFontTx/>
              <a:buNone/>
              <a:defRPr sz="1400" b="0">
                <a:solidFill>
                  <a:schemeClr val="bg1"/>
                </a:solidFill>
              </a:defRPr>
            </a:lvl2pPr>
            <a:lvl3pPr marL="0" indent="0" algn="l">
              <a:lnSpc>
                <a:spcPct val="100000"/>
              </a:lnSpc>
              <a:spcAft>
                <a:spcPts val="0"/>
              </a:spcAft>
              <a:buFontTx/>
              <a:buNone/>
              <a:defRPr sz="1400" b="0">
                <a:solidFill>
                  <a:schemeClr val="bg1"/>
                </a:solidFill>
              </a:defRPr>
            </a:lvl3pPr>
            <a:lvl4pPr marL="0" indent="0" algn="l">
              <a:lnSpc>
                <a:spcPct val="100000"/>
              </a:lnSpc>
              <a:spcAft>
                <a:spcPts val="0"/>
              </a:spcAft>
              <a:buFontTx/>
              <a:buNone/>
              <a:defRPr sz="1400" b="0">
                <a:solidFill>
                  <a:schemeClr val="bg1"/>
                </a:solidFill>
              </a:defRPr>
            </a:lvl4pPr>
            <a:lvl5pPr marL="0" indent="0" algn="l">
              <a:lnSpc>
                <a:spcPct val="100000"/>
              </a:lnSpc>
              <a:spcAft>
                <a:spcPts val="0"/>
              </a:spcAft>
              <a:buFontTx/>
              <a:buNone/>
              <a:defRPr sz="1400" b="0">
                <a:solidFill>
                  <a:schemeClr val="bg1"/>
                </a:solidFill>
              </a:defRPr>
            </a:lvl5pPr>
            <a:lvl6pPr marL="0" indent="0" algn="l">
              <a:lnSpc>
                <a:spcPct val="100000"/>
              </a:lnSpc>
              <a:spcAft>
                <a:spcPts val="0"/>
              </a:spcAft>
              <a:buFontTx/>
              <a:buNone/>
              <a:defRPr sz="1400" b="0">
                <a:solidFill>
                  <a:schemeClr val="bg1"/>
                </a:solidFill>
              </a:defRPr>
            </a:lvl6pPr>
            <a:lvl7pPr marL="0" indent="0" algn="l">
              <a:lnSpc>
                <a:spcPct val="100000"/>
              </a:lnSpc>
              <a:spcAft>
                <a:spcPts val="0"/>
              </a:spcAft>
              <a:buFontTx/>
              <a:buNone/>
              <a:defRPr sz="1400" b="0">
                <a:solidFill>
                  <a:schemeClr val="bg1"/>
                </a:solidFill>
              </a:defRPr>
            </a:lvl7pPr>
            <a:lvl8pPr marL="0" indent="0" algn="l">
              <a:lnSpc>
                <a:spcPct val="100000"/>
              </a:lnSpc>
              <a:spcAft>
                <a:spcPts val="0"/>
              </a:spcAft>
              <a:buFontTx/>
              <a:buNone/>
              <a:defRPr sz="1400" b="0">
                <a:solidFill>
                  <a:schemeClr val="bg1"/>
                </a:solidFill>
              </a:defRPr>
            </a:lvl8pPr>
            <a:lvl9pPr marL="0" indent="0" algn="l">
              <a:lnSpc>
                <a:spcPct val="100000"/>
              </a:lnSpc>
              <a:spcAft>
                <a:spcPts val="0"/>
              </a:spcAft>
              <a:buFontTx/>
              <a:buNone/>
              <a:defRPr sz="1400" b="0">
                <a:solidFill>
                  <a:schemeClr val="bg1"/>
                </a:solidFill>
              </a:defRPr>
            </a:lvl9pPr>
          </a:lstStyle>
          <a:p>
            <a:pPr lvl="0"/>
            <a:r>
              <a:rPr lang="en-US" dirty="0"/>
              <a:t>[Collaborator/partner relationship disclaimer]</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9" name="Text Placeholder 10">
            <a:extLst>
              <a:ext uri="{FF2B5EF4-FFF2-40B4-BE49-F238E27FC236}">
                <a16:creationId xmlns:a16="http://schemas.microsoft.com/office/drawing/2014/main" id="{E98D57ED-F6FA-0853-C0FA-554B2313321E}"/>
              </a:ext>
            </a:extLst>
          </p:cNvPr>
          <p:cNvSpPr>
            <a:spLocks noGrp="1"/>
          </p:cNvSpPr>
          <p:nvPr>
            <p:ph type="body" sz="quarter" idx="18" hasCustomPrompt="1"/>
          </p:nvPr>
        </p:nvSpPr>
        <p:spPr>
          <a:xfrm>
            <a:off x="6231015" y="6437192"/>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pic>
        <p:nvPicPr>
          <p:cNvPr id="2" name="Picture Placeholder 6" descr="Logo&#10;&#10;Description automatically generated">
            <a:extLst>
              <a:ext uri="{FF2B5EF4-FFF2-40B4-BE49-F238E27FC236}">
                <a16:creationId xmlns:a16="http://schemas.microsoft.com/office/drawing/2014/main" id="{54D6F5F3-83EC-7C59-7764-F0BA609CE28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4870378" y="2315284"/>
            <a:ext cx="2385265" cy="2373856"/>
          </a:xfrm>
          <a:prstGeom prst="rect">
            <a:avLst/>
          </a:prstGeom>
        </p:spPr>
      </p:pic>
    </p:spTree>
    <p:extLst>
      <p:ext uri="{BB962C8B-B14F-4D97-AF65-F5344CB8AC3E}">
        <p14:creationId xmlns:p14="http://schemas.microsoft.com/office/powerpoint/2010/main" val="2569138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345599" y="489679"/>
            <a:ext cx="11500799" cy="869091"/>
          </a:xfrm>
        </p:spPr>
        <p:txBody>
          <a:bodyPr/>
          <a:lstStyle>
            <a:lvl1pPr algn="ctr">
              <a:lnSpc>
                <a:spcPts val="5200"/>
              </a:lnSpc>
              <a:defRPr sz="4800">
                <a:solidFill>
                  <a:schemeClr val="bg1"/>
                </a:solidFill>
              </a:defRPr>
            </a:lvl1pPr>
          </a:lstStyle>
          <a:p>
            <a:r>
              <a:rPr lang="en-US"/>
              <a:t>Click to edit Master title style</a:t>
            </a:r>
            <a:endParaRPr lang="en-AU" dirty="0"/>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5850353"/>
            <a:ext cx="5265585" cy="365012"/>
          </a:xfrm>
        </p:spPr>
        <p:txBody>
          <a:bodyPr anchor="t" anchorCtr="0"/>
          <a:lstStyle>
            <a:lvl1pPr marL="0" algn="l">
              <a:lnSpc>
                <a:spcPct val="100000"/>
              </a:lnSpc>
              <a:spcAft>
                <a:spcPts val="0"/>
              </a:spcAft>
              <a:buFontTx/>
              <a:buNone/>
              <a:defRPr sz="2000" b="0">
                <a:solidFill>
                  <a:schemeClr val="bg1"/>
                </a:solidFill>
              </a:defRPr>
            </a:lvl1pPr>
            <a:lvl2pPr marL="0" algn="l">
              <a:lnSpc>
                <a:spcPct val="100000"/>
              </a:lnSpc>
              <a:spcAft>
                <a:spcPts val="0"/>
              </a:spcAft>
              <a:buFontTx/>
              <a:buNone/>
              <a:defRPr sz="2000" b="0">
                <a:solidFill>
                  <a:schemeClr val="bg1"/>
                </a:solidFill>
              </a:defRPr>
            </a:lvl2pPr>
            <a:lvl3pPr marL="0" indent="0" algn="l">
              <a:lnSpc>
                <a:spcPct val="100000"/>
              </a:lnSpc>
              <a:spcAft>
                <a:spcPts val="0"/>
              </a:spcAft>
              <a:buFontTx/>
              <a:buNone/>
              <a:defRPr sz="2000" b="0">
                <a:solidFill>
                  <a:schemeClr val="bg1"/>
                </a:solidFill>
              </a:defRPr>
            </a:lvl3pPr>
            <a:lvl4pPr marL="0" indent="0" algn="l">
              <a:lnSpc>
                <a:spcPct val="100000"/>
              </a:lnSpc>
              <a:spcAft>
                <a:spcPts val="0"/>
              </a:spcAft>
              <a:buFontTx/>
              <a:buNone/>
              <a:defRPr sz="2000" b="0">
                <a:solidFill>
                  <a:schemeClr val="bg1"/>
                </a:solidFill>
              </a:defRPr>
            </a:lvl4pPr>
            <a:lvl5pPr marL="0" indent="0" algn="l">
              <a:lnSpc>
                <a:spcPct val="100000"/>
              </a:lnSpc>
              <a:spcAft>
                <a:spcPts val="0"/>
              </a:spcAft>
              <a:buFontTx/>
              <a:buNone/>
              <a:defRPr sz="2000" b="0">
                <a:solidFill>
                  <a:schemeClr val="bg1"/>
                </a:solidFill>
              </a:defRPr>
            </a:lvl5pPr>
            <a:lvl6pPr marL="0" indent="0" algn="l">
              <a:lnSpc>
                <a:spcPct val="100000"/>
              </a:lnSpc>
              <a:spcAft>
                <a:spcPts val="0"/>
              </a:spcAft>
              <a:buFontTx/>
              <a:buNone/>
              <a:defRPr sz="2000" b="0">
                <a:solidFill>
                  <a:schemeClr val="bg1"/>
                </a:solidFill>
              </a:defRPr>
            </a:lvl6pPr>
            <a:lvl7pPr marL="0" indent="0" algn="l">
              <a:lnSpc>
                <a:spcPct val="100000"/>
              </a:lnSpc>
              <a:spcAft>
                <a:spcPts val="0"/>
              </a:spcAft>
              <a:buFontTx/>
              <a:buNone/>
              <a:defRPr sz="2000" b="0">
                <a:solidFill>
                  <a:schemeClr val="bg1"/>
                </a:solidFill>
              </a:defRPr>
            </a:lvl7pPr>
            <a:lvl8pPr marL="0" indent="0" algn="l">
              <a:lnSpc>
                <a:spcPct val="100000"/>
              </a:lnSpc>
              <a:spcAft>
                <a:spcPts val="0"/>
              </a:spcAft>
              <a:buFontTx/>
              <a:buNone/>
              <a:defRPr sz="2000" b="0">
                <a:solidFill>
                  <a:schemeClr val="bg1"/>
                </a:solidFill>
              </a:defRPr>
            </a:lvl8pPr>
            <a:lvl9pPr marL="0" indent="0" algn="l">
              <a:lnSpc>
                <a:spcPct val="100000"/>
              </a:lnSpc>
              <a:spcAft>
                <a:spcPts val="0"/>
              </a:spcAft>
              <a:buFontTx/>
              <a:buNone/>
              <a:defRPr sz="2000" b="0">
                <a:solidFill>
                  <a:schemeClr val="bg1"/>
                </a:solidFill>
              </a:defRPr>
            </a:lvl9pPr>
          </a:lstStyle>
          <a:p>
            <a:pPr lvl="0"/>
            <a:r>
              <a:rPr lang="en-AU" dirty="0"/>
              <a:t>[Copyright, CTA or other information/notices]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
        <p:nvSpPr>
          <p:cNvPr id="2" name="Content Placeholder 7">
            <a:extLst>
              <a:ext uri="{FF2B5EF4-FFF2-40B4-BE49-F238E27FC236}">
                <a16:creationId xmlns:a16="http://schemas.microsoft.com/office/drawing/2014/main" id="{BBF3D5F6-94BD-ACED-7F35-959B5B93BD76}"/>
              </a:ext>
            </a:extLst>
          </p:cNvPr>
          <p:cNvSpPr>
            <a:spLocks noGrp="1"/>
          </p:cNvSpPr>
          <p:nvPr>
            <p:ph sz="quarter" idx="20"/>
          </p:nvPr>
        </p:nvSpPr>
        <p:spPr>
          <a:xfrm>
            <a:off x="4678967" y="2266086"/>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5" name="Picture Placeholder 6" descr="Logo&#10;&#10;Description automatically generated">
            <a:extLst>
              <a:ext uri="{FF2B5EF4-FFF2-40B4-BE49-F238E27FC236}">
                <a16:creationId xmlns:a16="http://schemas.microsoft.com/office/drawing/2014/main" id="{E3F816A6-DD62-1263-EF40-8DEE9FBC62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1315442" y="2266086"/>
            <a:ext cx="2385265" cy="2373856"/>
          </a:xfrm>
          <a:prstGeom prst="rect">
            <a:avLst/>
          </a:prstGeom>
        </p:spPr>
      </p:pic>
      <p:sp>
        <p:nvSpPr>
          <p:cNvPr id="7" name="Content Placeholder 7">
            <a:extLst>
              <a:ext uri="{FF2B5EF4-FFF2-40B4-BE49-F238E27FC236}">
                <a16:creationId xmlns:a16="http://schemas.microsoft.com/office/drawing/2014/main" id="{BCABDFB2-774F-9F26-0537-DFF1E88D8406}"/>
              </a:ext>
            </a:extLst>
          </p:cNvPr>
          <p:cNvSpPr>
            <a:spLocks noGrp="1"/>
          </p:cNvSpPr>
          <p:nvPr>
            <p:ph sz="quarter" idx="21"/>
          </p:nvPr>
        </p:nvSpPr>
        <p:spPr>
          <a:xfrm>
            <a:off x="8040216" y="2262385"/>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10">
            <a:extLst>
              <a:ext uri="{FF2B5EF4-FFF2-40B4-BE49-F238E27FC236}">
                <a16:creationId xmlns:a16="http://schemas.microsoft.com/office/drawing/2014/main" id="{F892BB12-1705-BD7B-229D-BF067F242181}"/>
              </a:ext>
            </a:extLst>
          </p:cNvPr>
          <p:cNvSpPr>
            <a:spLocks noGrp="1"/>
          </p:cNvSpPr>
          <p:nvPr>
            <p:ph type="body" sz="quarter" idx="18" hasCustomPrompt="1"/>
          </p:nvPr>
        </p:nvSpPr>
        <p:spPr>
          <a:xfrm>
            <a:off x="6231015" y="5999365"/>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610721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2">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574486-8652-716C-61C2-985D79E5DEEF}"/>
              </a:ext>
            </a:extLst>
          </p:cNvPr>
          <p:cNvSpPr txBox="1"/>
          <p:nvPr userDrawn="1"/>
        </p:nvSpPr>
        <p:spPr>
          <a:xfrm>
            <a:off x="345600" y="4183343"/>
            <a:ext cx="2310675" cy="200055"/>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(c) The University of Melbourne</a:t>
            </a:r>
            <a:endParaRPr lang="en-AU" sz="1300" dirty="0">
              <a:latin typeface="+mn-lt"/>
            </a:endParaRPr>
          </a:p>
        </p:txBody>
      </p:sp>
      <p:sp>
        <p:nvSpPr>
          <p:cNvPr id="6" name="Text Placeholder 5">
            <a:extLst>
              <a:ext uri="{FF2B5EF4-FFF2-40B4-BE49-F238E27FC236}">
                <a16:creationId xmlns:a16="http://schemas.microsoft.com/office/drawing/2014/main" id="{9AB091FC-4E25-7936-CC06-27124E717614}"/>
              </a:ext>
            </a:extLst>
          </p:cNvPr>
          <p:cNvSpPr>
            <a:spLocks noGrp="1"/>
          </p:cNvSpPr>
          <p:nvPr>
            <p:ph type="body" sz="quarter" idx="19" hasCustomPrompt="1"/>
          </p:nvPr>
        </p:nvSpPr>
        <p:spPr>
          <a:xfrm>
            <a:off x="2699196" y="4182849"/>
            <a:ext cx="1192703" cy="216000"/>
          </a:xfrm>
        </p:spPr>
        <p:txBody>
          <a:bodyPr/>
          <a:lstStyle>
            <a:lvl1pPr marL="0">
              <a:lnSpc>
                <a:spcPct val="100000"/>
              </a:lnSpc>
              <a:spcAft>
                <a:spcPts val="0"/>
              </a:spcAft>
              <a:buFontTx/>
              <a:buNone/>
              <a:defRPr sz="1300" b="0">
                <a:solidFill>
                  <a:schemeClr val="bg1"/>
                </a:solidFill>
              </a:defRPr>
            </a:lvl1pPr>
            <a:lvl2pPr marL="0">
              <a:lnSpc>
                <a:spcPct val="100000"/>
              </a:lnSpc>
              <a:spcAft>
                <a:spcPts val="0"/>
              </a:spcAft>
              <a:buFontTx/>
              <a:buNone/>
              <a:defRPr sz="1300" b="0">
                <a:solidFill>
                  <a:schemeClr val="bg1"/>
                </a:solidFill>
              </a:defRPr>
            </a:lvl2pPr>
            <a:lvl3pPr marL="0" indent="0">
              <a:lnSpc>
                <a:spcPct val="100000"/>
              </a:lnSpc>
              <a:spcAft>
                <a:spcPts val="0"/>
              </a:spcAft>
              <a:buFontTx/>
              <a:buNone/>
              <a:defRPr sz="1300" b="0">
                <a:solidFill>
                  <a:schemeClr val="bg1"/>
                </a:solidFill>
              </a:defRPr>
            </a:lvl3pPr>
            <a:lvl4pPr marL="0" indent="0">
              <a:lnSpc>
                <a:spcPct val="100000"/>
              </a:lnSpc>
              <a:spcAft>
                <a:spcPts val="0"/>
              </a:spcAft>
              <a:buFontTx/>
              <a:buNone/>
              <a:defRPr sz="1300" b="0">
                <a:solidFill>
                  <a:schemeClr val="bg1"/>
                </a:solidFill>
              </a:defRPr>
            </a:lvl4pPr>
            <a:lvl5pPr marL="0" indent="0">
              <a:lnSpc>
                <a:spcPct val="100000"/>
              </a:lnSpc>
              <a:spcAft>
                <a:spcPts val="0"/>
              </a:spcAft>
              <a:buFontTx/>
              <a:buNone/>
              <a:defRPr sz="1300" b="0">
                <a:solidFill>
                  <a:schemeClr val="bg1"/>
                </a:solidFill>
              </a:defRPr>
            </a:lvl5pPr>
            <a:lvl6pPr marL="0" indent="0">
              <a:lnSpc>
                <a:spcPct val="100000"/>
              </a:lnSpc>
              <a:spcAft>
                <a:spcPts val="0"/>
              </a:spcAft>
              <a:buFontTx/>
              <a:buNone/>
              <a:defRPr sz="1300" b="0">
                <a:solidFill>
                  <a:schemeClr val="bg1"/>
                </a:solidFill>
              </a:defRPr>
            </a:lvl6pPr>
            <a:lvl7pPr marL="0" indent="0">
              <a:lnSpc>
                <a:spcPct val="100000"/>
              </a:lnSpc>
              <a:spcAft>
                <a:spcPts val="0"/>
              </a:spcAft>
              <a:buFontTx/>
              <a:buNone/>
              <a:defRPr sz="1300" b="0">
                <a:solidFill>
                  <a:schemeClr val="bg1"/>
                </a:solidFill>
              </a:defRPr>
            </a:lvl7pPr>
            <a:lvl8pPr marL="0" indent="0">
              <a:lnSpc>
                <a:spcPct val="100000"/>
              </a:lnSpc>
              <a:spcAft>
                <a:spcPts val="0"/>
              </a:spcAft>
              <a:buFontTx/>
              <a:buNone/>
              <a:defRPr sz="1300" b="0">
                <a:solidFill>
                  <a:schemeClr val="bg1"/>
                </a:solidFill>
              </a:defRPr>
            </a:lvl8pPr>
            <a:lvl9pPr marL="0" indent="0">
              <a:lnSpc>
                <a:spcPct val="100000"/>
              </a:lnSpc>
              <a:spcAft>
                <a:spcPts val="0"/>
              </a:spcAft>
              <a:buFontTx/>
              <a:buNone/>
              <a:defRPr sz="1300" b="0">
                <a:solidFill>
                  <a:schemeClr val="bg1"/>
                </a:solidFill>
              </a:defRPr>
            </a:lvl9pPr>
          </a:lstStyle>
          <a:p>
            <a:pPr lvl="0"/>
            <a:r>
              <a:rPr lang="en-US" dirty="0"/>
              <a:t>2023</a:t>
            </a:r>
          </a:p>
        </p:txBody>
      </p:sp>
      <p:sp>
        <p:nvSpPr>
          <p:cNvPr id="5" name="TextBox 4">
            <a:extLst>
              <a:ext uri="{FF2B5EF4-FFF2-40B4-BE49-F238E27FC236}">
                <a16:creationId xmlns:a16="http://schemas.microsoft.com/office/drawing/2014/main" id="{C92EDEFF-E4AC-F752-A7F7-6FDA4F7FAD96}"/>
              </a:ext>
            </a:extLst>
          </p:cNvPr>
          <p:cNvSpPr txBox="1"/>
          <p:nvPr userDrawn="1"/>
        </p:nvSpPr>
        <p:spPr>
          <a:xfrm>
            <a:off x="345600" y="4383609"/>
            <a:ext cx="6740510" cy="1600438"/>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en-AU" sz="1300" u="sng" dirty="0">
                <a:solidFill>
                  <a:schemeClr val="bg1"/>
                </a:solidFill>
                <a:effectLst/>
                <a:latin typeface="+mn-lt"/>
                <a:ea typeface="Times New Roman" panose="02020603050405020304" pitchFamily="18" charset="0"/>
                <a:hlinkClick r:id="rId2" tooltip="https://academicintegrity.unimelb.edu.au/">
                  <a:extLst>
                    <a:ext uri="{A12FA001-AC4F-418D-AE19-62706E023703}">
                      <ahyp:hlinkClr xmlns:ahyp="http://schemas.microsoft.com/office/drawing/2018/hyperlinkcolor" val="tx"/>
                    </a:ext>
                  </a:extLst>
                </a:hlinkClick>
              </a:rPr>
              <a:t>Academic Integrity at the University of Melbourne</a:t>
            </a:r>
            <a:endParaRPr lang="en-AU" sz="1300" dirty="0">
              <a:latin typeface="+mn-lt"/>
            </a:endParaRPr>
          </a:p>
        </p:txBody>
      </p:sp>
      <p:sp>
        <p:nvSpPr>
          <p:cNvPr id="7" name="TextBox 6">
            <a:extLst>
              <a:ext uri="{FF2B5EF4-FFF2-40B4-BE49-F238E27FC236}">
                <a16:creationId xmlns:a16="http://schemas.microsoft.com/office/drawing/2014/main" id="{28028CA4-95B8-600A-C697-0F46636ABD89}"/>
              </a:ext>
            </a:extLst>
          </p:cNvPr>
          <p:cNvSpPr txBox="1"/>
          <p:nvPr userDrawn="1"/>
        </p:nvSpPr>
        <p:spPr>
          <a:xfrm>
            <a:off x="344500" y="5962159"/>
            <a:ext cx="6740510" cy="400110"/>
          </a:xfrm>
          <a:prstGeom prst="rect">
            <a:avLst/>
          </a:prstGeom>
          <a:noFill/>
          <a:ln w="15875">
            <a:noFill/>
          </a:ln>
        </p:spPr>
        <p:txBody>
          <a:bodyPr wrap="square" lIns="0" tIns="0" rIns="0" bIns="0">
            <a:spAutoFit/>
          </a:bodyPr>
          <a:lstStyle/>
          <a:p>
            <a:pPr marL="0"/>
            <a:r>
              <a:rPr lang="en-AU" sz="1300" dirty="0">
                <a:solidFill>
                  <a:schemeClr val="bg1"/>
                </a:solidFill>
                <a:effectLst/>
                <a:latin typeface="+mn-lt"/>
                <a:ea typeface="Times New Roman" panose="02020603050405020304" pitchFamily="18" charset="0"/>
              </a:rPr>
              <a:t>Requests and enquiries concerning reproduction and rights should be addressed to the University Copyright Office, The University of Melbourne: </a:t>
            </a:r>
            <a:r>
              <a:rPr lang="en-AU" sz="1300" u="sng" dirty="0">
                <a:solidFill>
                  <a:schemeClr val="bg1"/>
                </a:solidFill>
                <a:effectLst/>
                <a:latin typeface="+mn-lt"/>
                <a:ea typeface="Times New Roman" panose="02020603050405020304" pitchFamily="18" charset="0"/>
                <a:hlinkClick r:id="rId3">
                  <a:extLst>
                    <a:ext uri="{A12FA001-AC4F-418D-AE19-62706E023703}">
                      <ahyp:hlinkClr xmlns:ahyp="http://schemas.microsoft.com/office/drawing/2018/hyperlinkcolor" val="tx"/>
                    </a:ext>
                  </a:extLst>
                </a:hlinkClick>
              </a:rPr>
              <a:t>copyright-office@unimelb.edu.au</a:t>
            </a:r>
            <a:endParaRPr lang="en-AU" sz="1300" dirty="0">
              <a:latin typeface="+mn-lt"/>
            </a:endParaRPr>
          </a:p>
        </p:txBody>
      </p:sp>
      <p:sp>
        <p:nvSpPr>
          <p:cNvPr id="3" name="Text Placeholder 10">
            <a:extLst>
              <a:ext uri="{FF2B5EF4-FFF2-40B4-BE49-F238E27FC236}">
                <a16:creationId xmlns:a16="http://schemas.microsoft.com/office/drawing/2014/main" id="{9C45E1F2-EF0D-321D-535C-967DD7ADCCEB}"/>
              </a:ext>
            </a:extLst>
          </p:cNvPr>
          <p:cNvSpPr>
            <a:spLocks noGrp="1"/>
          </p:cNvSpPr>
          <p:nvPr>
            <p:ph type="body" sz="quarter" idx="18" hasCustomPrompt="1"/>
          </p:nvPr>
        </p:nvSpPr>
        <p:spPr>
          <a:xfrm>
            <a:off x="7671175" y="6167945"/>
            <a:ext cx="417522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dirty="0"/>
              <a:t>CRICOS: 00116K</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AU" dirty="0"/>
          </a:p>
        </p:txBody>
      </p:sp>
    </p:spTree>
    <p:extLst>
      <p:ext uri="{BB962C8B-B14F-4D97-AF65-F5344CB8AC3E}">
        <p14:creationId xmlns:p14="http://schemas.microsoft.com/office/powerpoint/2010/main" val="2732123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687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_style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84500"/>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415485853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2">
    <p:spTree>
      <p:nvGrpSpPr>
        <p:cNvPr id="1" name=""/>
        <p:cNvGrpSpPr/>
        <p:nvPr/>
      </p:nvGrpSpPr>
      <p:grpSpPr>
        <a:xfrm>
          <a:off x="0" y="0"/>
          <a:ext cx="0" cy="0"/>
          <a:chOff x="0" y="0"/>
          <a:chExt cx="0" cy="0"/>
        </a:xfrm>
      </p:grpSpPr>
      <p:pic>
        <p:nvPicPr>
          <p:cNvPr id="4" name="Picture 3" descr="People walking under a building&#10;&#10;Description automatically generated">
            <a:extLst>
              <a:ext uri="{FF2B5EF4-FFF2-40B4-BE49-F238E27FC236}">
                <a16:creationId xmlns:a16="http://schemas.microsoft.com/office/drawing/2014/main" id="{E7BA957F-097B-72FD-DF04-76077458E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798261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21501597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Divider_with image1_style2">
    <p:spTree>
      <p:nvGrpSpPr>
        <p:cNvPr id="1" name=""/>
        <p:cNvGrpSpPr/>
        <p:nvPr/>
      </p:nvGrpSpPr>
      <p:grpSpPr>
        <a:xfrm>
          <a:off x="0" y="0"/>
          <a:ext cx="0" cy="0"/>
          <a:chOff x="0" y="0"/>
          <a:chExt cx="0" cy="0"/>
        </a:xfrm>
      </p:grpSpPr>
      <p:pic>
        <p:nvPicPr>
          <p:cNvPr id="4" name="Picture 3" descr="A statue of a person&#10;&#10;Description automatically generated">
            <a:extLst>
              <a:ext uri="{FF2B5EF4-FFF2-40B4-BE49-F238E27FC236}">
                <a16:creationId xmlns:a16="http://schemas.microsoft.com/office/drawing/2014/main" id="{64F275E5-53E4-CE84-BFBA-2BC612A0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7361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771786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Divider_with image1_style2">
    <p:spTree>
      <p:nvGrpSpPr>
        <p:cNvPr id="1" name=""/>
        <p:cNvGrpSpPr/>
        <p:nvPr/>
      </p:nvGrpSpPr>
      <p:grpSpPr>
        <a:xfrm>
          <a:off x="0" y="0"/>
          <a:ext cx="0" cy="0"/>
          <a:chOff x="0" y="0"/>
          <a:chExt cx="0" cy="0"/>
        </a:xfrm>
      </p:grpSpPr>
      <p:pic>
        <p:nvPicPr>
          <p:cNvPr id="9" name="Picture 8" descr="A close-up of a hand pointing at a model&#10;&#10;Description automatically generated">
            <a:extLst>
              <a:ext uri="{FF2B5EF4-FFF2-40B4-BE49-F238E27FC236}">
                <a16:creationId xmlns:a16="http://schemas.microsoft.com/office/drawing/2014/main" id="{BD33C0EC-1329-DF67-CC34-2186429DE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302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569239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7917679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_style3">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2"/>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755499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3">
    <p:spTree>
      <p:nvGrpSpPr>
        <p:cNvPr id="1" name=""/>
        <p:cNvGrpSpPr/>
        <p:nvPr/>
      </p:nvGrpSpPr>
      <p:grpSpPr>
        <a:xfrm>
          <a:off x="0" y="0"/>
          <a:ext cx="0" cy="0"/>
          <a:chOff x="0" y="0"/>
          <a:chExt cx="0" cy="0"/>
        </a:xfrm>
      </p:grpSpPr>
      <p:pic>
        <p:nvPicPr>
          <p:cNvPr id="13" name="Picture 12" descr="A group of people sitting in a room&#10;&#10;Description automatically generated">
            <a:extLst>
              <a:ext uri="{FF2B5EF4-FFF2-40B4-BE49-F238E27FC236}">
                <a16:creationId xmlns:a16="http://schemas.microsoft.com/office/drawing/2014/main" id="{28BDE54C-00E9-5879-B7AA-CBAEB4B20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833715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7394206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3">
    <p:spTree>
      <p:nvGrpSpPr>
        <p:cNvPr id="1" name=""/>
        <p:cNvGrpSpPr/>
        <p:nvPr/>
      </p:nvGrpSpPr>
      <p:grpSpPr>
        <a:xfrm>
          <a:off x="0" y="0"/>
          <a:ext cx="0" cy="0"/>
          <a:chOff x="0" y="0"/>
          <a:chExt cx="0" cy="0"/>
        </a:xfrm>
      </p:grpSpPr>
      <p:pic>
        <p:nvPicPr>
          <p:cNvPr id="9" name="Picture 8" descr="A building with a curved roof&#10;&#10;Description automatically generated">
            <a:extLst>
              <a:ext uri="{FF2B5EF4-FFF2-40B4-BE49-F238E27FC236}">
                <a16:creationId xmlns:a16="http://schemas.microsoft.com/office/drawing/2014/main" id="{7C32C17A-0B3D-3605-0770-718372FF11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01253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32562100"/>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3">
    <p:spTree>
      <p:nvGrpSpPr>
        <p:cNvPr id="1" name=""/>
        <p:cNvGrpSpPr/>
        <p:nvPr/>
      </p:nvGrpSpPr>
      <p:grpSpPr>
        <a:xfrm>
          <a:off x="0" y="0"/>
          <a:ext cx="0" cy="0"/>
          <a:chOff x="0" y="0"/>
          <a:chExt cx="0" cy="0"/>
        </a:xfrm>
      </p:grpSpPr>
      <p:pic>
        <p:nvPicPr>
          <p:cNvPr id="9" name="Picture 8" descr="A person using a device to connect wires&#10;&#10;Description automatically generated">
            <a:extLst>
              <a:ext uri="{FF2B5EF4-FFF2-40B4-BE49-F238E27FC236}">
                <a16:creationId xmlns:a16="http://schemas.microsoft.com/office/drawing/2014/main" id="{C1287946-82AF-7FA8-19A7-7FCE04906E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4238323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072104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_style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BC1A7"/>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5156874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4">
    <p:spTree>
      <p:nvGrpSpPr>
        <p:cNvPr id="1" name=""/>
        <p:cNvGrpSpPr/>
        <p:nvPr/>
      </p:nvGrpSpPr>
      <p:grpSpPr>
        <a:xfrm>
          <a:off x="0" y="0"/>
          <a:ext cx="0" cy="0"/>
          <a:chOff x="0" y="0"/>
          <a:chExt cx="0" cy="0"/>
        </a:xfrm>
      </p:grpSpPr>
      <p:pic>
        <p:nvPicPr>
          <p:cNvPr id="4" name="Picture 3" descr="A group of people walking in a park&#10;&#10;Description automatically generated">
            <a:extLst>
              <a:ext uri="{FF2B5EF4-FFF2-40B4-BE49-F238E27FC236}">
                <a16:creationId xmlns:a16="http://schemas.microsoft.com/office/drawing/2014/main" id="{09DD1383-E7A4-AA64-8DE9-6E004E157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077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6669143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4">
    <p:spTree>
      <p:nvGrpSpPr>
        <p:cNvPr id="1" name=""/>
        <p:cNvGrpSpPr/>
        <p:nvPr/>
      </p:nvGrpSpPr>
      <p:grpSpPr>
        <a:xfrm>
          <a:off x="0" y="0"/>
          <a:ext cx="0" cy="0"/>
          <a:chOff x="0" y="0"/>
          <a:chExt cx="0" cy="0"/>
        </a:xfrm>
      </p:grpSpPr>
      <p:pic>
        <p:nvPicPr>
          <p:cNvPr id="4" name="Picture 3" descr="A building under construction with trees&#10;&#10;Description automatically generated">
            <a:extLst>
              <a:ext uri="{FF2B5EF4-FFF2-40B4-BE49-F238E27FC236}">
                <a16:creationId xmlns:a16="http://schemas.microsoft.com/office/drawing/2014/main" id="{51F6BE47-7A2B-FB6B-ED40-B51129631D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55124"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19196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4">
    <p:spTree>
      <p:nvGrpSpPr>
        <p:cNvPr id="1" name=""/>
        <p:cNvGrpSpPr/>
        <p:nvPr/>
      </p:nvGrpSpPr>
      <p:grpSpPr>
        <a:xfrm>
          <a:off x="0" y="0"/>
          <a:ext cx="0" cy="0"/>
          <a:chOff x="0" y="0"/>
          <a:chExt cx="0" cy="0"/>
        </a:xfrm>
      </p:grpSpPr>
      <p:pic>
        <p:nvPicPr>
          <p:cNvPr id="11" name="Picture 10" descr="A person holding a piece of wood&#10;&#10;Description automatically generated">
            <a:extLst>
              <a:ext uri="{FF2B5EF4-FFF2-40B4-BE49-F238E27FC236}">
                <a16:creationId xmlns:a16="http://schemas.microsoft.com/office/drawing/2014/main" id="{94024269-2550-85C4-BE45-B706209E4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68792978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2"/>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8872314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style5">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2C421D"/>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07732104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5">
    <p:spTree>
      <p:nvGrpSpPr>
        <p:cNvPr id="1" name=""/>
        <p:cNvGrpSpPr/>
        <p:nvPr/>
      </p:nvGrpSpPr>
      <p:grpSpPr>
        <a:xfrm>
          <a:off x="0" y="0"/>
          <a:ext cx="0" cy="0"/>
          <a:chOff x="0" y="0"/>
          <a:chExt cx="0" cy="0"/>
        </a:xfrm>
      </p:grpSpPr>
      <p:pic>
        <p:nvPicPr>
          <p:cNvPr id="11" name="Picture 10" descr="People walking in a park&#10;&#10;Description automatically generated">
            <a:extLst>
              <a:ext uri="{FF2B5EF4-FFF2-40B4-BE49-F238E27FC236}">
                <a16:creationId xmlns:a16="http://schemas.microsoft.com/office/drawing/2014/main" id="{8FBDA43B-799F-3262-242C-5B80658B7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458123"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926217321"/>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5">
    <p:spTree>
      <p:nvGrpSpPr>
        <p:cNvPr id="1" name=""/>
        <p:cNvGrpSpPr/>
        <p:nvPr/>
      </p:nvGrpSpPr>
      <p:grpSpPr>
        <a:xfrm>
          <a:off x="0" y="0"/>
          <a:ext cx="0" cy="0"/>
          <a:chOff x="0" y="0"/>
          <a:chExt cx="0" cy="0"/>
        </a:xfrm>
      </p:grpSpPr>
      <p:pic>
        <p:nvPicPr>
          <p:cNvPr id="8" name="Picture 7" descr="People walking past a building with ivy on the side&#10;&#10;Description automatically generated">
            <a:extLst>
              <a:ext uri="{FF2B5EF4-FFF2-40B4-BE49-F238E27FC236}">
                <a16:creationId xmlns:a16="http://schemas.microsoft.com/office/drawing/2014/main" id="{DCDBF601-CDA9-69BA-756C-E76F557DD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3495"/>
            <a:ext cx="8937748" cy="6120000"/>
          </a:xfrm>
          <a:prstGeom prst="rect">
            <a:avLst/>
          </a:prstGeom>
        </p:spPr>
      </p:pic>
      <p:sp>
        <p:nvSpPr>
          <p:cNvPr id="3" name="Picture Placeholder 7">
            <a:extLst>
              <a:ext uri="{FF2B5EF4-FFF2-40B4-BE49-F238E27FC236}">
                <a16:creationId xmlns:a16="http://schemas.microsoft.com/office/drawing/2014/main" id="{F974493F-F173-1F00-92AD-843885FB6183}"/>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52386867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5">
    <p:spTree>
      <p:nvGrpSpPr>
        <p:cNvPr id="1" name=""/>
        <p:cNvGrpSpPr/>
        <p:nvPr/>
      </p:nvGrpSpPr>
      <p:grpSpPr>
        <a:xfrm>
          <a:off x="0" y="0"/>
          <a:ext cx="0" cy="0"/>
          <a:chOff x="0" y="0"/>
          <a:chExt cx="0" cy="0"/>
        </a:xfrm>
      </p:grpSpPr>
      <p:pic>
        <p:nvPicPr>
          <p:cNvPr id="4" name="Picture 3" descr="Close-up of hands cutting a plant&#10;&#10;Description automatically generated">
            <a:extLst>
              <a:ext uri="{FF2B5EF4-FFF2-40B4-BE49-F238E27FC236}">
                <a16:creationId xmlns:a16="http://schemas.microsoft.com/office/drawing/2014/main" id="{C8DC821B-C317-1417-9462-5276076292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3496"/>
            <a:ext cx="91162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8410877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28881827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style6">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8235095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6">
    <p:spTree>
      <p:nvGrpSpPr>
        <p:cNvPr id="1" name=""/>
        <p:cNvGrpSpPr/>
        <p:nvPr/>
      </p:nvGrpSpPr>
      <p:grpSpPr>
        <a:xfrm>
          <a:off x="0" y="0"/>
          <a:ext cx="0" cy="0"/>
          <a:chOff x="0" y="0"/>
          <a:chExt cx="0" cy="0"/>
        </a:xfrm>
      </p:grpSpPr>
      <p:pic>
        <p:nvPicPr>
          <p:cNvPr id="11" name="Picture 10" descr="A building with a large building and a green field&#10;&#10;Description automatically generated with medium confidence">
            <a:extLst>
              <a:ext uri="{FF2B5EF4-FFF2-40B4-BE49-F238E27FC236}">
                <a16:creationId xmlns:a16="http://schemas.microsoft.com/office/drawing/2014/main" id="{77EEB241-B6FD-9EE4-0BB0-B7F11F8418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7446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30538654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6">
    <p:spTree>
      <p:nvGrpSpPr>
        <p:cNvPr id="1" name=""/>
        <p:cNvGrpSpPr/>
        <p:nvPr/>
      </p:nvGrpSpPr>
      <p:grpSpPr>
        <a:xfrm>
          <a:off x="0" y="0"/>
          <a:ext cx="0" cy="0"/>
          <a:chOff x="0" y="0"/>
          <a:chExt cx="0" cy="0"/>
        </a:xfrm>
      </p:grpSpPr>
      <p:pic>
        <p:nvPicPr>
          <p:cNvPr id="9" name="Picture 8" descr="A pencil and a piece of wood&#10;&#10;Description automatically generated">
            <a:extLst>
              <a:ext uri="{FF2B5EF4-FFF2-40B4-BE49-F238E27FC236}">
                <a16:creationId xmlns:a16="http://schemas.microsoft.com/office/drawing/2014/main" id="{65E1F172-EAEE-9E3C-B801-E4B9030BEE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744" b="4383"/>
          <a:stretch/>
        </p:blipFill>
        <p:spPr>
          <a:xfrm>
            <a:off x="345599" y="342000"/>
            <a:ext cx="809066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288317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6">
    <p:spTree>
      <p:nvGrpSpPr>
        <p:cNvPr id="1" name=""/>
        <p:cNvGrpSpPr/>
        <p:nvPr/>
      </p:nvGrpSpPr>
      <p:grpSpPr>
        <a:xfrm>
          <a:off x="0" y="0"/>
          <a:ext cx="0" cy="0"/>
          <a:chOff x="0" y="0"/>
          <a:chExt cx="0" cy="0"/>
        </a:xfrm>
      </p:grpSpPr>
      <p:pic>
        <p:nvPicPr>
          <p:cNvPr id="11" name="Picture 10" descr="A close-up of a person holding a pair of hands&#10;&#10;Description automatically generated">
            <a:extLst>
              <a:ext uri="{FF2B5EF4-FFF2-40B4-BE49-F238E27FC236}">
                <a16:creationId xmlns:a16="http://schemas.microsoft.com/office/drawing/2014/main" id="{BE621E20-3B1D-7A47-09A7-7ADB27759E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9245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90000"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57575195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221081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ver_style7">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73234B"/>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EB7B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818045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7">
    <p:spTree>
      <p:nvGrpSpPr>
        <p:cNvPr id="1" name=""/>
        <p:cNvGrpSpPr/>
        <p:nvPr/>
      </p:nvGrpSpPr>
      <p:grpSpPr>
        <a:xfrm>
          <a:off x="0" y="0"/>
          <a:ext cx="0" cy="0"/>
          <a:chOff x="0" y="0"/>
          <a:chExt cx="0" cy="0"/>
        </a:xfrm>
      </p:grpSpPr>
      <p:pic>
        <p:nvPicPr>
          <p:cNvPr id="4" name="Picture 3" descr="A building with trees and grass&#10;&#10;Description automatically generated">
            <a:extLst>
              <a:ext uri="{FF2B5EF4-FFF2-40B4-BE49-F238E27FC236}">
                <a16:creationId xmlns:a16="http://schemas.microsoft.com/office/drawing/2014/main" id="{DBF2D86A-A44D-CDAE-9665-F4BFF676E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6448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2903895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7">
    <p:spTree>
      <p:nvGrpSpPr>
        <p:cNvPr id="1" name=""/>
        <p:cNvGrpSpPr/>
        <p:nvPr/>
      </p:nvGrpSpPr>
      <p:grpSpPr>
        <a:xfrm>
          <a:off x="0" y="0"/>
          <a:ext cx="0" cy="0"/>
          <a:chOff x="0" y="0"/>
          <a:chExt cx="0" cy="0"/>
        </a:xfrm>
      </p:grpSpPr>
      <p:pic>
        <p:nvPicPr>
          <p:cNvPr id="4" name="Picture 3" descr="A multi-story building with colorful balconies&#10;&#10;Description automatically generated">
            <a:extLst>
              <a:ext uri="{FF2B5EF4-FFF2-40B4-BE49-F238E27FC236}">
                <a16:creationId xmlns:a16="http://schemas.microsoft.com/office/drawing/2014/main" id="{90EADEC2-C4A9-6F30-E874-B83B9B07C3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9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7114837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7">
    <p:spTree>
      <p:nvGrpSpPr>
        <p:cNvPr id="1" name=""/>
        <p:cNvGrpSpPr/>
        <p:nvPr/>
      </p:nvGrpSpPr>
      <p:grpSpPr>
        <a:xfrm>
          <a:off x="0" y="0"/>
          <a:ext cx="0" cy="0"/>
          <a:chOff x="0" y="0"/>
          <a:chExt cx="0" cy="0"/>
        </a:xfrm>
      </p:grpSpPr>
      <p:pic>
        <p:nvPicPr>
          <p:cNvPr id="4" name="Picture 3" descr="A person holding a file&#10;&#10;Description automatically generated">
            <a:extLst>
              <a:ext uri="{FF2B5EF4-FFF2-40B4-BE49-F238E27FC236}">
                <a16:creationId xmlns:a16="http://schemas.microsoft.com/office/drawing/2014/main" id="{F3379736-BE03-EE69-3641-E7C70EC45D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634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86450669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9241163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style8">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1"/>
          </a:solidFill>
        </p:spPr>
        <p:txBody>
          <a:bodyPr lIns="180000" tIns="144000" rIns="144000" bIns="144000"/>
          <a:lstStyle>
            <a:lvl1pPr marL="0">
              <a:lnSpc>
                <a:spcPts val="1400"/>
              </a:lnSpc>
              <a:spcAft>
                <a:spcPts val="0"/>
              </a:spcAft>
              <a:buFontTx/>
              <a:buNone/>
              <a:defRPr sz="1200" b="1">
                <a:solidFill>
                  <a:schemeClr val="bg1"/>
                </a:solidFill>
              </a:defRPr>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dirty="0"/>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4001545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8">
    <p:spTree>
      <p:nvGrpSpPr>
        <p:cNvPr id="1" name=""/>
        <p:cNvGrpSpPr/>
        <p:nvPr/>
      </p:nvGrpSpPr>
      <p:grpSpPr>
        <a:xfrm>
          <a:off x="0" y="0"/>
          <a:ext cx="0" cy="0"/>
          <a:chOff x="0" y="0"/>
          <a:chExt cx="0" cy="0"/>
        </a:xfrm>
      </p:grpSpPr>
      <p:pic>
        <p:nvPicPr>
          <p:cNvPr id="4" name="Picture 3" descr="A person walking past a building&#10;&#10;Description automatically generated">
            <a:extLst>
              <a:ext uri="{FF2B5EF4-FFF2-40B4-BE49-F238E27FC236}">
                <a16:creationId xmlns:a16="http://schemas.microsoft.com/office/drawing/2014/main" id="{D5753130-04CA-4F8F-7BD2-B29CCF71AB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535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81076727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8">
    <p:spTree>
      <p:nvGrpSpPr>
        <p:cNvPr id="1" name=""/>
        <p:cNvGrpSpPr/>
        <p:nvPr/>
      </p:nvGrpSpPr>
      <p:grpSpPr>
        <a:xfrm>
          <a:off x="0" y="0"/>
          <a:ext cx="0" cy="0"/>
          <a:chOff x="0" y="0"/>
          <a:chExt cx="0" cy="0"/>
        </a:xfrm>
      </p:grpSpPr>
      <p:pic>
        <p:nvPicPr>
          <p:cNvPr id="9" name="Picture 8" descr="A sculpture outside of a building&#10;&#10;Description automatically generated">
            <a:extLst>
              <a:ext uri="{FF2B5EF4-FFF2-40B4-BE49-F238E27FC236}">
                <a16:creationId xmlns:a16="http://schemas.microsoft.com/office/drawing/2014/main" id="{5BC26AC2-AAA3-E94F-770E-788A91004B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30393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94246968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8">
    <p:spTree>
      <p:nvGrpSpPr>
        <p:cNvPr id="1" name=""/>
        <p:cNvGrpSpPr/>
        <p:nvPr/>
      </p:nvGrpSpPr>
      <p:grpSpPr>
        <a:xfrm>
          <a:off x="0" y="0"/>
          <a:ext cx="0" cy="0"/>
          <a:chOff x="0" y="0"/>
          <a:chExt cx="0" cy="0"/>
        </a:xfrm>
      </p:grpSpPr>
      <p:pic>
        <p:nvPicPr>
          <p:cNvPr id="4" name="Picture 3" descr="A person cleaning a surface&#10;&#10;Description automatically generated">
            <a:extLst>
              <a:ext uri="{FF2B5EF4-FFF2-40B4-BE49-F238E27FC236}">
                <a16:creationId xmlns:a16="http://schemas.microsoft.com/office/drawing/2014/main" id="{F496D6BF-DBBA-5AEF-EF97-08D170EF1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023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7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dirty="0"/>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105645031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US"/>
              <a:t>Click to edit Master title style</a:t>
            </a:r>
            <a:endParaRPr lang="en-AU" dirty="0"/>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331455433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5FD65-719B-D18F-F8E8-E39C71BCBD2F}"/>
              </a:ext>
            </a:extLst>
          </p:cNvPr>
          <p:cNvSpPr>
            <a:spLocks noGrp="1"/>
          </p:cNvSpPr>
          <p:nvPr>
            <p:ph type="title"/>
          </p:nvPr>
        </p:nvSpPr>
        <p:spPr/>
        <p:txBody>
          <a:bodyPr/>
          <a:lstStyle/>
          <a:p>
            <a:r>
              <a:rPr lang="en-US"/>
              <a:t>Click to edit Master title style</a:t>
            </a:r>
            <a:endParaRPr lang="en-AU"/>
          </a:p>
        </p:txBody>
      </p:sp>
      <p:sp>
        <p:nvSpPr>
          <p:cNvPr id="2" name="Footer Placeholder 1">
            <a:extLst>
              <a:ext uri="{FF2B5EF4-FFF2-40B4-BE49-F238E27FC236}">
                <a16:creationId xmlns:a16="http://schemas.microsoft.com/office/drawing/2014/main" id="{AEAC15A5-6D74-A5DE-3613-65783B641150}"/>
              </a:ext>
            </a:extLst>
          </p:cNvPr>
          <p:cNvSpPr>
            <a:spLocks noGrp="1"/>
          </p:cNvSpPr>
          <p:nvPr>
            <p:ph type="ftr" sz="quarter" idx="13"/>
          </p:nvPr>
        </p:nvSpPr>
        <p:spPr/>
        <p:txBody>
          <a:bodyPr/>
          <a:lstStyle/>
          <a:p>
            <a:r>
              <a:rPr lang="en-AU"/>
              <a:t>[Insert Identifier] | [Insert Report Title]</a:t>
            </a:r>
            <a:endParaRPr lang="en-AU" dirty="0"/>
          </a:p>
        </p:txBody>
      </p:sp>
      <p:sp>
        <p:nvSpPr>
          <p:cNvPr id="4" name="Slide Number Placeholder 3">
            <a:extLst>
              <a:ext uri="{FF2B5EF4-FFF2-40B4-BE49-F238E27FC236}">
                <a16:creationId xmlns:a16="http://schemas.microsoft.com/office/drawing/2014/main" id="{435F3ED5-6AAA-3BC2-D5BA-F3F1F1F148E4}"/>
              </a:ext>
            </a:extLst>
          </p:cNvPr>
          <p:cNvSpPr>
            <a:spLocks noGrp="1"/>
          </p:cNvSpPr>
          <p:nvPr>
            <p:ph type="sldNum" sz="quarter" idx="14"/>
          </p:nvPr>
        </p:nvSpPr>
        <p:spPr/>
        <p:txBody>
          <a:bodyPr/>
          <a:lstStyle/>
          <a:p>
            <a:r>
              <a:rPr lang="en-AU"/>
              <a:t>Page [</a:t>
            </a:r>
            <a:fld id="{29D5CE74-914C-4689-99FC-1AEF49CE2B47}" type="slidenum">
              <a:rPr smtClean="0"/>
              <a:pPr/>
              <a:t>‹#›</a:t>
            </a:fld>
            <a:r>
              <a:t>]</a:t>
            </a:r>
            <a:endParaRPr lang="en-AU" dirty="0"/>
          </a:p>
        </p:txBody>
      </p:sp>
    </p:spTree>
    <p:extLst>
      <p:ext uri="{BB962C8B-B14F-4D97-AF65-F5344CB8AC3E}">
        <p14:creationId xmlns:p14="http://schemas.microsoft.com/office/powerpoint/2010/main" val="5465479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67260" y="6437192"/>
            <a:ext cx="1579139" cy="216000"/>
          </a:xfrm>
          <a:prstGeom prst="rect">
            <a:avLst/>
          </a:prstGeom>
        </p:spPr>
        <p:txBody>
          <a:bodyPr vert="horz" lIns="0" tIns="0" rIns="0" bIns="0" rtlCol="0" anchor="ctr"/>
          <a:lstStyle>
            <a:lvl1pPr algn="r">
              <a:lnSpc>
                <a:spcPts val="1200"/>
              </a:lnSpc>
              <a:defRPr lang="en-AU" sz="1000" b="1" smtClean="0">
                <a:solidFill>
                  <a:schemeClr val="bg2"/>
                </a:solidFill>
                <a:latin typeface="+mn-lt"/>
                <a:cs typeface="Arial" pitchFamily="34" charset="0"/>
              </a:defRPr>
            </a:lvl1pPr>
          </a:lstStyle>
          <a:p>
            <a:r>
              <a:rPr lang="en-AU" dirty="0"/>
              <a:t>Page [</a:t>
            </a:r>
            <a:fld id="{29D5CE74-914C-4689-99FC-1AEF49CE2B47}" type="slidenum">
              <a:rPr smtClean="0"/>
              <a:pPr/>
              <a:t>‹#›</a:t>
            </a:fld>
            <a:r>
              <a:rPr dirty="0"/>
              <a:t>]</a:t>
            </a:r>
            <a:endParaRPr lang="en-AU" dirty="0"/>
          </a:p>
        </p:txBody>
      </p:sp>
      <p:sp>
        <p:nvSpPr>
          <p:cNvPr id="4" name="Footer Placeholder 3">
            <a:extLst>
              <a:ext uri="{FF2B5EF4-FFF2-40B4-BE49-F238E27FC236}">
                <a16:creationId xmlns:a16="http://schemas.microsoft.com/office/drawing/2014/main" id="{D379F384-E22A-4C04-2D3F-76823C04012A}"/>
              </a:ext>
            </a:extLst>
          </p:cNvPr>
          <p:cNvSpPr>
            <a:spLocks noGrp="1"/>
          </p:cNvSpPr>
          <p:nvPr>
            <p:ph type="ftr" sz="quarter" idx="3"/>
          </p:nvPr>
        </p:nvSpPr>
        <p:spPr>
          <a:xfrm>
            <a:off x="345600" y="6437192"/>
            <a:ext cx="4114800" cy="216000"/>
          </a:xfrm>
          <a:prstGeom prst="rect">
            <a:avLst/>
          </a:prstGeom>
        </p:spPr>
        <p:txBody>
          <a:bodyPr vert="horz" lIns="0" tIns="0" rIns="0" bIns="0" rtlCol="0" anchor="ctr"/>
          <a:lstStyle>
            <a:lvl1pPr algn="l">
              <a:lnSpc>
                <a:spcPts val="1200"/>
              </a:lnSpc>
              <a:defRPr sz="1000" b="1">
                <a:solidFill>
                  <a:schemeClr val="bg2"/>
                </a:solidFill>
              </a:defRPr>
            </a:lvl1pPr>
          </a:lstStyle>
          <a:p>
            <a:r>
              <a:rPr lang="en-AU" dirty="0"/>
              <a:t>[Insert Identifier] | [Insert Report Title]</a:t>
            </a:r>
          </a:p>
        </p:txBody>
      </p:sp>
      <p:sp>
        <p:nvSpPr>
          <p:cNvPr id="3" name="Text Placeholder 2"/>
          <p:cNvSpPr>
            <a:spLocks noGrp="1"/>
          </p:cNvSpPr>
          <p:nvPr>
            <p:ph type="body" idx="1"/>
          </p:nvPr>
        </p:nvSpPr>
        <p:spPr>
          <a:xfrm>
            <a:off x="345600" y="1870255"/>
            <a:ext cx="11501912" cy="4273200"/>
          </a:xfrm>
          <a:prstGeom prst="rect">
            <a:avLst/>
          </a:prstGeom>
        </p:spPr>
        <p:txBody>
          <a:bodyPr vert="horz" lIns="0" tIns="0" rIns="0" bIns="0" rtlCol="0">
            <a:noAutofit/>
          </a:bodyPr>
          <a:lstStyle/>
          <a:p>
            <a:pPr lvl="0"/>
            <a:r>
              <a:rPr lang="en-AU" noProof="0" dirty="0"/>
              <a:t>Use the increase/decrease list level buttons to change styles</a:t>
            </a:r>
          </a:p>
          <a:p>
            <a:pPr lvl="1"/>
            <a:r>
              <a:rPr lang="en-AU" noProof="0" dirty="0"/>
              <a:t>Second level</a:t>
            </a:r>
          </a:p>
          <a:p>
            <a:pPr lvl="2"/>
            <a:r>
              <a:rPr lang="en-AU" noProof="0" dirty="0"/>
              <a:t>Third level</a:t>
            </a:r>
          </a:p>
          <a:p>
            <a:pPr lvl="3"/>
            <a:r>
              <a:rPr lang="en-AU" noProof="0" dirty="0"/>
              <a:t>Fourth level</a:t>
            </a:r>
          </a:p>
          <a:p>
            <a:pPr lvl="4"/>
            <a:r>
              <a:rPr lang="en-AU" noProof="0" dirty="0"/>
              <a:t>Fifth level</a:t>
            </a:r>
          </a:p>
          <a:p>
            <a:pPr lvl="5"/>
            <a:r>
              <a:rPr lang="en-AU" noProof="0" dirty="0"/>
              <a:t>Sixth level</a:t>
            </a:r>
          </a:p>
          <a:p>
            <a:pPr lvl="6"/>
            <a:r>
              <a:rPr lang="en-AU" noProof="0" dirty="0"/>
              <a:t>Seventh level</a:t>
            </a:r>
          </a:p>
          <a:p>
            <a:pPr lvl="7"/>
            <a:r>
              <a:rPr lang="en-AU" noProof="0" dirty="0"/>
              <a:t>Eighth level</a:t>
            </a:r>
          </a:p>
          <a:p>
            <a:pPr lvl="8"/>
            <a:r>
              <a:rPr lang="en-AU" noProof="0" dirty="0"/>
              <a:t>Ninth level</a:t>
            </a:r>
          </a:p>
        </p:txBody>
      </p:sp>
      <p:pic>
        <p:nvPicPr>
          <p:cNvPr id="8" name="Picture Placeholder 10" descr="Logo&#10;&#10;Description automatically generated">
            <a:extLst>
              <a:ext uri="{FF2B5EF4-FFF2-40B4-BE49-F238E27FC236}">
                <a16:creationId xmlns:a16="http://schemas.microsoft.com/office/drawing/2014/main" id="{186FA8D1-9047-12AF-8731-019C3A7101D9}"/>
              </a:ext>
            </a:extLst>
          </p:cNvPr>
          <p:cNvPicPr>
            <a:picLocks noChangeAspect="1"/>
          </p:cNvPicPr>
          <p:nvPr userDrawn="1"/>
        </p:nvPicPr>
        <p:blipFill rotWithShape="1">
          <a:blip r:embed="rId6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
        <p:nvSpPr>
          <p:cNvPr id="2" name="Title Placeholder 1"/>
          <p:cNvSpPr>
            <a:spLocks noGrp="1"/>
          </p:cNvSpPr>
          <p:nvPr>
            <p:ph type="title"/>
          </p:nvPr>
        </p:nvSpPr>
        <p:spPr>
          <a:xfrm>
            <a:off x="345600" y="342000"/>
            <a:ext cx="9695205" cy="531544"/>
          </a:xfrm>
          <a:prstGeom prst="rect">
            <a:avLst/>
          </a:prstGeom>
        </p:spPr>
        <p:txBody>
          <a:bodyPr vert="horz" lIns="0" tIns="0" rIns="0" bIns="0" rtlCol="0" anchor="t">
            <a:noAutofit/>
          </a:bodyPr>
          <a:lstStyle/>
          <a:p>
            <a:r>
              <a:rPr lang="en-US" noProof="0"/>
              <a:t>Click to edit Master title style</a:t>
            </a:r>
            <a:endParaRPr lang="en-AU" noProof="0" dirty="0"/>
          </a:p>
        </p:txBody>
      </p:sp>
    </p:spTree>
    <p:extLst>
      <p:ext uri="{BB962C8B-B14F-4D97-AF65-F5344CB8AC3E}">
        <p14:creationId xmlns:p14="http://schemas.microsoft.com/office/powerpoint/2010/main" val="20634540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4" r:id="rId4"/>
    <p:sldLayoutId id="2147483726" r:id="rId5"/>
    <p:sldLayoutId id="2147483727" r:id="rId6"/>
    <p:sldLayoutId id="2147483728" r:id="rId7"/>
    <p:sldLayoutId id="2147483729" r:id="rId8"/>
    <p:sldLayoutId id="2147483730" r:id="rId9"/>
    <p:sldLayoutId id="2147483731" r:id="rId10"/>
    <p:sldLayoutId id="2147483682" r:id="rId11"/>
    <p:sldLayoutId id="2147483732" r:id="rId12"/>
    <p:sldLayoutId id="2147483733" r:id="rId13"/>
    <p:sldLayoutId id="2147483718" r:id="rId14"/>
    <p:sldLayoutId id="2147483719" r:id="rId15"/>
    <p:sldLayoutId id="2147483721" r:id="rId16"/>
    <p:sldLayoutId id="2147483673" r:id="rId17"/>
    <p:sldLayoutId id="2147483659" r:id="rId18"/>
    <p:sldLayoutId id="2147483720" r:id="rId19"/>
    <p:sldLayoutId id="2147483664" r:id="rId20"/>
    <p:sldLayoutId id="2147483710" r:id="rId21"/>
    <p:sldLayoutId id="2147483711" r:id="rId22"/>
    <p:sldLayoutId id="2147483734" r:id="rId23"/>
    <p:sldLayoutId id="2147483655" r:id="rId24"/>
    <p:sldLayoutId id="2147483742" r:id="rId25"/>
    <p:sldLayoutId id="2147483736" r:id="rId26"/>
    <p:sldLayoutId id="2147483738" r:id="rId27"/>
    <p:sldLayoutId id="2147483739" r:id="rId28"/>
    <p:sldLayoutId id="2147483740"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654" r:id="rId60"/>
  </p:sldLayoutIdLst>
  <p:hf hdr="0" dt="0"/>
  <p:txStyles>
    <p:title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p:titleStyle>
    <p:body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p:bodyStyle>
    <p:otherStyle>
      <a:defPPr>
        <a:defRPr lang="en-US"/>
      </a:defPPr>
      <a:lvl1pPr marL="0" algn="l" defTabSz="1218804" rtl="0" eaLnBrk="1" latinLnBrk="0" hangingPunct="1">
        <a:defRPr sz="1200" kern="1200">
          <a:solidFill>
            <a:schemeClr val="tx1"/>
          </a:solidFill>
          <a:latin typeface="+mn-lt"/>
          <a:ea typeface="+mn-ea"/>
          <a:cs typeface="+mn-cs"/>
        </a:defRPr>
      </a:lvl1pPr>
      <a:lvl2pPr marL="609402" algn="l" defTabSz="1218804" rtl="0" eaLnBrk="1" latinLnBrk="0" hangingPunct="1">
        <a:defRPr sz="1200" kern="1200">
          <a:solidFill>
            <a:schemeClr val="tx1"/>
          </a:solidFill>
          <a:latin typeface="+mn-lt"/>
          <a:ea typeface="+mn-ea"/>
          <a:cs typeface="+mn-cs"/>
        </a:defRPr>
      </a:lvl2pPr>
      <a:lvl3pPr marL="1218804" algn="l" defTabSz="1218804" rtl="0" eaLnBrk="1" latinLnBrk="0" hangingPunct="1">
        <a:defRPr sz="1200" kern="1200">
          <a:solidFill>
            <a:schemeClr val="tx1"/>
          </a:solidFill>
          <a:latin typeface="+mn-lt"/>
          <a:ea typeface="+mn-ea"/>
          <a:cs typeface="+mn-cs"/>
        </a:defRPr>
      </a:lvl3pPr>
      <a:lvl4pPr marL="1828206" algn="l" defTabSz="1218804" rtl="0" eaLnBrk="1" latinLnBrk="0" hangingPunct="1">
        <a:defRPr sz="1200" kern="1200">
          <a:solidFill>
            <a:schemeClr val="tx1"/>
          </a:solidFill>
          <a:latin typeface="+mn-lt"/>
          <a:ea typeface="+mn-ea"/>
          <a:cs typeface="+mn-cs"/>
        </a:defRPr>
      </a:lvl4pPr>
      <a:lvl5pPr marL="2437608" algn="l" defTabSz="1218804" rtl="0" eaLnBrk="1" latinLnBrk="0" hangingPunct="1">
        <a:defRPr sz="1200" kern="1200">
          <a:solidFill>
            <a:schemeClr val="tx1"/>
          </a:solidFill>
          <a:latin typeface="+mn-lt"/>
          <a:ea typeface="+mn-ea"/>
          <a:cs typeface="+mn-cs"/>
        </a:defRPr>
      </a:lvl5pPr>
      <a:lvl6pPr marL="3047009" algn="l" defTabSz="1218804" rtl="0" eaLnBrk="1" latinLnBrk="0" hangingPunct="1">
        <a:defRPr sz="1200" kern="1200">
          <a:solidFill>
            <a:schemeClr val="tx1"/>
          </a:solidFill>
          <a:latin typeface="+mn-lt"/>
          <a:ea typeface="+mn-ea"/>
          <a:cs typeface="+mn-cs"/>
        </a:defRPr>
      </a:lvl6pPr>
      <a:lvl7pPr marL="3656411" algn="l" defTabSz="1218804" rtl="0" eaLnBrk="1" latinLnBrk="0" hangingPunct="1">
        <a:defRPr sz="1200" kern="1200">
          <a:solidFill>
            <a:schemeClr val="tx1"/>
          </a:solidFill>
          <a:latin typeface="+mn-lt"/>
          <a:ea typeface="+mn-ea"/>
          <a:cs typeface="+mn-cs"/>
        </a:defRPr>
      </a:lvl7pPr>
      <a:lvl8pPr marL="4265813" algn="l" defTabSz="1218804" rtl="0" eaLnBrk="1" latinLnBrk="0" hangingPunct="1">
        <a:defRPr sz="1200" kern="1200">
          <a:solidFill>
            <a:schemeClr val="tx1"/>
          </a:solidFill>
          <a:latin typeface="+mn-lt"/>
          <a:ea typeface="+mn-ea"/>
          <a:cs typeface="+mn-cs"/>
        </a:defRPr>
      </a:lvl8pPr>
      <a:lvl9pPr marL="4875215" algn="l" defTabSz="1218804"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2" userDrawn="1">
          <p15:clr>
            <a:srgbClr val="F26B43"/>
          </p15:clr>
        </p15:guide>
        <p15:guide id="2" pos="21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4.jp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7.jpeg"/><Relationship Id="rId4" Type="http://schemas.openxmlformats.org/officeDocument/2006/relationships/image" Target="../media/image36.ppm"/></Relationships>
</file>

<file path=ppt/slides/_rels/slide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319C9-5088-0D4D-07BB-014860B3693D}"/>
              </a:ext>
            </a:extLst>
          </p:cNvPr>
          <p:cNvSpPr>
            <a:spLocks noGrp="1"/>
          </p:cNvSpPr>
          <p:nvPr>
            <p:ph type="title"/>
          </p:nvPr>
        </p:nvSpPr>
        <p:spPr>
          <a:xfrm>
            <a:off x="345600" y="1916832"/>
            <a:ext cx="9206784" cy="2726013"/>
          </a:xfrm>
        </p:spPr>
        <p:txBody>
          <a:bodyPr/>
          <a:lstStyle/>
          <a:p>
            <a:r>
              <a:rPr lang="en-US" altLang="zh-CN" sz="4000" dirty="0"/>
              <a:t>Data Quality of Generative Images for Object Detection, Real vs Generated</a:t>
            </a:r>
            <a:endParaRPr lang="en-AU" sz="4000" dirty="0"/>
          </a:p>
        </p:txBody>
      </p:sp>
      <p:sp>
        <p:nvSpPr>
          <p:cNvPr id="5" name="Title 1">
            <a:extLst>
              <a:ext uri="{FF2B5EF4-FFF2-40B4-BE49-F238E27FC236}">
                <a16:creationId xmlns:a16="http://schemas.microsoft.com/office/drawing/2014/main" id="{2CFF9A49-10B0-47C1-8CC1-55BA14A84DEF}"/>
              </a:ext>
            </a:extLst>
          </p:cNvPr>
          <p:cNvSpPr txBox="1">
            <a:spLocks/>
          </p:cNvSpPr>
          <p:nvPr/>
        </p:nvSpPr>
        <p:spPr>
          <a:xfrm>
            <a:off x="345600" y="4221088"/>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AU" sz="2000" dirty="0"/>
              <a:t>Presenter: </a:t>
            </a:r>
            <a:r>
              <a:rPr lang="en-AU" sz="2000" dirty="0" err="1"/>
              <a:t>Jingcheng</a:t>
            </a:r>
            <a:r>
              <a:rPr lang="en-AU" sz="2000" dirty="0"/>
              <a:t> Qian</a:t>
            </a:r>
          </a:p>
        </p:txBody>
      </p:sp>
      <p:sp>
        <p:nvSpPr>
          <p:cNvPr id="2" name="Title 1">
            <a:extLst>
              <a:ext uri="{FF2B5EF4-FFF2-40B4-BE49-F238E27FC236}">
                <a16:creationId xmlns:a16="http://schemas.microsoft.com/office/drawing/2014/main" id="{6ACCA5D5-C6FC-4182-989A-31538AD0728F}"/>
              </a:ext>
            </a:extLst>
          </p:cNvPr>
          <p:cNvSpPr txBox="1">
            <a:spLocks/>
          </p:cNvSpPr>
          <p:nvPr/>
        </p:nvSpPr>
        <p:spPr>
          <a:xfrm>
            <a:off x="340734" y="469773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000" dirty="0"/>
              <a:t>Supervised by: Dr. </a:t>
            </a:r>
            <a:r>
              <a:rPr lang="en-US" altLang="zh-CN" sz="2000" dirty="0" err="1"/>
              <a:t>Mansooreh</a:t>
            </a:r>
            <a:r>
              <a:rPr lang="en-US" altLang="zh-CN" sz="2000" dirty="0"/>
              <a:t> Zahedi, Dr. Christoph </a:t>
            </a:r>
            <a:r>
              <a:rPr lang="en-US" altLang="zh-CN" sz="2000" dirty="0" err="1"/>
              <a:t>Treude</a:t>
            </a:r>
            <a:r>
              <a:rPr lang="en-US" altLang="zh-CN" sz="2000" dirty="0"/>
              <a:t>, Brian Du</a:t>
            </a:r>
            <a:endParaRPr lang="en-AU" sz="2000" dirty="0"/>
          </a:p>
        </p:txBody>
      </p:sp>
      <p:sp>
        <p:nvSpPr>
          <p:cNvPr id="3" name="Title 1">
            <a:extLst>
              <a:ext uri="{FF2B5EF4-FFF2-40B4-BE49-F238E27FC236}">
                <a16:creationId xmlns:a16="http://schemas.microsoft.com/office/drawing/2014/main" id="{BA9560F9-7334-E78C-E921-69EEC08901D3}"/>
              </a:ext>
            </a:extLst>
          </p:cNvPr>
          <p:cNvSpPr txBox="1">
            <a:spLocks/>
          </p:cNvSpPr>
          <p:nvPr/>
        </p:nvSpPr>
        <p:spPr>
          <a:xfrm>
            <a:off x="340735" y="517438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000" dirty="0"/>
              <a:t>In collaboration with Swordfish Computing</a:t>
            </a:r>
            <a:endParaRPr lang="en-AU" sz="2000" dirty="0"/>
          </a:p>
        </p:txBody>
      </p:sp>
    </p:spTree>
    <p:extLst>
      <p:ext uri="{BB962C8B-B14F-4D97-AF65-F5344CB8AC3E}">
        <p14:creationId xmlns:p14="http://schemas.microsoft.com/office/powerpoint/2010/main" val="336662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雨中行驶的车辆&#10;&#10;描述已自动生成">
            <a:extLst>
              <a:ext uri="{FF2B5EF4-FFF2-40B4-BE49-F238E27FC236}">
                <a16:creationId xmlns:a16="http://schemas.microsoft.com/office/drawing/2014/main" id="{E0AFEAD5-39BD-7DA4-E621-404C7D56FC45}"/>
              </a:ext>
            </a:extLst>
          </p:cNvPr>
          <p:cNvPicPr>
            <a:picLocks noChangeAspect="1"/>
          </p:cNvPicPr>
          <p:nvPr/>
        </p:nvPicPr>
        <p:blipFill>
          <a:blip r:embed="rId3" cstate="print">
            <a:extLst>
              <a:ext uri="{28A0092B-C50C-407E-A947-70E740481C1C}">
                <a14:useLocalDpi xmlns:a14="http://schemas.microsoft.com/office/drawing/2010/main" val="0"/>
              </a:ext>
            </a:extLst>
          </a:blip>
          <a:srcRect t="19071" b="20866"/>
          <a:stretch/>
        </p:blipFill>
        <p:spPr>
          <a:xfrm>
            <a:off x="337897" y="3130439"/>
            <a:ext cx="3739528" cy="2246080"/>
          </a:xfrm>
          <a:prstGeom prst="rect">
            <a:avLst/>
          </a:prstGeom>
        </p:spPr>
      </p:pic>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76228"/>
            <a:ext cx="9695205" cy="531544"/>
          </a:xfrm>
        </p:spPr>
        <p:txBody>
          <a:bodyPr/>
          <a:lstStyle/>
          <a:p>
            <a:r>
              <a:rPr lang="en-US" altLang="zh-CN" sz="2400" dirty="0"/>
              <a:t>Introduction</a:t>
            </a:r>
            <a:endParaRPr lang="en-AU" sz="240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Content Placeholder 2">
            <a:extLst>
              <a:ext uri="{FF2B5EF4-FFF2-40B4-BE49-F238E27FC236}">
                <a16:creationId xmlns:a16="http://schemas.microsoft.com/office/drawing/2014/main" id="{9A0F6328-09D9-47E5-941F-7B692B125195}"/>
              </a:ext>
            </a:extLst>
          </p:cNvPr>
          <p:cNvSpPr>
            <a:spLocks noGrp="1"/>
          </p:cNvSpPr>
          <p:nvPr>
            <p:ph sz="quarter" idx="14"/>
          </p:nvPr>
        </p:nvSpPr>
        <p:spPr>
          <a:xfrm>
            <a:off x="4943872" y="1248105"/>
            <a:ext cx="6768752" cy="3672408"/>
          </a:xfrm>
        </p:spPr>
        <p:txBody>
          <a:bodyPr/>
          <a:lstStyle/>
          <a:p>
            <a:r>
              <a:rPr lang="en-US" altLang="zh-CN" sz="1400" dirty="0"/>
              <a:t>Data Challenge</a:t>
            </a:r>
            <a:br>
              <a:rPr lang="en-US" altLang="zh-CN" sz="1400" b="0" dirty="0"/>
            </a:br>
            <a:r>
              <a:rPr lang="en-US" altLang="zh-CN" sz="1400" b="0" dirty="0"/>
              <a:t>→ Modern object detection relies on </a:t>
            </a:r>
            <a:r>
              <a:rPr lang="en-US" altLang="zh-CN" sz="1400" dirty="0"/>
              <a:t>large, labeled </a:t>
            </a:r>
            <a:r>
              <a:rPr lang="en-US" altLang="zh-CN" sz="1400" b="0" dirty="0"/>
              <a:t>datasets.</a:t>
            </a:r>
          </a:p>
          <a:p>
            <a:r>
              <a:rPr lang="en-US" altLang="zh-CN" sz="1400" b="0" dirty="0"/>
              <a:t>→ But collecting diverse real-world scenes is </a:t>
            </a:r>
            <a:r>
              <a:rPr lang="en-US" altLang="zh-CN" sz="1400" dirty="0"/>
              <a:t>costly, time-consuming</a:t>
            </a:r>
            <a:r>
              <a:rPr lang="en-US" altLang="zh-CN" sz="1400" b="0" dirty="0"/>
              <a:t>, and often </a:t>
            </a:r>
            <a:r>
              <a:rPr lang="en-US" altLang="zh-CN" sz="1400" dirty="0"/>
              <a:t>fails to cover rare or new cases</a:t>
            </a:r>
            <a:r>
              <a:rPr lang="en-US" altLang="zh-CN" sz="1400" b="0" dirty="0"/>
              <a:t>.</a:t>
            </a:r>
          </a:p>
          <a:p>
            <a:r>
              <a:rPr lang="en-US" altLang="zh-CN" sz="1400" dirty="0"/>
              <a:t>Generative AI Opportunity</a:t>
            </a:r>
          </a:p>
          <a:p>
            <a:r>
              <a:rPr lang="en-US" altLang="zh-CN" sz="1400" b="0" dirty="0"/>
              <a:t>→ Diffusion models can generate realistic and diverse synthetic scenes, enriching data when real samples are limited</a:t>
            </a:r>
            <a:r>
              <a:rPr lang="en-US" altLang="zh-CN" sz="1400" b="0" baseline="30000" dirty="0"/>
              <a:t>[1]</a:t>
            </a:r>
            <a:r>
              <a:rPr lang="en-US" altLang="zh-CN" sz="1400" b="0" dirty="0"/>
              <a:t>.</a:t>
            </a:r>
          </a:p>
          <a:p>
            <a:r>
              <a:rPr lang="en-US" altLang="zh-CN" sz="1400" b="0" dirty="0"/>
              <a:t>However, their quality and effectiveness for detection remain </a:t>
            </a:r>
            <a:r>
              <a:rPr lang="en-US" altLang="zh-CN" sz="1400" dirty="0"/>
              <a:t>uncertain</a:t>
            </a:r>
            <a:r>
              <a:rPr lang="en-US" altLang="zh-CN" sz="1400" b="0" dirty="0"/>
              <a:t>.</a:t>
            </a:r>
          </a:p>
          <a:p>
            <a:r>
              <a:rPr lang="en-US" altLang="zh-CN" sz="1400" dirty="0"/>
              <a:t>Research</a:t>
            </a:r>
            <a:r>
              <a:rPr lang="en-US" altLang="zh-CN" sz="1400" b="0" dirty="0"/>
              <a:t>: How AI-generated data improve accuracy and under what conditions.</a:t>
            </a:r>
          </a:p>
          <a:p>
            <a:pPr marL="238878" lvl="3" indent="0">
              <a:buNone/>
            </a:pPr>
            <a:endParaRPr lang="en-US" altLang="zh-CN" sz="2400" dirty="0"/>
          </a:p>
        </p:txBody>
      </p:sp>
      <p:pic>
        <p:nvPicPr>
          <p:cNvPr id="4" name="图片 3" descr="夜晚的景色&#10;&#10;描述已自动生成">
            <a:extLst>
              <a:ext uri="{FF2B5EF4-FFF2-40B4-BE49-F238E27FC236}">
                <a16:creationId xmlns:a16="http://schemas.microsoft.com/office/drawing/2014/main" id="{70CEBEE1-6283-E855-A232-B0D359C5376C}"/>
              </a:ext>
            </a:extLst>
          </p:cNvPr>
          <p:cNvPicPr>
            <a:picLocks noChangeAspect="1"/>
          </p:cNvPicPr>
          <p:nvPr/>
        </p:nvPicPr>
        <p:blipFill>
          <a:blip r:embed="rId4">
            <a:extLst>
              <a:ext uri="{28A0092B-C50C-407E-A947-70E740481C1C}">
                <a14:useLocalDpi xmlns:a14="http://schemas.microsoft.com/office/drawing/2010/main" val="0"/>
              </a:ext>
            </a:extLst>
          </a:blip>
          <a:srcRect l="19382" b="13123"/>
          <a:stretch/>
        </p:blipFill>
        <p:spPr>
          <a:xfrm>
            <a:off x="345600" y="790463"/>
            <a:ext cx="3731825" cy="2252105"/>
          </a:xfrm>
          <a:prstGeom prst="rect">
            <a:avLst/>
          </a:prstGeom>
        </p:spPr>
      </p:pic>
      <p:sp>
        <p:nvSpPr>
          <p:cNvPr id="7" name="矩形 6">
            <a:extLst>
              <a:ext uri="{FF2B5EF4-FFF2-40B4-BE49-F238E27FC236}">
                <a16:creationId xmlns:a16="http://schemas.microsoft.com/office/drawing/2014/main" id="{D438C0F6-D903-9DA2-BA1E-B618F04BC1A3}"/>
              </a:ext>
            </a:extLst>
          </p:cNvPr>
          <p:cNvSpPr/>
          <p:nvPr/>
        </p:nvSpPr>
        <p:spPr>
          <a:xfrm>
            <a:off x="3691252" y="6326378"/>
            <a:ext cx="6581212" cy="369332"/>
          </a:xfrm>
          <a:prstGeom prst="rect">
            <a:avLst/>
          </a:prstGeom>
        </p:spPr>
        <p:txBody>
          <a:bodyPr wrap="square">
            <a:spAutoFit/>
          </a:bodyPr>
          <a:lstStyle/>
          <a:p>
            <a:pPr lvl="2"/>
            <a:r>
              <a:rPr lang="en-US" altLang="zh-CN" sz="900" dirty="0"/>
              <a:t>[1] </a:t>
            </a:r>
            <a:r>
              <a:rPr lang="en-US" altLang="zh-CN" sz="900" dirty="0" err="1"/>
              <a:t>Dhariwal</a:t>
            </a:r>
            <a:r>
              <a:rPr lang="en-US" altLang="zh-CN" sz="900" dirty="0"/>
              <a:t> &amp; Nichol, </a:t>
            </a:r>
            <a:r>
              <a:rPr lang="en-US" altLang="zh-CN" sz="900" i="1" dirty="0"/>
              <a:t>Diffusion Models Beat GANs on Image Synthesis</a:t>
            </a:r>
            <a:r>
              <a:rPr lang="en-US" altLang="zh-CN" sz="900" dirty="0"/>
              <a:t>, NIPS 2021.</a:t>
            </a:r>
          </a:p>
          <a:p>
            <a:pPr lvl="2"/>
            <a:r>
              <a:rPr lang="en-US" altLang="zh-CN" sz="900" dirty="0"/>
              <a:t>[2] </a:t>
            </a:r>
            <a:r>
              <a:rPr lang="en-US" altLang="zh-CN" sz="900" dirty="0" err="1"/>
              <a:t>Rombach</a:t>
            </a:r>
            <a:r>
              <a:rPr lang="en-US" altLang="zh-CN" sz="900" dirty="0"/>
              <a:t>, R. </a:t>
            </a:r>
            <a:r>
              <a:rPr lang="en-US" altLang="zh-CN" sz="900" i="1" dirty="0"/>
              <a:t>et al.</a:t>
            </a:r>
            <a:r>
              <a:rPr lang="en-US" altLang="zh-CN" sz="900" dirty="0"/>
              <a:t>, </a:t>
            </a:r>
            <a:r>
              <a:rPr lang="en-US" altLang="zh-CN" sz="900" i="1" dirty="0"/>
              <a:t>High-Resolution Image Synthesis with Latent Diffusion Models</a:t>
            </a:r>
            <a:r>
              <a:rPr lang="en-US" altLang="zh-CN" sz="900" dirty="0"/>
              <a:t>, CVPR 2022.</a:t>
            </a:r>
            <a:endParaRPr lang="en-US" altLang="zh-CN" sz="900" dirty="0">
              <a:latin typeface="+mn-ea"/>
            </a:endParaRPr>
          </a:p>
        </p:txBody>
      </p:sp>
      <p:sp>
        <p:nvSpPr>
          <p:cNvPr id="6" name="矩形 5">
            <a:extLst>
              <a:ext uri="{FF2B5EF4-FFF2-40B4-BE49-F238E27FC236}">
                <a16:creationId xmlns:a16="http://schemas.microsoft.com/office/drawing/2014/main" id="{49DC3FEE-B6FA-78EB-7344-A4513B3BA7C9}"/>
              </a:ext>
            </a:extLst>
          </p:cNvPr>
          <p:cNvSpPr/>
          <p:nvPr/>
        </p:nvSpPr>
        <p:spPr>
          <a:xfrm>
            <a:off x="-1032792" y="5402834"/>
            <a:ext cx="5688631" cy="577081"/>
          </a:xfrm>
          <a:prstGeom prst="rect">
            <a:avLst/>
          </a:prstGeom>
        </p:spPr>
        <p:txBody>
          <a:bodyPr wrap="square">
            <a:spAutoFit/>
          </a:bodyPr>
          <a:lstStyle/>
          <a:p>
            <a:pPr lvl="2"/>
            <a:r>
              <a:rPr lang="en-US" altLang="zh-CN" sz="1050" dirty="0"/>
              <a:t>Figure 1: </a:t>
            </a:r>
            <a:r>
              <a:rPr lang="en-US" altLang="zh-CN" sz="1050" b="1" dirty="0"/>
              <a:t>Top:</a:t>
            </a:r>
            <a:r>
              <a:rPr lang="en-US" altLang="zh-CN" sz="1050" dirty="0"/>
              <a:t> Real scene — a car on wet road at dusk. </a:t>
            </a:r>
          </a:p>
          <a:p>
            <a:pPr lvl="2"/>
            <a:r>
              <a:rPr lang="en-US" altLang="zh-CN" sz="1050" b="1" dirty="0"/>
              <a:t>Bottom:</a:t>
            </a:r>
            <a:r>
              <a:rPr lang="en-US" altLang="zh-CN" sz="1050" dirty="0"/>
              <a:t> Generated scene — </a:t>
            </a:r>
            <a:r>
              <a:rPr lang="en-US" altLang="zh-CN" sz="1050" i="1" dirty="0"/>
              <a:t>“</a:t>
            </a:r>
            <a:r>
              <a:rPr lang="en-US" altLang="zh-CN" sz="1050" dirty="0"/>
              <a:t>a car on wet road at dusk</a:t>
            </a:r>
            <a:r>
              <a:rPr lang="en-US" altLang="zh-CN" sz="1050" i="1" dirty="0"/>
              <a:t>” via Stable Diffusion</a:t>
            </a:r>
            <a:r>
              <a:rPr lang="en-US" altLang="zh-CN" sz="1050" i="1" baseline="30000" dirty="0"/>
              <a:t>[2]</a:t>
            </a:r>
            <a:endParaRPr lang="en-US" altLang="zh-CN" sz="1050" dirty="0">
              <a:latin typeface="+mn-ea"/>
            </a:endParaRPr>
          </a:p>
        </p:txBody>
      </p:sp>
    </p:spTree>
    <p:extLst>
      <p:ext uri="{BB962C8B-B14F-4D97-AF65-F5344CB8AC3E}">
        <p14:creationId xmlns:p14="http://schemas.microsoft.com/office/powerpoint/2010/main" val="3066373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3DABCB8-9DCC-70A3-17C7-CD02A73FFDC2}"/>
              </a:ext>
            </a:extLst>
          </p:cNvPr>
          <p:cNvSpPr txBox="1">
            <a:spLocks/>
          </p:cNvSpPr>
          <p:nvPr/>
        </p:nvSpPr>
        <p:spPr>
          <a:xfrm>
            <a:off x="345600" y="202919"/>
            <a:ext cx="9695205" cy="531544"/>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US" altLang="zh-CN" sz="2400" dirty="0"/>
              <a:t>Outline</a:t>
            </a:r>
            <a:endParaRPr lang="en-AU" sz="2400" dirty="0"/>
          </a:p>
        </p:txBody>
      </p:sp>
      <p:sp>
        <p:nvSpPr>
          <p:cNvPr id="11" name="文本框 10">
            <a:extLst>
              <a:ext uri="{FF2B5EF4-FFF2-40B4-BE49-F238E27FC236}">
                <a16:creationId xmlns:a16="http://schemas.microsoft.com/office/drawing/2014/main" id="{C8DFD3BC-F013-CBF7-58C8-CB3F281C5CF3}"/>
              </a:ext>
            </a:extLst>
          </p:cNvPr>
          <p:cNvSpPr txBox="1"/>
          <p:nvPr/>
        </p:nvSpPr>
        <p:spPr>
          <a:xfrm>
            <a:off x="345599" y="692696"/>
            <a:ext cx="6461199" cy="4984185"/>
          </a:xfrm>
          <a:prstGeom prst="rect">
            <a:avLst/>
          </a:prstGeom>
          <a:noFill/>
        </p:spPr>
        <p:txBody>
          <a:bodyPr wrap="square">
            <a:spAutoFit/>
          </a:bodyPr>
          <a:lstStyle/>
          <a:p>
            <a:pPr marL="457200" indent="-457200">
              <a:lnSpc>
                <a:spcPts val="3200"/>
              </a:lnSpc>
              <a:buFont typeface="+mj-lt"/>
              <a:buAutoNum type="arabicPeriod"/>
            </a:pPr>
            <a:r>
              <a:rPr lang="en-US" altLang="zh-CN" sz="2400" dirty="0">
                <a:solidFill>
                  <a:schemeClr val="tx1">
                    <a:lumMod val="50000"/>
                    <a:lumOff val="50000"/>
                  </a:schemeClr>
                </a:solidFill>
              </a:rPr>
              <a:t>Introduction</a:t>
            </a:r>
          </a:p>
          <a:p>
            <a:pPr marL="457200" indent="-457200">
              <a:lnSpc>
                <a:spcPts val="3200"/>
              </a:lnSpc>
              <a:buFont typeface="+mj-lt"/>
              <a:buAutoNum type="arabicPeriod"/>
            </a:pPr>
            <a:r>
              <a:rPr lang="en-US" altLang="zh-CN" sz="2400" dirty="0">
                <a:solidFill>
                  <a:schemeClr val="bg1"/>
                </a:solidFill>
              </a:rPr>
              <a:t>Background</a:t>
            </a:r>
          </a:p>
          <a:p>
            <a:pPr marL="1066648" lvl="1" indent="-457200">
              <a:lnSpc>
                <a:spcPts val="3200"/>
              </a:lnSpc>
              <a:buFont typeface="+mj-lt"/>
              <a:buAutoNum type="arabicPeriod"/>
            </a:pPr>
            <a:r>
              <a:rPr lang="en-US" altLang="zh-CN" sz="2400" dirty="0">
                <a:solidFill>
                  <a:schemeClr val="bg1"/>
                </a:solidFill>
              </a:rPr>
              <a:t>Data Bottleneck</a:t>
            </a:r>
          </a:p>
          <a:p>
            <a:pPr marL="1066648" lvl="1" indent="-457200">
              <a:lnSpc>
                <a:spcPts val="3200"/>
              </a:lnSpc>
              <a:buFont typeface="+mj-lt"/>
              <a:buAutoNum type="arabicPeriod"/>
            </a:pPr>
            <a:r>
              <a:rPr lang="en-US" altLang="zh-CN" sz="2400" dirty="0">
                <a:solidFill>
                  <a:schemeClr val="bg1"/>
                </a:solidFill>
              </a:rPr>
              <a:t>Current Methods</a:t>
            </a:r>
          </a:p>
          <a:p>
            <a:pPr marL="1066648" lvl="1" indent="-457200">
              <a:lnSpc>
                <a:spcPts val="3200"/>
              </a:lnSpc>
              <a:buFont typeface="+mj-lt"/>
              <a:buAutoNum type="arabicPeriod"/>
            </a:pPr>
            <a:r>
              <a:rPr lang="en-US" altLang="zh-CN" sz="2400" dirty="0">
                <a:solidFill>
                  <a:schemeClr val="bg1"/>
                </a:solidFill>
              </a:rPr>
              <a:t>Controllable Diffusion Models</a:t>
            </a:r>
          </a:p>
          <a:p>
            <a:pPr marL="457200" indent="-457200">
              <a:lnSpc>
                <a:spcPts val="3200"/>
              </a:lnSpc>
              <a:buFont typeface="+mj-lt"/>
              <a:buAutoNum type="arabicPeriod"/>
            </a:pPr>
            <a:r>
              <a:rPr lang="en-US" altLang="zh-CN" sz="2400" dirty="0">
                <a:solidFill>
                  <a:schemeClr val="bg1"/>
                </a:solidFill>
              </a:rPr>
              <a:t>Research Objective</a:t>
            </a:r>
          </a:p>
          <a:p>
            <a:pPr marL="457200" indent="-457200">
              <a:lnSpc>
                <a:spcPts val="3200"/>
              </a:lnSpc>
              <a:buFont typeface="+mj-lt"/>
              <a:buAutoNum type="arabicPeriod"/>
            </a:pPr>
            <a:r>
              <a:rPr lang="en-US" altLang="zh-CN" sz="2400" dirty="0">
                <a:solidFill>
                  <a:schemeClr val="bg1"/>
                </a:solidFill>
              </a:rPr>
              <a:t>Research Framework</a:t>
            </a:r>
          </a:p>
          <a:p>
            <a:pPr marL="457200" indent="-457200">
              <a:lnSpc>
                <a:spcPts val="3200"/>
              </a:lnSpc>
              <a:buFont typeface="+mj-lt"/>
              <a:buAutoNum type="arabicPeriod"/>
            </a:pPr>
            <a:r>
              <a:rPr lang="en-US" altLang="zh-CN" sz="2400" dirty="0">
                <a:solidFill>
                  <a:schemeClr val="bg1"/>
                </a:solidFill>
              </a:rPr>
              <a:t>Methodology</a:t>
            </a:r>
          </a:p>
          <a:p>
            <a:pPr marL="1066648" lvl="1" indent="-457200">
              <a:lnSpc>
                <a:spcPts val="3200"/>
              </a:lnSpc>
              <a:buFont typeface="+mj-lt"/>
              <a:buAutoNum type="arabicPeriod"/>
            </a:pPr>
            <a:r>
              <a:rPr lang="en-US" altLang="zh-CN" sz="2400" dirty="0">
                <a:solidFill>
                  <a:schemeClr val="bg1"/>
                </a:solidFill>
              </a:rPr>
              <a:t>Dataset</a:t>
            </a:r>
          </a:p>
          <a:p>
            <a:pPr marL="1066648" lvl="1" indent="-457200">
              <a:lnSpc>
                <a:spcPts val="3200"/>
              </a:lnSpc>
              <a:buFont typeface="+mj-lt"/>
              <a:buAutoNum type="arabicPeriod"/>
            </a:pPr>
            <a:r>
              <a:rPr lang="en-US" altLang="zh-CN" sz="2400" dirty="0">
                <a:solidFill>
                  <a:schemeClr val="bg1"/>
                </a:solidFill>
              </a:rPr>
              <a:t>Generation Pipeline</a:t>
            </a:r>
          </a:p>
          <a:p>
            <a:pPr marL="1066648" lvl="1" indent="-457200">
              <a:lnSpc>
                <a:spcPts val="3200"/>
              </a:lnSpc>
              <a:buFont typeface="+mj-lt"/>
              <a:buAutoNum type="arabicPeriod"/>
            </a:pPr>
            <a:r>
              <a:rPr lang="en-US" altLang="zh-CN" sz="2400" dirty="0">
                <a:solidFill>
                  <a:schemeClr val="bg1"/>
                </a:solidFill>
              </a:rPr>
              <a:t>Downstream Tasks</a:t>
            </a:r>
          </a:p>
          <a:p>
            <a:pPr marL="457200" indent="-457200">
              <a:lnSpc>
                <a:spcPts val="3200"/>
              </a:lnSpc>
              <a:buFont typeface="+mj-lt"/>
              <a:buAutoNum type="arabicPeriod"/>
            </a:pPr>
            <a:r>
              <a:rPr lang="en-US" altLang="zh-CN" sz="2400" dirty="0">
                <a:solidFill>
                  <a:schemeClr val="bg1"/>
                </a:solidFill>
              </a:rPr>
              <a:t>Evaluation &amp; Metrics</a:t>
            </a:r>
            <a:endParaRPr lang="zh-CN" altLang="en-US" sz="2400" dirty="0">
              <a:solidFill>
                <a:schemeClr val="bg1"/>
              </a:solidFill>
            </a:endParaRPr>
          </a:p>
        </p:txBody>
      </p:sp>
    </p:spTree>
    <p:extLst>
      <p:ext uri="{BB962C8B-B14F-4D97-AF65-F5344CB8AC3E}">
        <p14:creationId xmlns:p14="http://schemas.microsoft.com/office/powerpoint/2010/main" val="396700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2292301-67E1-40BC-8A63-0621646E48D0}"/>
              </a:ext>
            </a:extLst>
          </p:cNvPr>
          <p:cNvSpPr/>
          <p:nvPr/>
        </p:nvSpPr>
        <p:spPr>
          <a:xfrm>
            <a:off x="5193202" y="5002820"/>
            <a:ext cx="7647289" cy="577081"/>
          </a:xfrm>
          <a:prstGeom prst="rect">
            <a:avLst/>
          </a:prstGeom>
        </p:spPr>
        <p:txBody>
          <a:bodyPr wrap="square">
            <a:spAutoFit/>
          </a:bodyPr>
          <a:lstStyle/>
          <a:p>
            <a:pPr lvl="2"/>
            <a:r>
              <a:rPr lang="en-US" altLang="zh-CN" sz="1050" dirty="0"/>
              <a:t>Figure 2: Comparison between common and rare scenarios:</a:t>
            </a:r>
            <a:br>
              <a:rPr lang="en-US" altLang="zh-CN" sz="1050" dirty="0"/>
            </a:br>
            <a:r>
              <a:rPr lang="en-US" altLang="zh-CN" sz="1050" b="1" dirty="0"/>
              <a:t>Top: </a:t>
            </a:r>
            <a:r>
              <a:rPr lang="en-US" altLang="zh-CN" sz="1050" dirty="0"/>
              <a:t>Frequent clear-day driving scene (well represented in datasets);</a:t>
            </a:r>
            <a:br>
              <a:rPr lang="en-US" altLang="zh-CN" sz="1050" dirty="0"/>
            </a:br>
            <a:r>
              <a:rPr lang="en-US" altLang="zh-CN" sz="1050" b="1" dirty="0"/>
              <a:t>Bottom: </a:t>
            </a:r>
            <a:r>
              <a:rPr lang="en-US" altLang="zh-CN" sz="1050" dirty="0"/>
              <a:t>Rare foggy scene (underrepresented long-tail case).</a:t>
            </a:r>
            <a:endParaRPr lang="en-US" altLang="zh-CN" sz="1200" dirty="0">
              <a:latin typeface="+mn-ea"/>
            </a:endParaRPr>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Title 1">
            <a:extLst>
              <a:ext uri="{FF2B5EF4-FFF2-40B4-BE49-F238E27FC236}">
                <a16:creationId xmlns:a16="http://schemas.microsoft.com/office/drawing/2014/main" id="{915FAAA7-D455-C759-2476-A89C79B84E39}"/>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Background: Data Bottleneck</a:t>
            </a:r>
            <a:endParaRPr lang="en-AU" sz="2400" dirty="0"/>
          </a:p>
        </p:txBody>
      </p:sp>
      <p:pic>
        <p:nvPicPr>
          <p:cNvPr id="6" name="图片 5" descr="夜晚的景色&#10;&#10;描述已自动生成">
            <a:extLst>
              <a:ext uri="{FF2B5EF4-FFF2-40B4-BE49-F238E27FC236}">
                <a16:creationId xmlns:a16="http://schemas.microsoft.com/office/drawing/2014/main" id="{96878DA0-67DC-E391-AC0D-E795229B8B5A}"/>
              </a:ext>
            </a:extLst>
          </p:cNvPr>
          <p:cNvPicPr>
            <a:picLocks noChangeAspect="1"/>
          </p:cNvPicPr>
          <p:nvPr/>
        </p:nvPicPr>
        <p:blipFill>
          <a:blip r:embed="rId3">
            <a:extLst>
              <a:ext uri="{28A0092B-C50C-407E-A947-70E740481C1C}">
                <a14:useLocalDpi xmlns:a14="http://schemas.microsoft.com/office/drawing/2010/main" val="0"/>
              </a:ext>
            </a:extLst>
          </a:blip>
          <a:srcRect l="19382" t="4917" b="13123"/>
          <a:stretch/>
        </p:blipFill>
        <p:spPr>
          <a:xfrm>
            <a:off x="6672064" y="2708300"/>
            <a:ext cx="3731825" cy="2124641"/>
          </a:xfrm>
          <a:prstGeom prst="rect">
            <a:avLst/>
          </a:prstGeom>
        </p:spPr>
      </p:pic>
      <p:pic>
        <p:nvPicPr>
          <p:cNvPr id="10" name="图片 9" descr="森林中的汽车&#10;&#10;描述已自动生成">
            <a:extLst>
              <a:ext uri="{FF2B5EF4-FFF2-40B4-BE49-F238E27FC236}">
                <a16:creationId xmlns:a16="http://schemas.microsoft.com/office/drawing/2014/main" id="{51B4BC96-01F2-85DE-A509-6DE2CFDA2053}"/>
              </a:ext>
            </a:extLst>
          </p:cNvPr>
          <p:cNvPicPr>
            <a:picLocks noChangeAspect="1"/>
          </p:cNvPicPr>
          <p:nvPr/>
        </p:nvPicPr>
        <p:blipFill>
          <a:blip r:embed="rId4">
            <a:extLst>
              <a:ext uri="{28A0092B-C50C-407E-A947-70E740481C1C}">
                <a14:useLocalDpi xmlns:a14="http://schemas.microsoft.com/office/drawing/2010/main" val="0"/>
              </a:ext>
            </a:extLst>
          </a:blip>
          <a:srcRect t="3700" b="9116"/>
          <a:stretch/>
        </p:blipFill>
        <p:spPr>
          <a:xfrm>
            <a:off x="6672064" y="370855"/>
            <a:ext cx="3731825" cy="2167566"/>
          </a:xfrm>
          <a:prstGeom prst="rect">
            <a:avLst/>
          </a:prstGeom>
        </p:spPr>
      </p:pic>
      <p:sp>
        <p:nvSpPr>
          <p:cNvPr id="12" name="Content Placeholder 2">
            <a:extLst>
              <a:ext uri="{FF2B5EF4-FFF2-40B4-BE49-F238E27FC236}">
                <a16:creationId xmlns:a16="http://schemas.microsoft.com/office/drawing/2014/main" id="{FA4F21BA-7C25-B9BA-3BF9-4A87FCFA3068}"/>
              </a:ext>
            </a:extLst>
          </p:cNvPr>
          <p:cNvSpPr txBox="1">
            <a:spLocks/>
          </p:cNvSpPr>
          <p:nvPr/>
        </p:nvSpPr>
        <p:spPr>
          <a:xfrm>
            <a:off x="345600" y="1172546"/>
            <a:ext cx="5750400" cy="2904526"/>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b="0" dirty="0">
                <a:latin typeface="+mn-ea"/>
              </a:rPr>
              <a:t>Modern object detection models are data-hungry — they rely on large, labeled datasets.</a:t>
            </a:r>
          </a:p>
          <a:p>
            <a:r>
              <a:rPr lang="en-US" altLang="zh-CN" sz="1400" dirty="0">
                <a:latin typeface="+mn-ea"/>
              </a:rPr>
              <a:t>Long-tail Problem</a:t>
            </a:r>
          </a:p>
          <a:p>
            <a:r>
              <a:rPr lang="en-US" altLang="zh-CN" sz="1400" b="0" dirty="0">
                <a:latin typeface="+mn-ea"/>
              </a:rPr>
              <a:t>→ Real datasets are also</a:t>
            </a:r>
            <a:r>
              <a:rPr lang="en-US" altLang="zh-CN" sz="1400" dirty="0">
                <a:latin typeface="+mn-ea"/>
              </a:rPr>
              <a:t> imbalanced </a:t>
            </a:r>
            <a:r>
              <a:rPr lang="en-US" altLang="zh-CN" sz="1400" b="0" dirty="0">
                <a:latin typeface="+mn-ea"/>
              </a:rPr>
              <a:t>— common cases dominate, while rare but critical ones are underrepresented.</a:t>
            </a:r>
          </a:p>
          <a:p>
            <a:r>
              <a:rPr lang="en-US" altLang="zh-CN" sz="1400" dirty="0">
                <a:latin typeface="+mn-ea"/>
              </a:rPr>
              <a:t>Consequence</a:t>
            </a:r>
          </a:p>
          <a:p>
            <a:r>
              <a:rPr lang="en-US" altLang="zh-CN" sz="1400" b="0" dirty="0">
                <a:latin typeface="+mn-ea"/>
              </a:rPr>
              <a:t>→ models struggle in unseen or rare scenarios, limiting real-world robustness.</a:t>
            </a:r>
          </a:p>
        </p:txBody>
      </p:sp>
    </p:spTree>
    <p:extLst>
      <p:ext uri="{BB962C8B-B14F-4D97-AF65-F5344CB8AC3E}">
        <p14:creationId xmlns:p14="http://schemas.microsoft.com/office/powerpoint/2010/main" val="1225063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a:xfrm>
            <a:off x="345600" y="76228"/>
            <a:ext cx="9695205" cy="531544"/>
          </a:xfrm>
        </p:spPr>
        <p:txBody>
          <a:bodyPr/>
          <a:lstStyle/>
          <a:p>
            <a:r>
              <a:rPr lang="en-US" altLang="zh-CN" sz="2400" dirty="0"/>
              <a:t>Background: Current Methods</a:t>
            </a:r>
            <a:endParaRPr lang="en-AU" altLang="zh-CN" sz="240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Content Placeholder 2">
            <a:extLst>
              <a:ext uri="{FF2B5EF4-FFF2-40B4-BE49-F238E27FC236}">
                <a16:creationId xmlns:a16="http://schemas.microsoft.com/office/drawing/2014/main" id="{9A0F6328-09D9-47E5-941F-7B692B125195}"/>
              </a:ext>
            </a:extLst>
          </p:cNvPr>
          <p:cNvSpPr>
            <a:spLocks noGrp="1"/>
          </p:cNvSpPr>
          <p:nvPr>
            <p:ph sz="quarter" idx="14"/>
          </p:nvPr>
        </p:nvSpPr>
        <p:spPr>
          <a:xfrm>
            <a:off x="4943872" y="1248105"/>
            <a:ext cx="6552728" cy="3672408"/>
          </a:xfrm>
        </p:spPr>
        <p:txBody>
          <a:bodyPr/>
          <a:lstStyle/>
          <a:p>
            <a:r>
              <a:rPr lang="en-US" altLang="zh-CN" sz="1400" b="0" dirty="0"/>
              <a:t>Traditional Augmentation</a:t>
            </a:r>
            <a:br>
              <a:rPr lang="en-US" altLang="zh-CN" sz="1400" b="0" dirty="0"/>
            </a:br>
            <a:r>
              <a:rPr lang="en-US" altLang="zh-CN" sz="1400" b="0" dirty="0"/>
              <a:t>→ Simple pixel-level transforms such as rotation, cropping, or mixing.</a:t>
            </a:r>
            <a:br>
              <a:rPr lang="en-US" altLang="zh-CN" sz="1400" b="0" dirty="0"/>
            </a:br>
            <a:r>
              <a:rPr lang="en-US" altLang="zh-CN" sz="1400" b="0" dirty="0"/>
              <a:t>→ Cons: cannot create </a:t>
            </a:r>
            <a:r>
              <a:rPr lang="en-US" altLang="zh-CN" sz="1400" i="1" dirty="0"/>
              <a:t>new or unseen scenes</a:t>
            </a:r>
            <a:r>
              <a:rPr lang="en-US" altLang="zh-CN" sz="1400" b="0" dirty="0"/>
              <a:t>.</a:t>
            </a:r>
          </a:p>
          <a:p>
            <a:r>
              <a:rPr lang="en-US" altLang="zh-CN" sz="1400" b="0" dirty="0"/>
              <a:t>Simulation</a:t>
            </a:r>
            <a:br>
              <a:rPr lang="en-US" altLang="zh-CN" sz="1400" b="0" dirty="0"/>
            </a:br>
            <a:r>
              <a:rPr lang="en-US" altLang="zh-CN" sz="1400" b="0" dirty="0"/>
              <a:t>→ Platforms like GTA-V or CARLA can render labeled images automatically.</a:t>
            </a:r>
            <a:br>
              <a:rPr lang="en-US" altLang="zh-CN" sz="1400" b="0" dirty="0"/>
            </a:br>
            <a:r>
              <a:rPr lang="en-US" altLang="zh-CN" sz="1400" b="0" dirty="0"/>
              <a:t>→ Cons: often look </a:t>
            </a:r>
            <a:r>
              <a:rPr lang="en-US" altLang="zh-CN" sz="1400" dirty="0"/>
              <a:t>artificial and unrealistic</a:t>
            </a:r>
            <a:r>
              <a:rPr lang="en-US" altLang="zh-CN" sz="1400" b="0" dirty="0"/>
              <a:t>.</a:t>
            </a:r>
          </a:p>
          <a:p>
            <a:r>
              <a:rPr lang="en-US" altLang="zh-CN" sz="1400" b="0" dirty="0"/>
              <a:t>Domain Adaptation</a:t>
            </a:r>
            <a:br>
              <a:rPr lang="en-US" altLang="zh-CN" sz="1400" b="0" dirty="0"/>
            </a:br>
            <a:r>
              <a:rPr lang="en-US" altLang="zh-CN" sz="1400" b="0" dirty="0"/>
              <a:t>→ Converts synthetic images into more realistic styles.</a:t>
            </a:r>
            <a:br>
              <a:rPr lang="en-US" altLang="zh-CN" sz="1400" b="0" dirty="0"/>
            </a:br>
            <a:r>
              <a:rPr lang="en-US" altLang="zh-CN" sz="1400" b="0" dirty="0"/>
              <a:t>→ Cons: </a:t>
            </a:r>
            <a:r>
              <a:rPr lang="en-US" altLang="zh-CN" sz="1400" dirty="0"/>
              <a:t>the domain gap </a:t>
            </a:r>
            <a:r>
              <a:rPr lang="en-US" altLang="zh-CN" sz="1400" b="0" dirty="0"/>
              <a:t>between synthetic and real data </a:t>
            </a:r>
            <a:r>
              <a:rPr lang="en-US" altLang="zh-CN" sz="1400" dirty="0"/>
              <a:t>remains</a:t>
            </a:r>
            <a:r>
              <a:rPr lang="en-US" altLang="zh-CN" sz="1400" b="0" dirty="0"/>
              <a:t>.</a:t>
            </a:r>
          </a:p>
        </p:txBody>
      </p:sp>
      <p:sp>
        <p:nvSpPr>
          <p:cNvPr id="6" name="矩形 5">
            <a:extLst>
              <a:ext uri="{FF2B5EF4-FFF2-40B4-BE49-F238E27FC236}">
                <a16:creationId xmlns:a16="http://schemas.microsoft.com/office/drawing/2014/main" id="{49DC3FEE-B6FA-78EB-7344-A4513B3BA7C9}"/>
              </a:ext>
            </a:extLst>
          </p:cNvPr>
          <p:cNvSpPr/>
          <p:nvPr/>
        </p:nvSpPr>
        <p:spPr>
          <a:xfrm>
            <a:off x="-921441" y="4411925"/>
            <a:ext cx="5688631" cy="738664"/>
          </a:xfrm>
          <a:prstGeom prst="rect">
            <a:avLst/>
          </a:prstGeom>
        </p:spPr>
        <p:txBody>
          <a:bodyPr wrap="square">
            <a:spAutoFit/>
          </a:bodyPr>
          <a:lstStyle/>
          <a:p>
            <a:pPr lvl="2"/>
            <a:r>
              <a:rPr lang="en-US" altLang="zh-CN" sz="1050" dirty="0"/>
              <a:t>Figure 3: </a:t>
            </a:r>
            <a:r>
              <a:rPr lang="en-US" altLang="zh-CN" sz="1050" b="1" dirty="0"/>
              <a:t>Top-left:</a:t>
            </a:r>
            <a:r>
              <a:rPr lang="en-US" altLang="zh-CN" sz="1050" dirty="0"/>
              <a:t> Traditional augmentation method (Mix</a:t>
            </a:r>
            <a:r>
              <a:rPr lang="en-US" altLang="zh-CN" sz="1050" baseline="30000" dirty="0"/>
              <a:t>[3]</a:t>
            </a:r>
            <a:r>
              <a:rPr lang="en-US" altLang="zh-CN" sz="1050" dirty="0"/>
              <a:t>).</a:t>
            </a:r>
            <a:br>
              <a:rPr lang="en-US" altLang="zh-CN" sz="1050" dirty="0"/>
            </a:br>
            <a:r>
              <a:rPr lang="en-US" altLang="zh-CN" sz="1050" b="1" dirty="0"/>
              <a:t>Top-right:</a:t>
            </a:r>
            <a:r>
              <a:rPr lang="en-US" altLang="zh-CN" sz="1050" dirty="0"/>
              <a:t> Simulation engines generate labeled synthetic scenes</a:t>
            </a:r>
            <a:r>
              <a:rPr lang="en-US" altLang="zh-CN" sz="1050" baseline="30000" dirty="0"/>
              <a:t>[4]</a:t>
            </a:r>
            <a:r>
              <a:rPr lang="en-US" altLang="zh-CN" sz="1050" dirty="0"/>
              <a:t>.</a:t>
            </a:r>
            <a:br>
              <a:rPr lang="en-US" altLang="zh-CN" sz="1050" dirty="0"/>
            </a:br>
            <a:r>
              <a:rPr lang="en-US" altLang="zh-CN" sz="1050" b="1" dirty="0"/>
              <a:t>Bottom:</a:t>
            </a:r>
            <a:r>
              <a:rPr lang="en-US" altLang="zh-CN" sz="1050" dirty="0"/>
              <a:t> Domain adaptation narrows the visual gap between synthetic and real images, yet a clear </a:t>
            </a:r>
            <a:r>
              <a:rPr lang="en-US" altLang="zh-CN" sz="1050" b="1" dirty="0"/>
              <a:t>domain gap</a:t>
            </a:r>
            <a:r>
              <a:rPr lang="en-US" altLang="zh-CN" sz="1050" dirty="0"/>
              <a:t> remains</a:t>
            </a:r>
            <a:r>
              <a:rPr lang="en-US" altLang="zh-CN" sz="1050" baseline="30000" dirty="0"/>
              <a:t>[5]</a:t>
            </a:r>
            <a:r>
              <a:rPr lang="en-US" altLang="zh-CN" sz="1050" dirty="0"/>
              <a:t>.</a:t>
            </a:r>
            <a:endParaRPr lang="en-US" altLang="zh-CN" sz="1050" dirty="0">
              <a:latin typeface="+mn-ea"/>
            </a:endParaRPr>
          </a:p>
        </p:txBody>
      </p:sp>
      <p:sp>
        <p:nvSpPr>
          <p:cNvPr id="7" name="矩形 6">
            <a:extLst>
              <a:ext uri="{FF2B5EF4-FFF2-40B4-BE49-F238E27FC236}">
                <a16:creationId xmlns:a16="http://schemas.microsoft.com/office/drawing/2014/main" id="{D438C0F6-D903-9DA2-BA1E-B618F04BC1A3}"/>
              </a:ext>
            </a:extLst>
          </p:cNvPr>
          <p:cNvSpPr/>
          <p:nvPr/>
        </p:nvSpPr>
        <p:spPr>
          <a:xfrm>
            <a:off x="3647728" y="6165304"/>
            <a:ext cx="7344816" cy="507831"/>
          </a:xfrm>
          <a:prstGeom prst="rect">
            <a:avLst/>
          </a:prstGeom>
        </p:spPr>
        <p:txBody>
          <a:bodyPr wrap="square">
            <a:spAutoFit/>
          </a:bodyPr>
          <a:lstStyle/>
          <a:p>
            <a:pPr lvl="2"/>
            <a:r>
              <a:rPr lang="en-US" altLang="zh-CN" sz="900" dirty="0"/>
              <a:t>[3] Yun, S. </a:t>
            </a:r>
            <a:r>
              <a:rPr lang="en-US" altLang="zh-CN" sz="900" i="1" dirty="0"/>
              <a:t>et al.</a:t>
            </a:r>
            <a:r>
              <a:rPr lang="en-US" altLang="zh-CN" sz="900" dirty="0"/>
              <a:t>, </a:t>
            </a:r>
            <a:r>
              <a:rPr lang="en-US" altLang="zh-CN" sz="900" i="1" dirty="0" err="1"/>
              <a:t>CutMix</a:t>
            </a:r>
            <a:r>
              <a:rPr lang="en-US" altLang="zh-CN" sz="900" i="1" dirty="0"/>
              <a:t>: Regularization Strategy to Train Strong Classifiers with Localizable Features</a:t>
            </a:r>
            <a:r>
              <a:rPr lang="en-US" altLang="zh-CN" sz="900" dirty="0"/>
              <a:t>, ICCV 2019.</a:t>
            </a:r>
          </a:p>
          <a:p>
            <a:pPr lvl="2"/>
            <a:r>
              <a:rPr lang="en-US" altLang="zh-CN" sz="900" dirty="0"/>
              <a:t>[4] Richter, S. R. </a:t>
            </a:r>
            <a:r>
              <a:rPr lang="en-US" altLang="zh-CN" sz="900" i="1" dirty="0"/>
              <a:t>et al.</a:t>
            </a:r>
            <a:r>
              <a:rPr lang="en-US" altLang="zh-CN" sz="900" dirty="0"/>
              <a:t>, </a:t>
            </a:r>
            <a:r>
              <a:rPr lang="en-US" altLang="zh-CN" sz="900" i="1" dirty="0"/>
              <a:t>Playing for Data: Ground Truth from Computer Games</a:t>
            </a:r>
            <a:r>
              <a:rPr lang="en-US" altLang="zh-CN" sz="900" dirty="0"/>
              <a:t>, ECCV 2016.</a:t>
            </a:r>
          </a:p>
          <a:p>
            <a:pPr lvl="2"/>
            <a:r>
              <a:rPr lang="en-US" altLang="zh-CN" sz="900" dirty="0"/>
              <a:t>[5] </a:t>
            </a:r>
            <a:r>
              <a:rPr lang="en-US" altLang="zh-CN" sz="900" dirty="0" err="1"/>
              <a:t>Laga</a:t>
            </a:r>
            <a:r>
              <a:rPr lang="en-US" altLang="zh-CN" sz="900" dirty="0"/>
              <a:t> </a:t>
            </a:r>
            <a:r>
              <a:rPr lang="en-US" altLang="zh-CN" sz="900" i="1" dirty="0"/>
              <a:t>et al.</a:t>
            </a:r>
            <a:r>
              <a:rPr lang="en-US" altLang="zh-CN" sz="900" dirty="0"/>
              <a:t>, </a:t>
            </a:r>
            <a:r>
              <a:rPr lang="en-US" altLang="zh-CN" sz="900" i="1" dirty="0"/>
              <a:t>A Survey on Deep Learning Techniques for Stereo-Based Depth Estimation</a:t>
            </a:r>
            <a:r>
              <a:rPr lang="en-US" altLang="zh-CN" sz="900" dirty="0"/>
              <a:t>, </a:t>
            </a:r>
            <a:r>
              <a:rPr lang="en-US" altLang="zh-CN" sz="900" i="1" dirty="0"/>
              <a:t>IEEE TPAMI</a:t>
            </a:r>
            <a:r>
              <a:rPr lang="en-US" altLang="zh-CN" sz="900" dirty="0"/>
              <a:t>, 2022.</a:t>
            </a:r>
            <a:endParaRPr lang="en-US" altLang="zh-CN" sz="900" dirty="0">
              <a:latin typeface="+mn-ea"/>
            </a:endParaRPr>
          </a:p>
        </p:txBody>
      </p:sp>
      <p:pic>
        <p:nvPicPr>
          <p:cNvPr id="8" name="图片 7" descr="房间的摆设布局&#10;&#10;中度可信度描述已自动生成">
            <a:extLst>
              <a:ext uri="{FF2B5EF4-FFF2-40B4-BE49-F238E27FC236}">
                <a16:creationId xmlns:a16="http://schemas.microsoft.com/office/drawing/2014/main" id="{852BDE23-4FD7-E28C-F97E-C674CE2BBB13}"/>
              </a:ext>
            </a:extLst>
          </p:cNvPr>
          <p:cNvPicPr>
            <a:picLocks noChangeAspect="1"/>
          </p:cNvPicPr>
          <p:nvPr/>
        </p:nvPicPr>
        <p:blipFill>
          <a:blip r:embed="rId3">
            <a:extLst>
              <a:ext uri="{28A0092B-C50C-407E-A947-70E740481C1C}">
                <a14:useLocalDpi xmlns:a14="http://schemas.microsoft.com/office/drawing/2010/main" val="0"/>
              </a:ext>
            </a:extLst>
          </a:blip>
          <a:srcRect l="1006" r="1219" b="3010"/>
          <a:stretch/>
        </p:blipFill>
        <p:spPr>
          <a:xfrm>
            <a:off x="234469" y="2800241"/>
            <a:ext cx="4106505" cy="1255504"/>
          </a:xfrm>
          <a:prstGeom prst="rect">
            <a:avLst/>
          </a:prstGeom>
        </p:spPr>
      </p:pic>
      <p:pic>
        <p:nvPicPr>
          <p:cNvPr id="9" name="图片 8" descr="猫的照片上写着字&#10;&#10;描述已自动生成">
            <a:extLst>
              <a:ext uri="{FF2B5EF4-FFF2-40B4-BE49-F238E27FC236}">
                <a16:creationId xmlns:a16="http://schemas.microsoft.com/office/drawing/2014/main" id="{9043CC2B-923B-4AE8-43D4-04FE79B62D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43" y="1141766"/>
            <a:ext cx="2119418" cy="1461152"/>
          </a:xfrm>
          <a:prstGeom prst="rect">
            <a:avLst/>
          </a:prstGeom>
        </p:spPr>
      </p:pic>
      <p:pic>
        <p:nvPicPr>
          <p:cNvPr id="10" name="图片 9" descr="街道边的建筑和汽车&#10;&#10;描述已自动生成">
            <a:extLst>
              <a:ext uri="{FF2B5EF4-FFF2-40B4-BE49-F238E27FC236}">
                <a16:creationId xmlns:a16="http://schemas.microsoft.com/office/drawing/2014/main" id="{384DE8F0-4446-7A4C-A310-EC66DEEB0267}"/>
              </a:ext>
            </a:extLst>
          </p:cNvPr>
          <p:cNvPicPr>
            <a:picLocks noChangeAspect="1"/>
          </p:cNvPicPr>
          <p:nvPr/>
        </p:nvPicPr>
        <p:blipFill>
          <a:blip r:embed="rId5" cstate="print">
            <a:extLst>
              <a:ext uri="{28A0092B-C50C-407E-A947-70E740481C1C}">
                <a14:useLocalDpi xmlns:a14="http://schemas.microsoft.com/office/drawing/2010/main" val="0"/>
              </a:ext>
            </a:extLst>
          </a:blip>
          <a:srcRect r="19345"/>
          <a:stretch/>
        </p:blipFill>
        <p:spPr>
          <a:xfrm>
            <a:off x="2477555" y="1174328"/>
            <a:ext cx="1800200" cy="1255504"/>
          </a:xfrm>
          <a:prstGeom prst="rect">
            <a:avLst/>
          </a:prstGeom>
        </p:spPr>
      </p:pic>
      <p:cxnSp>
        <p:nvCxnSpPr>
          <p:cNvPr id="13" name="直接连接符 12">
            <a:extLst>
              <a:ext uri="{FF2B5EF4-FFF2-40B4-BE49-F238E27FC236}">
                <a16:creationId xmlns:a16="http://schemas.microsoft.com/office/drawing/2014/main" id="{30C67BD2-78AC-99A3-7F34-6836E2DED36F}"/>
              </a:ext>
            </a:extLst>
          </p:cNvPr>
          <p:cNvCxnSpPr/>
          <p:nvPr/>
        </p:nvCxnSpPr>
        <p:spPr>
          <a:xfrm>
            <a:off x="191343" y="2636912"/>
            <a:ext cx="4149631"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直接连接符 13">
            <a:extLst>
              <a:ext uri="{FF2B5EF4-FFF2-40B4-BE49-F238E27FC236}">
                <a16:creationId xmlns:a16="http://schemas.microsoft.com/office/drawing/2014/main" id="{E8D6DFE8-3386-FF32-E378-34E8E6197597}"/>
              </a:ext>
            </a:extLst>
          </p:cNvPr>
          <p:cNvCxnSpPr>
            <a:cxnSpLocks/>
          </p:cNvCxnSpPr>
          <p:nvPr/>
        </p:nvCxnSpPr>
        <p:spPr>
          <a:xfrm flipH="1">
            <a:off x="2312482" y="1039668"/>
            <a:ext cx="23040" cy="15632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5506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2292301-67E1-40BC-8A63-0621646E48D0}"/>
              </a:ext>
            </a:extLst>
          </p:cNvPr>
          <p:cNvSpPr/>
          <p:nvPr/>
        </p:nvSpPr>
        <p:spPr>
          <a:xfrm>
            <a:off x="5088299" y="2989268"/>
            <a:ext cx="6480310" cy="415498"/>
          </a:xfrm>
          <a:prstGeom prst="rect">
            <a:avLst/>
          </a:prstGeom>
        </p:spPr>
        <p:txBody>
          <a:bodyPr wrap="square">
            <a:spAutoFit/>
          </a:bodyPr>
          <a:lstStyle/>
          <a:p>
            <a:pPr lvl="2"/>
            <a:r>
              <a:rPr lang="en-US" altLang="zh-CN" sz="1050" dirty="0"/>
              <a:t>Figure 4: </a:t>
            </a:r>
            <a:r>
              <a:rPr lang="en-US" altLang="zh-CN" sz="1050" i="1" dirty="0"/>
              <a:t>Structural Control with ControlNet. Edge maps guide generation while preserving spatial layout.</a:t>
            </a:r>
            <a:endParaRPr lang="en-US" altLang="zh-CN" sz="1050" dirty="0"/>
          </a:p>
        </p:txBody>
      </p:sp>
      <p:sp>
        <p:nvSpPr>
          <p:cNvPr id="11" name="AutoShape 3" descr="https://www.ndss-symposium.org/ndss-paper/asgard-protecting-on-device-deep-neural-networks-with-virtualization-based-trusted-execution-environments/">
            <a:extLst>
              <a:ext uri="{FF2B5EF4-FFF2-40B4-BE49-F238E27FC236}">
                <a16:creationId xmlns:a16="http://schemas.microsoft.com/office/drawing/2014/main" id="{BC021D7C-8363-461A-A986-02AFA321EA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Content Placeholder 2">
            <a:extLst>
              <a:ext uri="{FF2B5EF4-FFF2-40B4-BE49-F238E27FC236}">
                <a16:creationId xmlns:a16="http://schemas.microsoft.com/office/drawing/2014/main" id="{FA4F21BA-7C25-B9BA-3BF9-4A87FCFA3068}"/>
              </a:ext>
            </a:extLst>
          </p:cNvPr>
          <p:cNvSpPr txBox="1">
            <a:spLocks/>
          </p:cNvSpPr>
          <p:nvPr/>
        </p:nvSpPr>
        <p:spPr>
          <a:xfrm>
            <a:off x="345600" y="1172546"/>
            <a:ext cx="6038432" cy="3408582"/>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dirty="0"/>
              <a:t>Diffusion Models</a:t>
            </a:r>
            <a:br>
              <a:rPr lang="en-US" altLang="zh-CN" sz="1400" b="0" dirty="0"/>
            </a:br>
            <a:r>
              <a:rPr lang="en-US" altLang="zh-CN" sz="1400" b="0" dirty="0"/>
              <a:t>→ Generate </a:t>
            </a:r>
            <a:r>
              <a:rPr lang="en-US" altLang="zh-CN" sz="1400" b="0" i="1" dirty="0"/>
              <a:t>realistic, diverse</a:t>
            </a:r>
            <a:r>
              <a:rPr lang="en-US" altLang="zh-CN" sz="1400" b="0" dirty="0"/>
              <a:t> images beyond existing data.</a:t>
            </a:r>
            <a:br>
              <a:rPr lang="en-US" altLang="zh-CN" sz="1400" b="0" dirty="0"/>
            </a:br>
            <a:r>
              <a:rPr lang="en-US" altLang="zh-CN" sz="1400" b="0" dirty="0"/>
              <a:t>→ Shift from modifying pixels to creating new events.</a:t>
            </a:r>
          </a:p>
          <a:p>
            <a:r>
              <a:rPr lang="en-US" altLang="zh-CN" sz="1400" dirty="0"/>
              <a:t>ControlNet</a:t>
            </a:r>
            <a:r>
              <a:rPr lang="en-US" altLang="zh-CN" sz="1400" baseline="30000" dirty="0"/>
              <a:t>[6]</a:t>
            </a:r>
            <a:br>
              <a:rPr lang="en-US" altLang="zh-CN" sz="1400" b="0" dirty="0"/>
            </a:br>
            <a:r>
              <a:rPr lang="en-US" altLang="zh-CN" sz="1400" b="0" dirty="0"/>
              <a:t>→ Injects structural information such as edges and depth.</a:t>
            </a:r>
            <a:br>
              <a:rPr lang="en-US" altLang="zh-CN" sz="1400" b="0" dirty="0"/>
            </a:br>
            <a:r>
              <a:rPr lang="en-US" altLang="zh-CN" sz="1400" b="0" dirty="0"/>
              <a:t>→ Ensures generated images respect the original layout and spatial consistency.</a:t>
            </a:r>
          </a:p>
          <a:p>
            <a:r>
              <a:rPr lang="en-US" altLang="zh-CN" sz="1400" dirty="0" err="1"/>
              <a:t>LoRA</a:t>
            </a:r>
            <a:r>
              <a:rPr lang="en-US" altLang="zh-CN" sz="1400" baseline="30000" dirty="0"/>
              <a:t>[7]</a:t>
            </a:r>
            <a:r>
              <a:rPr lang="en-US" altLang="zh-CN" sz="1400" dirty="0"/>
              <a:t> (Low-Rank Adaptation)</a:t>
            </a:r>
            <a:br>
              <a:rPr lang="en-US" altLang="zh-CN" sz="1400" b="0" dirty="0"/>
            </a:br>
            <a:r>
              <a:rPr lang="en-US" altLang="zh-CN" sz="1400" b="0" dirty="0"/>
              <a:t>→ A lightweight tuning method that adapts diffusion models to new domains.</a:t>
            </a:r>
            <a:br>
              <a:rPr lang="en-US" altLang="zh-CN" sz="1400" b="0" dirty="0"/>
            </a:br>
            <a:r>
              <a:rPr lang="en-US" altLang="zh-CN" sz="1400" b="0" dirty="0"/>
              <a:t>→ Enables fast, efficient fine-tuning for specific conditions (e.g., fog, night).</a:t>
            </a:r>
          </a:p>
        </p:txBody>
      </p:sp>
      <p:sp>
        <p:nvSpPr>
          <p:cNvPr id="3" name="Title 1">
            <a:extLst>
              <a:ext uri="{FF2B5EF4-FFF2-40B4-BE49-F238E27FC236}">
                <a16:creationId xmlns:a16="http://schemas.microsoft.com/office/drawing/2014/main" id="{915FAAA7-D455-C759-2476-A89C79B84E39}"/>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Background: Controllable Diffusion Models</a:t>
            </a:r>
            <a:endParaRPr lang="en-AU" altLang="zh-CN" sz="2400" dirty="0"/>
          </a:p>
        </p:txBody>
      </p:sp>
      <p:pic>
        <p:nvPicPr>
          <p:cNvPr id="2" name="图片 1" descr="男子的脸部特写与配字黑白照&#10;&#10;中度可信度描述已自动生成">
            <a:extLst>
              <a:ext uri="{FF2B5EF4-FFF2-40B4-BE49-F238E27FC236}">
                <a16:creationId xmlns:a16="http://schemas.microsoft.com/office/drawing/2014/main" id="{326F305E-EC5F-37C4-C6D3-F02B9F8185BD}"/>
              </a:ext>
            </a:extLst>
          </p:cNvPr>
          <p:cNvPicPr>
            <a:picLocks noChangeAspect="1"/>
          </p:cNvPicPr>
          <p:nvPr/>
        </p:nvPicPr>
        <p:blipFill>
          <a:blip r:embed="rId3">
            <a:extLst>
              <a:ext uri="{28A0092B-C50C-407E-A947-70E740481C1C}">
                <a14:useLocalDpi xmlns:a14="http://schemas.microsoft.com/office/drawing/2010/main" val="0"/>
              </a:ext>
            </a:extLst>
          </a:blip>
          <a:srcRect t="17288" b="16126"/>
          <a:stretch/>
        </p:blipFill>
        <p:spPr>
          <a:xfrm>
            <a:off x="6326670" y="980728"/>
            <a:ext cx="2402058" cy="1988901"/>
          </a:xfrm>
          <a:prstGeom prst="rect">
            <a:avLst/>
          </a:prstGeom>
        </p:spPr>
      </p:pic>
      <p:pic>
        <p:nvPicPr>
          <p:cNvPr id="4" name="图片 3" descr="图片包含 建筑, 围栏, 户外, 人行道&#10;&#10;描述已自动生成">
            <a:extLst>
              <a:ext uri="{FF2B5EF4-FFF2-40B4-BE49-F238E27FC236}">
                <a16:creationId xmlns:a16="http://schemas.microsoft.com/office/drawing/2014/main" id="{CD38B4ED-1ABE-33C7-F79A-18C6F1A895E9}"/>
              </a:ext>
            </a:extLst>
          </p:cNvPr>
          <p:cNvPicPr>
            <a:picLocks noChangeAspect="1"/>
          </p:cNvPicPr>
          <p:nvPr/>
        </p:nvPicPr>
        <p:blipFill>
          <a:blip r:embed="rId4">
            <a:extLst>
              <a:ext uri="{28A0092B-C50C-407E-A947-70E740481C1C}">
                <a14:useLocalDpi xmlns:a14="http://schemas.microsoft.com/office/drawing/2010/main" val="0"/>
              </a:ext>
            </a:extLst>
          </a:blip>
          <a:srcRect t="17289" b="16125"/>
          <a:stretch/>
        </p:blipFill>
        <p:spPr>
          <a:xfrm>
            <a:off x="8911943" y="980728"/>
            <a:ext cx="2402058" cy="1988901"/>
          </a:xfrm>
          <a:prstGeom prst="rect">
            <a:avLst/>
          </a:prstGeom>
        </p:spPr>
      </p:pic>
      <p:pic>
        <p:nvPicPr>
          <p:cNvPr id="7" name="图片 6">
            <a:extLst>
              <a:ext uri="{FF2B5EF4-FFF2-40B4-BE49-F238E27FC236}">
                <a16:creationId xmlns:a16="http://schemas.microsoft.com/office/drawing/2014/main" id="{33E5DF6B-FE37-8D38-A0CA-9E1B6A9DD41E}"/>
              </a:ext>
            </a:extLst>
          </p:cNvPr>
          <p:cNvPicPr>
            <a:picLocks noChangeAspect="1"/>
          </p:cNvPicPr>
          <p:nvPr/>
        </p:nvPicPr>
        <p:blipFill>
          <a:blip r:embed="rId5"/>
          <a:stretch>
            <a:fillRect/>
          </a:stretch>
        </p:blipFill>
        <p:spPr>
          <a:xfrm>
            <a:off x="7751842" y="3397547"/>
            <a:ext cx="2320202" cy="2133089"/>
          </a:xfrm>
          <a:prstGeom prst="rect">
            <a:avLst/>
          </a:prstGeom>
        </p:spPr>
      </p:pic>
      <p:sp>
        <p:nvSpPr>
          <p:cNvPr id="9" name="矩形 8">
            <a:extLst>
              <a:ext uri="{FF2B5EF4-FFF2-40B4-BE49-F238E27FC236}">
                <a16:creationId xmlns:a16="http://schemas.microsoft.com/office/drawing/2014/main" id="{0FA5735D-EFB0-25B5-7F65-C79F3812CD70}"/>
              </a:ext>
            </a:extLst>
          </p:cNvPr>
          <p:cNvSpPr/>
          <p:nvPr/>
        </p:nvSpPr>
        <p:spPr>
          <a:xfrm>
            <a:off x="5188876" y="5436314"/>
            <a:ext cx="6480310" cy="415498"/>
          </a:xfrm>
          <a:prstGeom prst="rect">
            <a:avLst/>
          </a:prstGeom>
        </p:spPr>
        <p:txBody>
          <a:bodyPr wrap="square">
            <a:spAutoFit/>
          </a:bodyPr>
          <a:lstStyle/>
          <a:p>
            <a:pPr lvl="2"/>
            <a:r>
              <a:rPr lang="en-US" altLang="zh-CN" sz="1050" dirty="0"/>
              <a:t>Figure 5: </a:t>
            </a:r>
            <a:r>
              <a:rPr lang="en-US" altLang="zh-CN" sz="1050" i="1" dirty="0"/>
              <a:t>Lightweight Domain Adaptation with </a:t>
            </a:r>
            <a:r>
              <a:rPr lang="en-US" altLang="zh-CN" sz="1050" i="1" dirty="0" err="1"/>
              <a:t>LoRA</a:t>
            </a:r>
            <a:r>
              <a:rPr lang="en-US" altLang="zh-CN" sz="1050" i="1" dirty="0"/>
              <a:t>. Fine-tunes diffusion models efficiently to adapt to new visual domains.</a:t>
            </a:r>
            <a:endParaRPr lang="en-US" altLang="zh-CN" sz="1050" dirty="0"/>
          </a:p>
        </p:txBody>
      </p:sp>
      <p:sp>
        <p:nvSpPr>
          <p:cNvPr id="13" name="矩形 12">
            <a:extLst>
              <a:ext uri="{FF2B5EF4-FFF2-40B4-BE49-F238E27FC236}">
                <a16:creationId xmlns:a16="http://schemas.microsoft.com/office/drawing/2014/main" id="{75E5DDDE-697D-5041-A8FB-3B4352CD5634}"/>
              </a:ext>
            </a:extLst>
          </p:cNvPr>
          <p:cNvSpPr/>
          <p:nvPr/>
        </p:nvSpPr>
        <p:spPr>
          <a:xfrm>
            <a:off x="26335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Arial" panose="020B0604020202020204" pitchFamily="34" charset="0"/>
              </a:rPr>
              <a:t>[6] </a:t>
            </a:r>
            <a:r>
              <a:rPr kumimoji="0" lang="zh-CN" altLang="zh-CN" sz="900" b="0" i="0" u="none" strike="noStrike" cap="none" normalizeH="0" baseline="0" dirty="0">
                <a:ln>
                  <a:noFill/>
                </a:ln>
                <a:solidFill>
                  <a:schemeClr val="tx1"/>
                </a:solidFill>
                <a:effectLst/>
                <a:latin typeface="Arial" panose="020B0604020202020204" pitchFamily="34" charset="0"/>
              </a:rPr>
              <a:t>Zhang, L., Rao, A., &amp; Agrawala, M., </a:t>
            </a:r>
            <a:r>
              <a:rPr kumimoji="0" lang="zh-CN" altLang="zh-CN" sz="900" b="0" i="1" u="none" strike="noStrike" cap="none" normalizeH="0" baseline="0" dirty="0">
                <a:ln>
                  <a:noFill/>
                </a:ln>
                <a:solidFill>
                  <a:schemeClr val="tx1"/>
                </a:solidFill>
                <a:effectLst/>
                <a:latin typeface="Arial" panose="020B0604020202020204" pitchFamily="34" charset="0"/>
              </a:rPr>
              <a:t>Adding Conditional Control to Text-to-Image Diffusion Models</a:t>
            </a:r>
            <a:r>
              <a:rPr kumimoji="0" lang="zh-CN" altLang="zh-CN" sz="900" b="0" i="0" u="none" strike="noStrike" cap="none" normalizeH="0" baseline="0" dirty="0">
                <a:ln>
                  <a:noFill/>
                </a:ln>
                <a:solidFill>
                  <a:schemeClr val="tx1"/>
                </a:solidFill>
                <a:effectLst/>
                <a:latin typeface="Arial" panose="020B0604020202020204" pitchFamily="34" charset="0"/>
              </a:rPr>
              <a:t>, ICCV 2023.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Arial" panose="020B0604020202020204" pitchFamily="34" charset="0"/>
              </a:rPr>
              <a:t>[7] </a:t>
            </a:r>
            <a:r>
              <a:rPr kumimoji="0" lang="zh-CN" altLang="zh-CN" sz="900" b="0" i="0" u="none" strike="noStrike" cap="none" normalizeH="0" baseline="0" dirty="0">
                <a:ln>
                  <a:noFill/>
                </a:ln>
                <a:solidFill>
                  <a:schemeClr val="tx1"/>
                </a:solidFill>
                <a:effectLst/>
                <a:latin typeface="Arial" panose="020B0604020202020204" pitchFamily="34" charset="0"/>
              </a:rPr>
              <a:t>Hu, E. J. </a:t>
            </a:r>
            <a:r>
              <a:rPr kumimoji="0" lang="zh-CN" altLang="zh-CN" sz="900" b="0" i="1" u="none" strike="noStrike" cap="none" normalizeH="0" baseline="0" dirty="0">
                <a:ln>
                  <a:noFill/>
                </a:ln>
                <a:solidFill>
                  <a:schemeClr val="tx1"/>
                </a:solidFill>
                <a:effectLst/>
                <a:latin typeface="Arial" panose="020B0604020202020204" pitchFamily="34" charset="0"/>
              </a:rPr>
              <a:t>et al.</a:t>
            </a:r>
            <a:r>
              <a:rPr kumimoji="0" lang="zh-CN" altLang="zh-CN" sz="900" b="0" i="0" u="none" strike="noStrike" cap="none" normalizeH="0" baseline="0" dirty="0">
                <a:ln>
                  <a:noFill/>
                </a:ln>
                <a:solidFill>
                  <a:schemeClr val="tx1"/>
                </a:solidFill>
                <a:effectLst/>
                <a:latin typeface="Arial" panose="020B0604020202020204" pitchFamily="34" charset="0"/>
              </a:rPr>
              <a:t>, </a:t>
            </a:r>
            <a:r>
              <a:rPr kumimoji="0" lang="zh-CN" altLang="zh-CN" sz="900" b="0" i="1" u="none" strike="noStrike" cap="none" normalizeH="0" baseline="0" dirty="0">
                <a:ln>
                  <a:noFill/>
                </a:ln>
                <a:solidFill>
                  <a:schemeClr val="tx1"/>
                </a:solidFill>
                <a:effectLst/>
                <a:latin typeface="Arial" panose="020B0604020202020204" pitchFamily="34" charset="0"/>
              </a:rPr>
              <a:t>LoRA: Low-Rank Adaptation of Large Language Models</a:t>
            </a:r>
            <a:r>
              <a:rPr kumimoji="0" lang="zh-CN" altLang="zh-CN" sz="900" b="0" i="0" u="none" strike="noStrike" cap="none" normalizeH="0" baseline="0" dirty="0">
                <a:ln>
                  <a:noFill/>
                </a:ln>
                <a:solidFill>
                  <a:schemeClr val="tx1"/>
                </a:solidFill>
                <a:effectLst/>
                <a:latin typeface="Arial" panose="020B0604020202020204" pitchFamily="34" charset="0"/>
              </a:rPr>
              <a:t>, ICLR 2022.</a:t>
            </a:r>
          </a:p>
        </p:txBody>
      </p:sp>
    </p:spTree>
    <p:extLst>
      <p:ext uri="{BB962C8B-B14F-4D97-AF65-F5344CB8AC3E}">
        <p14:creationId xmlns:p14="http://schemas.microsoft.com/office/powerpoint/2010/main" val="16245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BB607EE-D3DB-5055-DA72-410BBF051C35}"/>
              </a:ext>
            </a:extLst>
          </p:cNvPr>
          <p:cNvSpPr txBox="1">
            <a:spLocks/>
          </p:cNvSpPr>
          <p:nvPr/>
        </p:nvSpPr>
        <p:spPr>
          <a:xfrm>
            <a:off x="634199" y="1844824"/>
            <a:ext cx="9406606" cy="2736304"/>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dirty="0"/>
              <a:t>Research Tasks:</a:t>
            </a:r>
          </a:p>
          <a:p>
            <a:pPr marL="581778" lvl="3" indent="-342900">
              <a:lnSpc>
                <a:spcPct val="150000"/>
              </a:lnSpc>
              <a:buFont typeface="+mj-lt"/>
              <a:buAutoNum type="arabicPeriod"/>
            </a:pPr>
            <a:r>
              <a:rPr lang="en-US" altLang="zh-CN" sz="1600" dirty="0"/>
              <a:t>Quantify the domain gap between real and synthetic data</a:t>
            </a:r>
          </a:p>
          <a:p>
            <a:pPr marL="581778" lvl="3" indent="-342900">
              <a:lnSpc>
                <a:spcPct val="150000"/>
              </a:lnSpc>
              <a:buFont typeface="+mj-lt"/>
              <a:buAutoNum type="arabicPeriod"/>
            </a:pPr>
            <a:r>
              <a:rPr lang="en-US" altLang="zh-CN" sz="1600" dirty="0"/>
              <a:t>Evaluate cross-domain robustness</a:t>
            </a:r>
          </a:p>
          <a:p>
            <a:pPr marL="581778" lvl="3" indent="-342900">
              <a:lnSpc>
                <a:spcPct val="150000"/>
              </a:lnSpc>
              <a:buFont typeface="+mj-lt"/>
              <a:buAutoNum type="arabicPeriod"/>
            </a:pPr>
            <a:r>
              <a:rPr lang="en-US" altLang="zh-CN" sz="1600" dirty="0"/>
              <a:t>Assess realism and annotation consistency</a:t>
            </a:r>
          </a:p>
          <a:p>
            <a:pPr marL="581778" lvl="3" indent="-342900">
              <a:lnSpc>
                <a:spcPct val="150000"/>
              </a:lnSpc>
              <a:buFont typeface="+mj-lt"/>
              <a:buAutoNum type="arabicPeriod"/>
            </a:pPr>
            <a:r>
              <a:rPr lang="en-US" altLang="zh-CN" sz="1600" dirty="0"/>
              <a:t>Provide best practices for generative data use</a:t>
            </a:r>
          </a:p>
          <a:p>
            <a:pPr marL="581778" lvl="3" indent="-342900">
              <a:lnSpc>
                <a:spcPct val="150000"/>
              </a:lnSpc>
              <a:buFont typeface="+mj-lt"/>
              <a:buAutoNum type="arabicPeriod"/>
            </a:pPr>
            <a:r>
              <a:rPr lang="en-US" altLang="zh-CN" sz="1600" dirty="0"/>
              <a:t>Identify component contributions via ablation studies</a:t>
            </a:r>
          </a:p>
        </p:txBody>
      </p:sp>
      <p:sp>
        <p:nvSpPr>
          <p:cNvPr id="3" name="Title 1">
            <a:extLst>
              <a:ext uri="{FF2B5EF4-FFF2-40B4-BE49-F238E27FC236}">
                <a16:creationId xmlns:a16="http://schemas.microsoft.com/office/drawing/2014/main" id="{4B20524E-B244-B54D-1DD3-B39912922ED0}"/>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Research Objective</a:t>
            </a:r>
            <a:endParaRPr lang="en-AU" altLang="zh-CN" sz="2400" dirty="0"/>
          </a:p>
        </p:txBody>
      </p:sp>
      <p:sp>
        <p:nvSpPr>
          <p:cNvPr id="6" name="Content Placeholder 2">
            <a:extLst>
              <a:ext uri="{FF2B5EF4-FFF2-40B4-BE49-F238E27FC236}">
                <a16:creationId xmlns:a16="http://schemas.microsoft.com/office/drawing/2014/main" id="{2B338EEA-349B-AEEF-BCF9-7644ECF2DC27}"/>
              </a:ext>
            </a:extLst>
          </p:cNvPr>
          <p:cNvSpPr txBox="1">
            <a:spLocks/>
          </p:cNvSpPr>
          <p:nvPr/>
        </p:nvSpPr>
        <p:spPr>
          <a:xfrm>
            <a:off x="634198" y="1264161"/>
            <a:ext cx="9782281" cy="854898"/>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pPr marL="238878" lvl="3" indent="0">
              <a:lnSpc>
                <a:spcPct val="150000"/>
              </a:lnSpc>
              <a:buNone/>
            </a:pPr>
            <a:r>
              <a:rPr lang="en-US" altLang="zh-CN" sz="1600" b="1" dirty="0"/>
              <a:t>Research Objective: Evaluate the effectiveness and reliability of synthetic data in object detection.</a:t>
            </a:r>
            <a:endParaRPr lang="en-US" altLang="zh-CN" sz="2000" b="1" dirty="0"/>
          </a:p>
        </p:txBody>
      </p:sp>
    </p:spTree>
    <p:extLst>
      <p:ext uri="{BB962C8B-B14F-4D97-AF65-F5344CB8AC3E}">
        <p14:creationId xmlns:p14="http://schemas.microsoft.com/office/powerpoint/2010/main" val="2931462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日程表&#10;&#10;描述已自动生成">
            <a:extLst>
              <a:ext uri="{FF2B5EF4-FFF2-40B4-BE49-F238E27FC236}">
                <a16:creationId xmlns:a16="http://schemas.microsoft.com/office/drawing/2014/main" id="{0095EC02-623F-8FEB-3899-84BA950A6F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9752" y="1177007"/>
            <a:ext cx="6892329" cy="4004881"/>
          </a:xfrm>
          <a:prstGeom prst="rect">
            <a:avLst/>
          </a:prstGeom>
        </p:spPr>
      </p:pic>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5246344" cy="2125064"/>
          </a:xfrm>
        </p:spPr>
        <p:txBody>
          <a:bodyPr/>
          <a:lstStyle/>
          <a:p>
            <a:pPr lvl="2" indent="0">
              <a:buNone/>
            </a:pPr>
            <a:r>
              <a:rPr lang="en-US" altLang="zh-CN" sz="2000" dirty="0"/>
              <a:t>A closed-loop research framework includes:</a:t>
            </a:r>
          </a:p>
          <a:p>
            <a:pPr>
              <a:buFont typeface="+mj-lt"/>
              <a:buAutoNum type="arabicPeriod"/>
            </a:pPr>
            <a:r>
              <a:rPr lang="en-US" altLang="zh-CN" sz="2000" b="0" dirty="0"/>
              <a:t>Controlled data generation</a:t>
            </a:r>
          </a:p>
          <a:p>
            <a:pPr>
              <a:buFont typeface="+mj-lt"/>
              <a:buAutoNum type="arabicPeriod"/>
            </a:pPr>
            <a:r>
              <a:rPr lang="en-US" altLang="zh-CN" sz="2000" b="0" dirty="0"/>
              <a:t>Quality filtering</a:t>
            </a:r>
          </a:p>
          <a:p>
            <a:pPr>
              <a:buFont typeface="+mj-lt"/>
              <a:buAutoNum type="arabicPeriod"/>
            </a:pPr>
            <a:r>
              <a:rPr lang="en-US" altLang="zh-CN" sz="2000" b="0" dirty="0"/>
              <a:t>Detector training</a:t>
            </a:r>
          </a:p>
          <a:p>
            <a:pPr>
              <a:buFont typeface="+mj-lt"/>
              <a:buAutoNum type="arabicPeriod"/>
            </a:pPr>
            <a:r>
              <a:rPr lang="en-US" altLang="zh-CN" sz="2000" b="0" dirty="0"/>
              <a:t>Multi-level evaluation</a:t>
            </a:r>
          </a:p>
          <a:p>
            <a:pPr lvl="3"/>
            <a:endParaRPr lang="en-US" altLang="zh-CN" sz="1800" b="1" dirty="0">
              <a:latin typeface="+mn-ea"/>
            </a:endParaRPr>
          </a:p>
        </p:txBody>
      </p:sp>
      <p:sp>
        <p:nvSpPr>
          <p:cNvPr id="5" name="矩形 4">
            <a:extLst>
              <a:ext uri="{FF2B5EF4-FFF2-40B4-BE49-F238E27FC236}">
                <a16:creationId xmlns:a16="http://schemas.microsoft.com/office/drawing/2014/main" id="{93776D03-BA43-5424-4C22-E730FCE6CE89}"/>
              </a:ext>
            </a:extLst>
          </p:cNvPr>
          <p:cNvSpPr/>
          <p:nvPr/>
        </p:nvSpPr>
        <p:spPr>
          <a:xfrm>
            <a:off x="4156288" y="5373216"/>
            <a:ext cx="6192688" cy="307777"/>
          </a:xfrm>
          <a:prstGeom prst="rect">
            <a:avLst/>
          </a:prstGeom>
        </p:spPr>
        <p:txBody>
          <a:bodyPr wrap="square">
            <a:spAutoFit/>
          </a:bodyPr>
          <a:lstStyle/>
          <a:p>
            <a:pPr lvl="2"/>
            <a:r>
              <a:rPr lang="en-US" altLang="zh-CN" sz="1400" dirty="0"/>
              <a:t>Figure 6: Pipeline of the closed-loop research framework. </a:t>
            </a:r>
          </a:p>
        </p:txBody>
      </p:sp>
      <p:sp>
        <p:nvSpPr>
          <p:cNvPr id="4" name="Title 1">
            <a:extLst>
              <a:ext uri="{FF2B5EF4-FFF2-40B4-BE49-F238E27FC236}">
                <a16:creationId xmlns:a16="http://schemas.microsoft.com/office/drawing/2014/main" id="{2C0AA985-8F0B-5ED7-85C9-A6E875C42E27}"/>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Research Framework</a:t>
            </a:r>
            <a:endParaRPr lang="en-AU" altLang="zh-CN" sz="2400" dirty="0"/>
          </a:p>
        </p:txBody>
      </p:sp>
    </p:spTree>
    <p:extLst>
      <p:ext uri="{BB962C8B-B14F-4D97-AF65-F5344CB8AC3E}">
        <p14:creationId xmlns:p14="http://schemas.microsoft.com/office/powerpoint/2010/main" val="4092715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C0AA985-8F0B-5ED7-85C9-A6E875C42E27}"/>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Dataset</a:t>
            </a:r>
            <a:endParaRPr lang="en-AU" altLang="zh-CN" sz="2400" dirty="0"/>
          </a:p>
          <a:p>
            <a:endParaRPr lang="en-AU" altLang="zh-CN" sz="2400" dirty="0"/>
          </a:p>
        </p:txBody>
      </p:sp>
      <p:sp>
        <p:nvSpPr>
          <p:cNvPr id="8" name="Content Placeholder 2">
            <a:extLst>
              <a:ext uri="{FF2B5EF4-FFF2-40B4-BE49-F238E27FC236}">
                <a16:creationId xmlns:a16="http://schemas.microsoft.com/office/drawing/2014/main" id="{FBFB0009-BF9F-F329-8EE3-BA98368D8B67}"/>
              </a:ext>
            </a:extLst>
          </p:cNvPr>
          <p:cNvSpPr txBox="1">
            <a:spLocks/>
          </p:cNvSpPr>
          <p:nvPr/>
        </p:nvSpPr>
        <p:spPr>
          <a:xfrm>
            <a:off x="345600" y="1076637"/>
            <a:ext cx="10934976" cy="2568387"/>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a:lstStyle>
          <a:p>
            <a:r>
              <a:rPr lang="en-US" altLang="zh-CN" sz="1400" dirty="0"/>
              <a:t>Dataset Strategy</a:t>
            </a:r>
            <a:r>
              <a:rPr lang="zh-CN" altLang="en-US" sz="1400" dirty="0"/>
              <a:t>：</a:t>
            </a:r>
            <a:r>
              <a:rPr lang="en-US" altLang="zh-CN" sz="1400" b="0" dirty="0"/>
              <a:t>Validate pipeline on standard benchmarks, then test on niche, domain-specific datasets.</a:t>
            </a:r>
          </a:p>
          <a:p>
            <a:r>
              <a:rPr lang="en-US" altLang="zh-CN" sz="1400" dirty="0"/>
              <a:t>Benchmarks</a:t>
            </a:r>
          </a:p>
          <a:p>
            <a:r>
              <a:rPr lang="en-US" altLang="zh-CN" sz="1400" b="0" dirty="0"/>
              <a:t>→ COCO</a:t>
            </a:r>
            <a:r>
              <a:rPr lang="en-US" altLang="zh-CN" sz="1400" b="0" baseline="30000" dirty="0"/>
              <a:t>[8]</a:t>
            </a:r>
            <a:r>
              <a:rPr lang="en-US" altLang="zh-CN" sz="1400" b="0" dirty="0"/>
              <a:t> and PASCAL VOC</a:t>
            </a:r>
            <a:r>
              <a:rPr lang="en-US" altLang="zh-CN" sz="1400" b="0" baseline="30000" dirty="0"/>
              <a:t>[9]</a:t>
            </a:r>
            <a:r>
              <a:rPr lang="en-US" altLang="zh-CN" sz="1400" b="0" dirty="0"/>
              <a:t>.</a:t>
            </a:r>
          </a:p>
          <a:p>
            <a:r>
              <a:rPr lang="en-US" altLang="zh-CN" sz="1400" b="0" dirty="0"/>
              <a:t>→ Use both </a:t>
            </a:r>
            <a:r>
              <a:rPr lang="en-US" altLang="zh-CN" sz="1400" dirty="0"/>
              <a:t>full sets </a:t>
            </a:r>
            <a:r>
              <a:rPr lang="en-US" altLang="zh-CN" sz="1400" b="0" dirty="0"/>
              <a:t>and </a:t>
            </a:r>
            <a:r>
              <a:rPr lang="en-US" altLang="zh-CN" sz="1400" dirty="0"/>
              <a:t>reduced subsets </a:t>
            </a:r>
            <a:r>
              <a:rPr lang="en-US" altLang="zh-CN" sz="1400" b="0" dirty="0"/>
              <a:t>to simulate limited data.</a:t>
            </a:r>
          </a:p>
          <a:p>
            <a:r>
              <a:rPr lang="en-US" altLang="zh-CN" sz="1400" dirty="0"/>
              <a:t>Niche &amp; Real-world Datasets</a:t>
            </a:r>
          </a:p>
          <a:p>
            <a:r>
              <a:rPr lang="en-US" altLang="zh-CN" sz="1400" b="0" dirty="0"/>
              <a:t>→ Autonomous driving datasets (e.g., from </a:t>
            </a:r>
            <a:r>
              <a:rPr lang="en-US" altLang="zh-CN" sz="1400" b="0" dirty="0" err="1"/>
              <a:t>Roboflow</a:t>
            </a:r>
            <a:r>
              <a:rPr lang="en-US" altLang="zh-CN" sz="1400" b="0" dirty="0"/>
              <a:t>, Kaggle) — rare categories &amp; adverse conditions.</a:t>
            </a:r>
          </a:p>
          <a:p>
            <a:r>
              <a:rPr lang="en-US" altLang="zh-CN" sz="1400" b="0" dirty="0"/>
              <a:t>→ </a:t>
            </a:r>
            <a:r>
              <a:rPr lang="en-US" altLang="zh-CN" sz="1400" b="0" dirty="0" err="1"/>
              <a:t>LoRA</a:t>
            </a:r>
            <a:r>
              <a:rPr lang="en-US" altLang="zh-CN" sz="1400" b="0" dirty="0"/>
              <a:t> fine-tuning on small real-world image sets for realistic textures &amp; lighting.</a:t>
            </a:r>
          </a:p>
        </p:txBody>
      </p:sp>
      <p:pic>
        <p:nvPicPr>
          <p:cNvPr id="10" name="图片 9" descr="表格&#10;&#10;描述已自动生成">
            <a:extLst>
              <a:ext uri="{FF2B5EF4-FFF2-40B4-BE49-F238E27FC236}">
                <a16:creationId xmlns:a16="http://schemas.microsoft.com/office/drawing/2014/main" id="{04C768B4-5F1E-06DF-A0DC-24D2C49D8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632" y="4161183"/>
            <a:ext cx="6480721" cy="1620180"/>
          </a:xfrm>
          <a:prstGeom prst="rect">
            <a:avLst/>
          </a:prstGeom>
        </p:spPr>
      </p:pic>
      <p:sp>
        <p:nvSpPr>
          <p:cNvPr id="11" name="矩形 10">
            <a:extLst>
              <a:ext uri="{FF2B5EF4-FFF2-40B4-BE49-F238E27FC236}">
                <a16:creationId xmlns:a16="http://schemas.microsoft.com/office/drawing/2014/main" id="{76C7EBD0-646B-5F85-C15C-2BE925FE4DC7}"/>
              </a:ext>
            </a:extLst>
          </p:cNvPr>
          <p:cNvSpPr/>
          <p:nvPr/>
        </p:nvSpPr>
        <p:spPr>
          <a:xfrm>
            <a:off x="1631504" y="3863198"/>
            <a:ext cx="8208912" cy="307777"/>
          </a:xfrm>
          <a:prstGeom prst="rect">
            <a:avLst/>
          </a:prstGeom>
        </p:spPr>
        <p:txBody>
          <a:bodyPr wrap="square">
            <a:spAutoFit/>
          </a:bodyPr>
          <a:lstStyle/>
          <a:p>
            <a:pPr lvl="2"/>
            <a:r>
              <a:rPr lang="en-US" altLang="zh-CN" sz="1400" dirty="0"/>
              <a:t>Table 1: Comparison of different methods across benchmark and niche datasets.</a:t>
            </a:r>
          </a:p>
        </p:txBody>
      </p:sp>
      <p:sp>
        <p:nvSpPr>
          <p:cNvPr id="12" name="矩形 11">
            <a:extLst>
              <a:ext uri="{FF2B5EF4-FFF2-40B4-BE49-F238E27FC236}">
                <a16:creationId xmlns:a16="http://schemas.microsoft.com/office/drawing/2014/main" id="{2D81187D-7C5D-133D-5BB0-614DD55E6950}"/>
              </a:ext>
            </a:extLst>
          </p:cNvPr>
          <p:cNvSpPr/>
          <p:nvPr/>
        </p:nvSpPr>
        <p:spPr>
          <a:xfrm>
            <a:off x="26335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[8] </a:t>
            </a:r>
            <a:r>
              <a:rPr lang="en-US" altLang="zh-CN" sz="900" dirty="0"/>
              <a:t>Lin </a:t>
            </a:r>
            <a:r>
              <a:rPr lang="en-US" altLang="zh-CN" sz="900" i="1" dirty="0"/>
              <a:t>et al.</a:t>
            </a:r>
            <a:r>
              <a:rPr lang="en-US" altLang="zh-CN" sz="900" dirty="0"/>
              <a:t>, </a:t>
            </a:r>
            <a:r>
              <a:rPr lang="en-US" altLang="zh-CN" sz="900" i="1" dirty="0"/>
              <a:t>Microsoft COCO: Common Objects in Context</a:t>
            </a:r>
            <a:r>
              <a:rPr lang="en-US" altLang="zh-CN" sz="900" dirty="0"/>
              <a:t>, ECCV 2014.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[9] Everingham </a:t>
            </a:r>
            <a:r>
              <a:rPr kumimoji="0" lang="en-US" altLang="zh-CN" sz="900" b="0" i="1" u="none" strike="noStrike" cap="none" normalizeH="0" baseline="0" dirty="0">
                <a:ln>
                  <a:noFill/>
                </a:ln>
                <a:solidFill>
                  <a:schemeClr val="tx1"/>
                </a:solidFill>
                <a:effectLst/>
              </a:rPr>
              <a:t>et al., The PASCAL Visual Object Classes (VOC) Challenge</a:t>
            </a:r>
            <a:r>
              <a:rPr kumimoji="0" lang="en-US" altLang="zh-CN" sz="900" b="0" i="0" u="none" strike="noStrike" cap="none" normalizeH="0" baseline="0" dirty="0">
                <a:ln>
                  <a:noFill/>
                </a:ln>
                <a:solidFill>
                  <a:schemeClr val="tx1"/>
                </a:solidFill>
                <a:effectLst/>
              </a:rPr>
              <a:t>, IJCV 2010</a:t>
            </a:r>
            <a:r>
              <a:rPr kumimoji="0" lang="zh-CN" altLang="zh-CN" sz="9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143654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5030320" cy="4176464"/>
          </a:xfrm>
        </p:spPr>
        <p:txBody>
          <a:bodyPr/>
          <a:lstStyle/>
          <a:p>
            <a:pPr lvl="2"/>
            <a:r>
              <a:rPr lang="en-US" altLang="zh-CN" sz="2000" dirty="0"/>
              <a:t>Framework: </a:t>
            </a:r>
            <a:r>
              <a:rPr lang="en-US" altLang="zh-CN" sz="2000" dirty="0" err="1"/>
              <a:t>ComfyUI</a:t>
            </a:r>
            <a:endParaRPr lang="en-US" altLang="zh-CN" sz="2000" dirty="0"/>
          </a:p>
          <a:p>
            <a:pPr lvl="3"/>
            <a:r>
              <a:rPr lang="en-US" altLang="zh-CN" sz="2000" dirty="0"/>
              <a:t>modular, node-based workflow</a:t>
            </a:r>
          </a:p>
          <a:p>
            <a:pPr lvl="3"/>
            <a:r>
              <a:rPr lang="en-US" altLang="zh-CN" sz="2000" dirty="0"/>
              <a:t>flexible combination &amp; reproducibility</a:t>
            </a:r>
          </a:p>
          <a:p>
            <a:pPr lvl="2"/>
            <a:r>
              <a:rPr lang="en-US" altLang="zh-CN" sz="2000" dirty="0"/>
              <a:t>Core Models: Stable Diffusion, FLUX</a:t>
            </a:r>
          </a:p>
          <a:p>
            <a:pPr lvl="2"/>
            <a:r>
              <a:rPr lang="en-US" altLang="zh-CN" sz="2000" dirty="0"/>
              <a:t>Structural Control: ControlNet</a:t>
            </a:r>
          </a:p>
          <a:p>
            <a:pPr lvl="3"/>
            <a:r>
              <a:rPr lang="en-US" altLang="zh-CN" sz="2000" dirty="0"/>
              <a:t>visual prior conditioning</a:t>
            </a:r>
          </a:p>
          <a:p>
            <a:pPr lvl="3"/>
            <a:r>
              <a:rPr lang="en-US" altLang="zh-CN" sz="2000" dirty="0"/>
              <a:t>ensures spatial and label consistency</a:t>
            </a:r>
          </a:p>
          <a:p>
            <a:pPr lvl="2"/>
            <a:r>
              <a:rPr lang="en-US" altLang="zh-CN" sz="2000" dirty="0"/>
              <a:t>Lightweight Adaptation: </a:t>
            </a:r>
            <a:r>
              <a:rPr lang="en-US" altLang="zh-CN" sz="2000" dirty="0" err="1"/>
              <a:t>LoRA</a:t>
            </a:r>
            <a:endParaRPr lang="en-US" altLang="zh-CN" sz="2000" dirty="0"/>
          </a:p>
          <a:p>
            <a:pPr lvl="3"/>
            <a:r>
              <a:rPr lang="en-US" altLang="zh-CN" sz="2000" dirty="0"/>
              <a:t>efficient domain fine-tuning</a:t>
            </a:r>
          </a:p>
          <a:p>
            <a:pPr lvl="3"/>
            <a:r>
              <a:rPr lang="en-US" altLang="zh-CN" sz="2000" dirty="0"/>
              <a:t>improves realism without full retraining</a:t>
            </a:r>
          </a:p>
          <a:p>
            <a:pPr marL="238878" lvl="3" indent="0">
              <a:buNone/>
            </a:pPr>
            <a:endParaRPr lang="en-US" altLang="zh-CN" sz="1800" b="1" dirty="0">
              <a:latin typeface="+mn-ea"/>
            </a:endParaRPr>
          </a:p>
        </p:txBody>
      </p:sp>
      <p:sp>
        <p:nvSpPr>
          <p:cNvPr id="11" name="矩形 10">
            <a:extLst>
              <a:ext uri="{FF2B5EF4-FFF2-40B4-BE49-F238E27FC236}">
                <a16:creationId xmlns:a16="http://schemas.microsoft.com/office/drawing/2014/main" id="{B2C23386-5EBA-DE8D-33AD-C707471DFCA2}"/>
              </a:ext>
            </a:extLst>
          </p:cNvPr>
          <p:cNvSpPr/>
          <p:nvPr/>
        </p:nvSpPr>
        <p:spPr>
          <a:xfrm>
            <a:off x="3935760" y="5538466"/>
            <a:ext cx="7992888" cy="307777"/>
          </a:xfrm>
          <a:prstGeom prst="rect">
            <a:avLst/>
          </a:prstGeom>
        </p:spPr>
        <p:txBody>
          <a:bodyPr wrap="square">
            <a:spAutoFit/>
          </a:bodyPr>
          <a:lstStyle/>
          <a:p>
            <a:pPr lvl="2"/>
            <a:r>
              <a:rPr lang="en-US" altLang="zh-CN" sz="1400" dirty="0"/>
              <a:t>Figure 7: Current </a:t>
            </a:r>
            <a:r>
              <a:rPr lang="en-US" altLang="zh-CN" sz="1400" dirty="0" err="1"/>
              <a:t>ComfyUI</a:t>
            </a:r>
            <a:r>
              <a:rPr lang="en-US" altLang="zh-CN" sz="1400" dirty="0"/>
              <a:t> workflow using SD3.5 and canny </a:t>
            </a:r>
            <a:r>
              <a:rPr lang="en-US" altLang="zh-CN" sz="1400" dirty="0" err="1"/>
              <a:t>controlnet</a:t>
            </a:r>
            <a:r>
              <a:rPr lang="en-US" altLang="zh-CN" sz="1400" dirty="0"/>
              <a:t> generation.</a:t>
            </a:r>
          </a:p>
        </p:txBody>
      </p:sp>
      <p:sp>
        <p:nvSpPr>
          <p:cNvPr id="4" name="Title 1">
            <a:extLst>
              <a:ext uri="{FF2B5EF4-FFF2-40B4-BE49-F238E27FC236}">
                <a16:creationId xmlns:a16="http://schemas.microsoft.com/office/drawing/2014/main" id="{6F0B6A58-F06E-61BC-82A4-033D1F063F03}"/>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Generation Pipeline</a:t>
            </a:r>
            <a:endParaRPr lang="en-AU" altLang="zh-CN" sz="2400" dirty="0"/>
          </a:p>
        </p:txBody>
      </p:sp>
      <p:pic>
        <p:nvPicPr>
          <p:cNvPr id="13" name="图片 12" descr="图片包含 照片, 展示, 不同, 显示&#10;&#10;描述已自动生成">
            <a:extLst>
              <a:ext uri="{FF2B5EF4-FFF2-40B4-BE49-F238E27FC236}">
                <a16:creationId xmlns:a16="http://schemas.microsoft.com/office/drawing/2014/main" id="{87262951-111A-3A70-0A2A-1AD6148B1B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199" y="906920"/>
            <a:ext cx="6435011" cy="4538304"/>
          </a:xfrm>
          <a:prstGeom prst="rect">
            <a:avLst/>
          </a:prstGeom>
        </p:spPr>
      </p:pic>
    </p:spTree>
    <p:extLst>
      <p:ext uri="{BB962C8B-B14F-4D97-AF65-F5344CB8AC3E}">
        <p14:creationId xmlns:p14="http://schemas.microsoft.com/office/powerpoint/2010/main" val="2466218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268760"/>
            <a:ext cx="6830520" cy="2880320"/>
          </a:xfrm>
        </p:spPr>
        <p:txBody>
          <a:bodyPr/>
          <a:lstStyle/>
          <a:p>
            <a:pPr lvl="2"/>
            <a:r>
              <a:rPr lang="en-US" altLang="zh-CN" sz="2000" dirty="0">
                <a:latin typeface="+mn-ea"/>
              </a:rPr>
              <a:t>Detection Models: YOLO, Faster R-CNN, RT-DETR</a:t>
            </a:r>
          </a:p>
          <a:p>
            <a:pPr lvl="3"/>
            <a:r>
              <a:rPr lang="en-US" altLang="zh-CN" sz="1800" dirty="0">
                <a:latin typeface="+mn-ea"/>
              </a:rPr>
              <a:t>balance between accuracy and real-time efficiency</a:t>
            </a:r>
          </a:p>
          <a:p>
            <a:pPr lvl="2"/>
            <a:r>
              <a:rPr lang="en-US" altLang="zh-CN" sz="2000" dirty="0">
                <a:latin typeface="+mn-ea"/>
              </a:rPr>
              <a:t>Training Strategy</a:t>
            </a:r>
          </a:p>
          <a:p>
            <a:pPr lvl="3"/>
            <a:r>
              <a:rPr lang="en-US" altLang="zh-CN" sz="1800" dirty="0">
                <a:latin typeface="+mn-ea"/>
              </a:rPr>
              <a:t>mixed ratios of real &amp; synthetic data</a:t>
            </a:r>
          </a:p>
          <a:p>
            <a:pPr lvl="2"/>
            <a:r>
              <a:rPr lang="en-US" altLang="zh-CN" sz="2000" dirty="0">
                <a:latin typeface="+mn-ea"/>
              </a:rPr>
              <a:t>Objective</a:t>
            </a:r>
          </a:p>
          <a:p>
            <a:pPr lvl="3"/>
            <a:r>
              <a:rPr lang="en-US" altLang="zh-CN" sz="1800" dirty="0">
                <a:latin typeface="+mn-ea"/>
              </a:rPr>
              <a:t>quantify value of generative data</a:t>
            </a:r>
          </a:p>
          <a:p>
            <a:pPr lvl="3"/>
            <a:r>
              <a:rPr lang="en-US" altLang="zh-CN" sz="1800" dirty="0">
                <a:latin typeface="+mn-ea"/>
              </a:rPr>
              <a:t>identify optimal balance for cost-effective training</a:t>
            </a:r>
            <a:br>
              <a:rPr lang="en-US" altLang="zh-CN" sz="1400" dirty="0"/>
            </a:br>
            <a:endParaRPr lang="en-US" altLang="zh-CN" sz="1600" b="1" dirty="0">
              <a:latin typeface="+mn-ea"/>
            </a:endParaRPr>
          </a:p>
        </p:txBody>
      </p:sp>
      <p:pic>
        <p:nvPicPr>
          <p:cNvPr id="8" name="图片 7" descr="形状&#10;&#10;低可信度描述已自动生成">
            <a:extLst>
              <a:ext uri="{FF2B5EF4-FFF2-40B4-BE49-F238E27FC236}">
                <a16:creationId xmlns:a16="http://schemas.microsoft.com/office/drawing/2014/main" id="{A98EB840-C58A-847E-2C64-5C4D787D8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6008" y="4567019"/>
            <a:ext cx="8208913" cy="1290836"/>
          </a:xfrm>
          <a:prstGeom prst="rect">
            <a:avLst/>
          </a:prstGeom>
        </p:spPr>
      </p:pic>
      <p:sp>
        <p:nvSpPr>
          <p:cNvPr id="9" name="矩形 8">
            <a:extLst>
              <a:ext uri="{FF2B5EF4-FFF2-40B4-BE49-F238E27FC236}">
                <a16:creationId xmlns:a16="http://schemas.microsoft.com/office/drawing/2014/main" id="{5B575147-D1AC-F3C1-F37F-10B24BCD5FA5}"/>
              </a:ext>
            </a:extLst>
          </p:cNvPr>
          <p:cNvSpPr/>
          <p:nvPr/>
        </p:nvSpPr>
        <p:spPr>
          <a:xfrm>
            <a:off x="1631504" y="4204161"/>
            <a:ext cx="8208912" cy="307777"/>
          </a:xfrm>
          <a:prstGeom prst="rect">
            <a:avLst/>
          </a:prstGeom>
        </p:spPr>
        <p:txBody>
          <a:bodyPr wrap="square">
            <a:spAutoFit/>
          </a:bodyPr>
          <a:lstStyle/>
          <a:p>
            <a:pPr lvl="2"/>
            <a:r>
              <a:rPr lang="en-US" altLang="zh-CN" sz="1400" dirty="0"/>
              <a:t>Table 2: Planned training configurations with different real–synthetic data ratios. </a:t>
            </a:r>
          </a:p>
        </p:txBody>
      </p:sp>
      <p:sp>
        <p:nvSpPr>
          <p:cNvPr id="6" name="Title 1">
            <a:extLst>
              <a:ext uri="{FF2B5EF4-FFF2-40B4-BE49-F238E27FC236}">
                <a16:creationId xmlns:a16="http://schemas.microsoft.com/office/drawing/2014/main" id="{656FAC83-33CF-13AD-8851-AC25CD70FFAC}"/>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Methodology: Downstream Task</a:t>
            </a:r>
            <a:endParaRPr lang="en-AU" altLang="zh-CN" sz="2400" dirty="0"/>
          </a:p>
        </p:txBody>
      </p:sp>
    </p:spTree>
    <p:extLst>
      <p:ext uri="{BB962C8B-B14F-4D97-AF65-F5344CB8AC3E}">
        <p14:creationId xmlns:p14="http://schemas.microsoft.com/office/powerpoint/2010/main" val="3487726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345600" y="1052736"/>
            <a:ext cx="5030320" cy="5112568"/>
          </a:xfrm>
        </p:spPr>
        <p:txBody>
          <a:bodyPr/>
          <a:lstStyle/>
          <a:p>
            <a:pPr lvl="2"/>
            <a:r>
              <a:rPr lang="en-US" altLang="zh-CN" sz="2000" dirty="0"/>
              <a:t>Downstream Performance</a:t>
            </a:r>
          </a:p>
          <a:p>
            <a:pPr lvl="3"/>
            <a:r>
              <a:rPr lang="en-US" altLang="zh-CN" sz="1800" dirty="0" err="1"/>
              <a:t>mAP</a:t>
            </a:r>
            <a:r>
              <a:rPr lang="en-US" altLang="zh-CN" sz="1800" dirty="0"/>
              <a:t>, AP50</a:t>
            </a:r>
          </a:p>
          <a:p>
            <a:pPr lvl="3"/>
            <a:r>
              <a:rPr lang="en-US" altLang="zh-CN" sz="1800" dirty="0"/>
              <a:t>task-oriented measure</a:t>
            </a:r>
          </a:p>
          <a:p>
            <a:pPr lvl="3"/>
            <a:endParaRPr lang="en-US" altLang="zh-CN" sz="1800" dirty="0"/>
          </a:p>
          <a:p>
            <a:pPr lvl="2"/>
            <a:r>
              <a:rPr lang="en-US" altLang="zh-CN" sz="2000" dirty="0"/>
              <a:t>Perceptual Quality</a:t>
            </a:r>
          </a:p>
          <a:p>
            <a:pPr lvl="3"/>
            <a:r>
              <a:rPr lang="en-US" altLang="zh-CN" sz="1800" dirty="0"/>
              <a:t>FID, IS</a:t>
            </a:r>
          </a:p>
          <a:p>
            <a:pPr lvl="3"/>
            <a:r>
              <a:rPr lang="en-US" altLang="zh-CN" sz="1800" dirty="0"/>
              <a:t>fidelity &amp; diversity</a:t>
            </a:r>
          </a:p>
          <a:p>
            <a:pPr lvl="2"/>
            <a:r>
              <a:rPr lang="en-US" altLang="zh-CN" sz="2000" dirty="0"/>
              <a:t>Semantic Consistency</a:t>
            </a:r>
          </a:p>
          <a:p>
            <a:pPr lvl="3"/>
            <a:r>
              <a:rPr lang="en-US" altLang="zh-CN" sz="1800" dirty="0"/>
              <a:t>CLIP</a:t>
            </a:r>
            <a:r>
              <a:rPr lang="en-US" altLang="zh-CN" sz="1800" baseline="30000" dirty="0"/>
              <a:t>[10]</a:t>
            </a:r>
            <a:r>
              <a:rPr lang="en-US" altLang="zh-CN" sz="1800" dirty="0"/>
              <a:t> / DINOv2</a:t>
            </a:r>
            <a:r>
              <a:rPr lang="en-US" altLang="zh-CN" sz="1800" baseline="30000" dirty="0"/>
              <a:t>[11]</a:t>
            </a:r>
            <a:r>
              <a:rPr lang="en-US" altLang="zh-CN" sz="1800" dirty="0"/>
              <a:t> Score</a:t>
            </a:r>
          </a:p>
          <a:p>
            <a:pPr lvl="3"/>
            <a:r>
              <a:rPr lang="en-US" altLang="zh-CN" sz="1800" dirty="0"/>
              <a:t>alignment with labels</a:t>
            </a:r>
          </a:p>
          <a:p>
            <a:pPr lvl="2"/>
            <a:r>
              <a:rPr lang="en-US" altLang="zh-CN" sz="2000" dirty="0"/>
              <a:t>Human Evaluation</a:t>
            </a:r>
          </a:p>
          <a:p>
            <a:pPr lvl="3"/>
            <a:r>
              <a:rPr lang="en-US" altLang="zh-CN" sz="1800" dirty="0"/>
              <a:t>subjective realism &amp; annotation faithfulness</a:t>
            </a:r>
          </a:p>
          <a:p>
            <a:pPr lvl="3"/>
            <a:r>
              <a:rPr lang="en-US" altLang="zh-CN" sz="1800" dirty="0"/>
              <a:t>complements automated metrics</a:t>
            </a:r>
            <a:endParaRPr lang="en-US" altLang="zh-CN" sz="1800" dirty="0">
              <a:latin typeface="+mn-ea"/>
            </a:endParaRPr>
          </a:p>
        </p:txBody>
      </p:sp>
      <p:pic>
        <p:nvPicPr>
          <p:cNvPr id="6" name="图片 5" descr="一些人在路上骑机车&#10;&#10;描述已自动生成">
            <a:extLst>
              <a:ext uri="{FF2B5EF4-FFF2-40B4-BE49-F238E27FC236}">
                <a16:creationId xmlns:a16="http://schemas.microsoft.com/office/drawing/2014/main" id="{825460EF-9750-C80D-9C83-63CB0D8E77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1463" y="1663806"/>
            <a:ext cx="7161201" cy="3530387"/>
          </a:xfrm>
          <a:prstGeom prst="rect">
            <a:avLst/>
          </a:prstGeom>
        </p:spPr>
      </p:pic>
      <p:sp>
        <p:nvSpPr>
          <p:cNvPr id="7" name="矩形 6">
            <a:extLst>
              <a:ext uri="{FF2B5EF4-FFF2-40B4-BE49-F238E27FC236}">
                <a16:creationId xmlns:a16="http://schemas.microsoft.com/office/drawing/2014/main" id="{5E52DD5A-A525-84DB-7513-B984EDCF6A59}"/>
              </a:ext>
            </a:extLst>
          </p:cNvPr>
          <p:cNvSpPr/>
          <p:nvPr/>
        </p:nvSpPr>
        <p:spPr>
          <a:xfrm>
            <a:off x="4367808" y="5218083"/>
            <a:ext cx="7992888" cy="307777"/>
          </a:xfrm>
          <a:prstGeom prst="rect">
            <a:avLst/>
          </a:prstGeom>
        </p:spPr>
        <p:txBody>
          <a:bodyPr wrap="square">
            <a:spAutoFit/>
          </a:bodyPr>
          <a:lstStyle/>
          <a:p>
            <a:pPr lvl="2"/>
            <a:r>
              <a:rPr lang="en-US" altLang="zh-CN" sz="1400" dirty="0"/>
              <a:t>Figure 8: Higher CLIP/DINOv2 scores indicate stronger semantic faithfulness.</a:t>
            </a:r>
          </a:p>
        </p:txBody>
      </p:sp>
      <p:sp>
        <p:nvSpPr>
          <p:cNvPr id="4" name="Title 1">
            <a:extLst>
              <a:ext uri="{FF2B5EF4-FFF2-40B4-BE49-F238E27FC236}">
                <a16:creationId xmlns:a16="http://schemas.microsoft.com/office/drawing/2014/main" id="{4A628C6E-D446-69D1-92C8-96784AC46B93}"/>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2400" dirty="0"/>
              <a:t>Evaluation &amp; Metrics</a:t>
            </a:r>
            <a:endParaRPr lang="en-AU" altLang="zh-CN" sz="2400" b="0" dirty="0"/>
          </a:p>
        </p:txBody>
      </p:sp>
      <p:sp>
        <p:nvSpPr>
          <p:cNvPr id="5" name="矩形 4">
            <a:extLst>
              <a:ext uri="{FF2B5EF4-FFF2-40B4-BE49-F238E27FC236}">
                <a16:creationId xmlns:a16="http://schemas.microsoft.com/office/drawing/2014/main" id="{E446350C-8AAA-0C0C-15D9-D91E84D03DD0}"/>
              </a:ext>
            </a:extLst>
          </p:cNvPr>
          <p:cNvSpPr/>
          <p:nvPr/>
        </p:nvSpPr>
        <p:spPr>
          <a:xfrm>
            <a:off x="285992" y="6327017"/>
            <a:ext cx="7344816" cy="3693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[10] </a:t>
            </a:r>
            <a:r>
              <a:rPr lang="en-US" altLang="zh-CN" sz="900" dirty="0"/>
              <a:t>Radford, A. </a:t>
            </a:r>
            <a:r>
              <a:rPr lang="en-US" altLang="zh-CN" sz="900" i="1" dirty="0"/>
              <a:t>et al.</a:t>
            </a:r>
            <a:r>
              <a:rPr lang="en-US" altLang="zh-CN" sz="900" dirty="0"/>
              <a:t>, </a:t>
            </a:r>
            <a:r>
              <a:rPr lang="en-US" altLang="zh-CN" sz="900" i="1" dirty="0"/>
              <a:t>Learning Transferable Visual Models from Natural Language Supervision</a:t>
            </a:r>
            <a:r>
              <a:rPr lang="en-US" altLang="zh-CN" sz="900" dirty="0"/>
              <a:t>, ICML 2021.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rPr>
              <a:t>[11] </a:t>
            </a:r>
            <a:r>
              <a:rPr lang="en-US" altLang="zh-CN" sz="900" dirty="0" err="1"/>
              <a:t>Oquab</a:t>
            </a:r>
            <a:r>
              <a:rPr lang="en-US" altLang="zh-CN" sz="900" dirty="0"/>
              <a:t>, M. </a:t>
            </a:r>
            <a:r>
              <a:rPr lang="en-US" altLang="zh-CN" sz="900" i="1" dirty="0"/>
              <a:t>et al.</a:t>
            </a:r>
            <a:r>
              <a:rPr lang="en-US" altLang="zh-CN" sz="900" dirty="0"/>
              <a:t>, </a:t>
            </a:r>
            <a:r>
              <a:rPr lang="en-US" altLang="zh-CN" sz="900" i="1" dirty="0"/>
              <a:t>DINOv2: Learning Robust Visual Features without Supervision, TMLR 2024.</a:t>
            </a:r>
            <a:endParaRPr kumimoji="0" lang="zh-CN" altLang="zh-CN" sz="9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49907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628C6E-D446-69D1-92C8-96784AC46B93}"/>
              </a:ext>
            </a:extLst>
          </p:cNvPr>
          <p:cNvSpPr txBox="1">
            <a:spLocks/>
          </p:cNvSpPr>
          <p:nvPr/>
        </p:nvSpPr>
        <p:spPr>
          <a:xfrm>
            <a:off x="345600" y="76228"/>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r>
              <a:rPr lang="en-US" altLang="zh-CN" sz="3200" dirty="0"/>
              <a:t>Q &amp; A</a:t>
            </a:r>
            <a:endParaRPr lang="en-AU" altLang="zh-CN" sz="3200" b="0" dirty="0"/>
          </a:p>
        </p:txBody>
      </p:sp>
      <p:sp>
        <p:nvSpPr>
          <p:cNvPr id="9" name="Title 1">
            <a:extLst>
              <a:ext uri="{FF2B5EF4-FFF2-40B4-BE49-F238E27FC236}">
                <a16:creationId xmlns:a16="http://schemas.microsoft.com/office/drawing/2014/main" id="{C4B3CA81-7288-CEB0-0670-71349B8D31DE}"/>
              </a:ext>
            </a:extLst>
          </p:cNvPr>
          <p:cNvSpPr txBox="1">
            <a:spLocks/>
          </p:cNvSpPr>
          <p:nvPr/>
        </p:nvSpPr>
        <p:spPr>
          <a:xfrm>
            <a:off x="0" y="2348880"/>
            <a:ext cx="12192000" cy="648072"/>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a:lstStyle>
          <a:p>
            <a:pPr algn="ctr"/>
            <a:r>
              <a:rPr lang="en-US" altLang="zh-CN" sz="3200" dirty="0"/>
              <a:t>Thanks for listening!</a:t>
            </a:r>
            <a:endParaRPr lang="en-AU" altLang="zh-CN" sz="3200" b="0" dirty="0"/>
          </a:p>
        </p:txBody>
      </p:sp>
    </p:spTree>
    <p:extLst>
      <p:ext uri="{BB962C8B-B14F-4D97-AF65-F5344CB8AC3E}">
        <p14:creationId xmlns:p14="http://schemas.microsoft.com/office/powerpoint/2010/main" val="1351989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Appendix: Diffusion Model</a:t>
            </a:r>
            <a:endParaRPr lang="en-AU" sz="3200" dirty="0"/>
          </a:p>
        </p:txBody>
      </p:sp>
      <p:pic>
        <p:nvPicPr>
          <p:cNvPr id="4" name="图片 3" descr="手机屏幕截图&#10;&#10;中度可信度描述已自动生成">
            <a:extLst>
              <a:ext uri="{FF2B5EF4-FFF2-40B4-BE49-F238E27FC236}">
                <a16:creationId xmlns:a16="http://schemas.microsoft.com/office/drawing/2014/main" id="{022C2EA8-9220-535C-0E04-2B90D366E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00" y="2996952"/>
            <a:ext cx="10463808" cy="1667444"/>
          </a:xfrm>
          <a:prstGeom prst="rect">
            <a:avLst/>
          </a:prstGeom>
        </p:spPr>
      </p:pic>
      <p:sp>
        <p:nvSpPr>
          <p:cNvPr id="6" name="文本框 5">
            <a:extLst>
              <a:ext uri="{FF2B5EF4-FFF2-40B4-BE49-F238E27FC236}">
                <a16:creationId xmlns:a16="http://schemas.microsoft.com/office/drawing/2014/main" id="{DDE90D88-FBE5-60ED-C18A-D78007B7E997}"/>
              </a:ext>
            </a:extLst>
          </p:cNvPr>
          <p:cNvSpPr txBox="1"/>
          <p:nvPr/>
        </p:nvSpPr>
        <p:spPr>
          <a:xfrm>
            <a:off x="2999656" y="4797152"/>
            <a:ext cx="7560840" cy="307777"/>
          </a:xfrm>
          <a:prstGeom prst="rect">
            <a:avLst/>
          </a:prstGeom>
          <a:noFill/>
        </p:spPr>
        <p:txBody>
          <a:bodyPr wrap="square">
            <a:spAutoFit/>
          </a:bodyPr>
          <a:lstStyle/>
          <a:p>
            <a:pPr lvl="2"/>
            <a:r>
              <a:rPr lang="en-US" altLang="zh-CN" sz="1400" dirty="0"/>
              <a:t>Figure: Structure of the diffusion model.</a:t>
            </a:r>
          </a:p>
        </p:txBody>
      </p:sp>
      <p:sp>
        <p:nvSpPr>
          <p:cNvPr id="8" name="文本框 7">
            <a:extLst>
              <a:ext uri="{FF2B5EF4-FFF2-40B4-BE49-F238E27FC236}">
                <a16:creationId xmlns:a16="http://schemas.microsoft.com/office/drawing/2014/main" id="{8563EF09-1659-2B44-F60C-3FFF98A37504}"/>
              </a:ext>
            </a:extLst>
          </p:cNvPr>
          <p:cNvSpPr txBox="1"/>
          <p:nvPr/>
        </p:nvSpPr>
        <p:spPr>
          <a:xfrm>
            <a:off x="1703512" y="1772816"/>
            <a:ext cx="8208912" cy="584775"/>
          </a:xfrm>
          <a:prstGeom prst="rect">
            <a:avLst/>
          </a:prstGeom>
          <a:noFill/>
        </p:spPr>
        <p:txBody>
          <a:bodyPr wrap="square">
            <a:spAutoFit/>
          </a:bodyPr>
          <a:lstStyle/>
          <a:p>
            <a:r>
              <a:rPr lang="en-US" altLang="zh-CN" sz="1600" dirty="0">
                <a:solidFill>
                  <a:schemeClr val="bg2"/>
                </a:solidFill>
              </a:rPr>
              <a:t>A diffusion model gradually transforms random noise into a realistic image through a learned denoising process, essentially “drawing” an image step by step.</a:t>
            </a:r>
            <a:endParaRPr lang="zh-CN" altLang="en-US" sz="1600" dirty="0">
              <a:solidFill>
                <a:schemeClr val="bg2"/>
              </a:solidFill>
            </a:endParaRPr>
          </a:p>
        </p:txBody>
      </p:sp>
    </p:spTree>
    <p:extLst>
      <p:ext uri="{BB962C8B-B14F-4D97-AF65-F5344CB8AC3E}">
        <p14:creationId xmlns:p14="http://schemas.microsoft.com/office/powerpoint/2010/main" val="3374294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Appendix: </a:t>
            </a:r>
            <a:r>
              <a:rPr lang="en-US" altLang="zh-CN" sz="3200" dirty="0" err="1"/>
              <a:t>Controlnet</a:t>
            </a:r>
            <a:r>
              <a:rPr lang="en-US" altLang="zh-CN" sz="3200" dirty="0"/>
              <a:t> Structure</a:t>
            </a:r>
            <a:endParaRPr lang="en-AU" sz="3200" dirty="0"/>
          </a:p>
        </p:txBody>
      </p:sp>
      <p:pic>
        <p:nvPicPr>
          <p:cNvPr id="3" name="图片 2" descr="手机屏幕截图&#10;&#10;描述已自动生成">
            <a:extLst>
              <a:ext uri="{FF2B5EF4-FFF2-40B4-BE49-F238E27FC236}">
                <a16:creationId xmlns:a16="http://schemas.microsoft.com/office/drawing/2014/main" id="{1E68B47E-B372-81C4-E10B-6937258216D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528" b="96367" l="113" r="99775">
                        <a14:foregroundMark x1="34234" y1="28436" x2="34234" y2="28436"/>
                        <a14:foregroundMark x1="35586" y1="27014" x2="35586" y2="27014"/>
                        <a14:foregroundMark x1="34009" y1="27804" x2="34009" y2="27804"/>
                        <a14:foregroundMark x1="32207" y1="29068" x2="32207" y2="29068"/>
                        <a14:foregroundMark x1="36599" y1="29858" x2="36599" y2="29858"/>
                        <a14:foregroundMark x1="36149" y1="28594" x2="36149" y2="28594"/>
                        <a14:foregroundMark x1="32432" y1="28752" x2="32432" y2="28752"/>
                        <a14:foregroundMark x1="31532" y1="36019" x2="31532" y2="36019"/>
                        <a14:foregroundMark x1="29505" y1="41548" x2="29505" y2="41548"/>
                        <a14:foregroundMark x1="33559" y1="43602" x2="33559" y2="43602"/>
                        <a14:foregroundMark x1="30631" y1="47709" x2="30631" y2="47709"/>
                        <a14:foregroundMark x1="30068" y1="47867" x2="30068" y2="47867"/>
                        <a14:foregroundMark x1="9459" y1="61137" x2="9459" y2="61137"/>
                        <a14:foregroundMark x1="7207" y1="61453" x2="6532" y2="61453"/>
                        <a14:foregroundMark x1="4167" y1="61295" x2="4167" y2="61295"/>
                        <a14:foregroundMark x1="3491" y1="59874" x2="3491" y2="59874"/>
                        <a14:foregroundMark x1="3153" y1="58610" x2="3153" y2="58610"/>
                        <a14:foregroundMark x1="9122" y1="58294" x2="9122" y2="58294"/>
                        <a14:foregroundMark x1="10811" y1="57188" x2="10811" y2="57188"/>
                        <a14:foregroundMark x1="14977" y1="61927" x2="14977" y2="61927"/>
                        <a14:foregroundMark x1="17117" y1="64771" x2="17117" y2="64771"/>
                        <a14:foregroundMark x1="20383" y1="66035" x2="20383" y2="66035"/>
                        <a14:foregroundMark x1="21171" y1="62401" x2="21171" y2="62401"/>
                        <a14:foregroundMark x1="18919" y1="58452" x2="19369" y2="58294"/>
                        <a14:foregroundMark x1="21622" y1="58294" x2="21622" y2="58294"/>
                        <a14:foregroundMark x1="10135" y1="64139" x2="10135" y2="64139"/>
                        <a14:foregroundMark x1="8221" y1="67141" x2="8221" y2="67141"/>
                        <a14:foregroundMark x1="5293" y1="68088" x2="4842" y2="67773"/>
                        <a14:foregroundMark x1="2365" y1="66825" x2="2365" y2="66825"/>
                        <a14:foregroundMark x1="1914" y1="64297" x2="2477" y2="61611"/>
                        <a14:foregroundMark x1="3829" y1="59558" x2="3829" y2="59558"/>
                        <a14:foregroundMark x1="30068" y1="63191" x2="30068" y2="63191"/>
                        <a14:foregroundMark x1="34797" y1="95103" x2="34797" y2="95103"/>
                        <a14:foregroundMark x1="32995" y1="97156" x2="32995" y2="97156"/>
                        <a14:foregroundMark x1="34797" y1="93207" x2="34797" y2="93207"/>
                        <a14:foregroundMark x1="78153" y1="87204" x2="78153" y2="87204"/>
                        <a14:foregroundMark x1="80405" y1="88942" x2="80405" y2="88942"/>
                        <a14:foregroundMark x1="84459" y1="89258" x2="84459" y2="89258"/>
                        <a14:foregroundMark x1="73536" y1="88468" x2="71847" y2="88468"/>
                        <a14:foregroundMark x1="70833" y1="88468" x2="70833" y2="88468"/>
                        <a14:foregroundMark x1="82883" y1="89415" x2="84009" y2="89415"/>
                        <a14:foregroundMark x1="85811" y1="89415" x2="85023" y2="89415"/>
                        <a14:foregroundMark x1="79955" y1="89258" x2="84234" y2="87520"/>
                        <a14:foregroundMark x1="81869" y1="82780" x2="81869" y2="82780"/>
                        <a14:foregroundMark x1="79955" y1="82622" x2="77590" y2="82622"/>
                        <a14:foregroundMark x1="75338" y1="82780" x2="74099" y2="82938"/>
                        <a14:foregroundMark x1="71396" y1="83096" x2="71396" y2="83096"/>
                        <a14:foregroundMark x1="71959" y1="80569" x2="71959" y2="80569"/>
                        <a14:foregroundMark x1="70608" y1="80569" x2="70608" y2="80569"/>
                        <a14:foregroundMark x1="81982" y1="81991" x2="81982" y2="81991"/>
                        <a14:foregroundMark x1="84797" y1="82464" x2="84797" y2="82464"/>
                        <a14:foregroundMark x1="82658" y1="82464" x2="82658" y2="82464"/>
                        <a14:foregroundMark x1="88063" y1="59716" x2="88063" y2="59716"/>
                        <a14:foregroundMark x1="83108" y1="60664" x2="83108" y2="60664"/>
                        <a14:foregroundMark x1="94482" y1="61611" x2="94482" y2="61611"/>
                        <a14:foregroundMark x1="96171" y1="60348" x2="96171" y2="60348"/>
                        <a14:foregroundMark x1="96959" y1="63033" x2="97072" y2="63823"/>
                        <a14:foregroundMark x1="97185" y1="65719" x2="97185" y2="65719"/>
                        <a14:foregroundMark x1="64077" y1="7899" x2="64077" y2="7899"/>
                        <a14:foregroundMark x1="62950" y1="4897" x2="62950" y2="4897"/>
                        <a14:foregroundMark x1="68018" y1="3633" x2="68468" y2="3633"/>
                        <a14:foregroundMark x1="70045" y1="3633" x2="70045" y2="3633"/>
                        <a14:foregroundMark x1="68468" y1="25276" x2="68468" y2="25276"/>
                        <a14:foregroundMark x1="70270" y1="25592" x2="70270" y2="25592"/>
                        <a14:foregroundMark x1="64865" y1="3002" x2="64865" y2="3002"/>
                        <a14:foregroundMark x1="63851" y1="3002" x2="63851" y2="3002"/>
                        <a14:foregroundMark x1="66104" y1="65245" x2="66104" y2="65245"/>
                        <a14:foregroundMark x1="70270" y1="64771" x2="70270" y2="64771"/>
                        <a14:foregroundMark x1="42905" y1="63033" x2="42905" y2="63033"/>
                        <a14:foregroundMark x1="43243" y1="59874" x2="43243" y2="59874"/>
                        <a14:foregroundMark x1="43806" y1="63823" x2="43806" y2="63823"/>
                        <a14:foregroundMark x1="56982" y1="61769" x2="56982" y2="61769"/>
                        <a14:foregroundMark x1="75901" y1="61769" x2="75901" y2="61769"/>
                        <a14:foregroundMark x1="74662" y1="59558" x2="74662" y2="59558"/>
                        <a14:foregroundMark x1="75338" y1="56398" x2="75338" y2="56398"/>
                        <a14:foregroundMark x1="75563" y1="52607" x2="75563" y2="51501"/>
                        <a14:foregroundMark x1="75450" y1="48657" x2="75450" y2="47709"/>
                        <a14:foregroundMark x1="75450" y1="45182" x2="75450" y2="45182"/>
                        <a14:foregroundMark x1="74662" y1="57188" x2="74550" y2="57662"/>
                        <a14:foregroundMark x1="74550" y1="61137" x2="74550" y2="62085"/>
                        <a14:foregroundMark x1="71959" y1="63349" x2="71959" y2="63349"/>
                        <a14:foregroundMark x1="76464" y1="63191" x2="77703" y2="63033"/>
                        <a14:foregroundMark x1="78716" y1="62875" x2="78716" y2="62875"/>
                        <a14:foregroundMark x1="76014" y1="59242" x2="75676" y2="50079"/>
                        <a14:foregroundMark x1="65878" y1="48973" x2="66104" y2="38547"/>
                        <a14:foregroundMark x1="66441" y1="29068" x2="65991" y2="34439"/>
                        <a14:foregroundMark x1="66104" y1="29068" x2="45608" y2="30648"/>
                        <a14:foregroundMark x1="45608" y1="30648" x2="66779" y2="27646"/>
                        <a14:foregroundMark x1="66667" y1="28436" x2="39752" y2="29700"/>
                        <a14:foregroundMark x1="39752" y1="29700" x2="53153" y2="27488"/>
                        <a14:foregroundMark x1="53153" y1="27488" x2="60923" y2="27488"/>
                        <a14:foregroundMark x1="34685" y1="31596" x2="35248" y2="33017"/>
                        <a14:foregroundMark x1="42905" y1="45972" x2="41779" y2="81517"/>
                        <a14:foregroundMark x1="42905" y1="65877" x2="43581" y2="77409"/>
                        <a14:foregroundMark x1="72748" y1="81675" x2="77027" y2="82464"/>
                        <a14:foregroundMark x1="71509" y1="89889" x2="85473" y2="88152"/>
                        <a14:foregroundMark x1="85473" y1="88152" x2="86824" y2="88468"/>
                        <a14:foregroundMark x1="75676" y1="83570" x2="75676" y2="83570"/>
                        <a14:foregroundMark x1="77815" y1="83570" x2="79842" y2="83570"/>
                        <a14:foregroundMark x1="82995" y1="83254" x2="85023" y2="83254"/>
                        <a14:foregroundMark x1="85023" y1="83254" x2="84910" y2="84202"/>
                        <a14:foregroundMark x1="82883" y1="87046" x2="82658" y2="87520"/>
                        <a14:foregroundMark x1="81532" y1="84518" x2="76351" y2="82622"/>
                        <a14:foregroundMark x1="74550" y1="82306" x2="72072" y2="82306"/>
                        <a14:foregroundMark x1="71847" y1="82464" x2="83108" y2="80885"/>
                        <a14:foregroundMark x1="71509" y1="81043" x2="84009" y2="81517"/>
                        <a14:foregroundMark x1="82095" y1="81517" x2="84685" y2="83728"/>
                        <a14:foregroundMark x1="84572" y1="88784" x2="85923" y2="87994"/>
                        <a14:foregroundMark x1="86149" y1="88468" x2="85135" y2="88942"/>
                        <a14:foregroundMark x1="82095" y1="89731" x2="75788" y2="89731"/>
                        <a14:foregroundMark x1="74775" y1="89573" x2="70833" y2="90363"/>
                        <a14:foregroundMark x1="69595" y1="90363" x2="69595" y2="90363"/>
                        <a14:foregroundMark x1="69932" y1="86572" x2="70270" y2="84202"/>
                        <a14:foregroundMark x1="70495" y1="81833" x2="69820" y2="90363"/>
                        <a14:foregroundMark x1="70383" y1="82464" x2="77928" y2="81991"/>
                        <a14:foregroundMark x1="70495" y1="80569" x2="74550" y2="79779"/>
                        <a14:foregroundMark x1="70946" y1="79621" x2="86261" y2="80727"/>
                        <a14:foregroundMark x1="86261" y1="80727" x2="84910" y2="82780"/>
                        <a14:foregroundMark x1="83221" y1="81517" x2="83221" y2="81517"/>
                        <a14:foregroundMark x1="84122" y1="81517" x2="84234" y2="82622"/>
                        <a14:foregroundMark x1="84685" y1="84202" x2="84797" y2="85782"/>
                        <a14:foregroundMark x1="84910" y1="87994" x2="71959" y2="80885"/>
                        <a14:foregroundMark x1="71959" y1="80885" x2="85811" y2="80253"/>
                        <a14:foregroundMark x1="85811" y1="80253" x2="86261" y2="82622"/>
                        <a14:foregroundMark x1="86599" y1="87836" x2="84234" y2="88626"/>
                        <a14:foregroundMark x1="83559" y1="90047" x2="82432" y2="90047"/>
                        <a14:foregroundMark x1="82432" y1="89889" x2="82432" y2="89889"/>
                        <a14:foregroundMark x1="82207" y1="88942" x2="83784" y2="88942"/>
                        <a14:foregroundMark x1="86486" y1="89573" x2="87275" y2="89573"/>
                        <a14:foregroundMark x1="88176" y1="89573" x2="88176" y2="89573"/>
                        <a14:foregroundMark x1="25901" y1="46603" x2="25901" y2="73934"/>
                        <a14:foregroundMark x1="25901" y1="73934" x2="22973" y2="50395"/>
                        <a14:foregroundMark x1="22973" y1="50395" x2="26014" y2="53555"/>
                        <a14:foregroundMark x1="23986" y1="69510" x2="25338" y2="75197"/>
                        <a14:foregroundMark x1="25000" y1="78357" x2="25563" y2="79779"/>
                        <a14:foregroundMark x1="24212" y1="79779" x2="24212" y2="79779"/>
                        <a14:foregroundMark x1="25000" y1="80885" x2="25000" y2="80885"/>
                        <a14:foregroundMark x1="25676" y1="52923" x2="25113" y2="44392"/>
                        <a14:foregroundMark x1="25450" y1="45182" x2="24550" y2="58926"/>
                        <a14:foregroundMark x1="25676" y1="51975" x2="24212" y2="47551"/>
                        <a14:foregroundMark x1="44144" y1="45972" x2="42793" y2="45972"/>
                        <a14:foregroundMark x1="54842" y1="62559" x2="57432" y2="62717"/>
                        <a14:foregroundMark x1="53491" y1="27804" x2="40428" y2="27804"/>
                        <a14:foregroundMark x1="40428" y1="27804" x2="44707" y2="27962"/>
                        <a14:foregroundMark x1="32320" y1="29226" x2="35811" y2="30332"/>
                        <a14:foregroundMark x1="38401" y1="28120" x2="55968" y2="26540"/>
                        <a14:foregroundMark x1="55968" y1="26540" x2="69595" y2="17062"/>
                        <a14:foregroundMark x1="69595" y1="17062" x2="71059" y2="17536"/>
                        <a14:foregroundMark x1="68694" y1="21959" x2="67568" y2="33333"/>
                        <a14:foregroundMark x1="67005" y1="20063" x2="66104" y2="12006"/>
                        <a14:foregroundMark x1="73311" y1="64929" x2="76464" y2="61927"/>
                        <a14:foregroundMark x1="82658" y1="86730" x2="86599" y2="88310"/>
                        <a14:foregroundMark x1="32320" y1="93997" x2="35023" y2="94629"/>
                        <a14:foregroundMark x1="35248" y1="94945" x2="34234" y2="93207"/>
                        <a14:foregroundMark x1="34234" y1="92259" x2="34234" y2="91311"/>
                        <a14:foregroundMark x1="34347" y1="90363" x2="34347" y2="90363"/>
                        <a14:foregroundMark x1="35248" y1="92101" x2="35360" y2="93049"/>
                        <a14:foregroundMark x1="35360" y1="94471" x2="35360" y2="94471"/>
                        <a14:foregroundMark x1="35248" y1="91785" x2="35248" y2="91785"/>
                        <a14:foregroundMark x1="34797" y1="91153" x2="34685" y2="92259"/>
                        <a14:foregroundMark x1="34009" y1="93997" x2="34009" y2="94629"/>
                        <a14:foregroundMark x1="34009" y1="95261" x2="33446" y2="95419"/>
                        <a14:foregroundMark x1="32658" y1="95261" x2="32658" y2="95261"/>
                        <a14:foregroundMark x1="32320" y1="94945" x2="32320" y2="94945"/>
                        <a14:foregroundMark x1="32320" y1="94629" x2="32658" y2="95103"/>
                        <a14:foregroundMark x1="2477" y1="67773" x2="2477" y2="67773"/>
                        <a14:foregroundMark x1="3829" y1="68246" x2="4392" y2="68404"/>
                        <a14:foregroundMark x1="4842" y1="68404" x2="6532" y2="68404"/>
                        <a14:foregroundMark x1="7995" y1="68404" x2="8333" y2="68404"/>
                        <a14:foregroundMark x1="10135" y1="68404" x2="8108" y2="68562"/>
                        <a14:foregroundMark x1="6081" y1="68720" x2="19257" y2="67457"/>
                        <a14:foregroundMark x1="15315" y1="68878" x2="8446" y2="69036"/>
                        <a14:foregroundMark x1="6081" y1="69036" x2="8784" y2="68878"/>
                        <a14:foregroundMark x1="16892" y1="68562" x2="17455" y2="68404"/>
                        <a14:foregroundMark x1="18581" y1="68088" x2="20495" y2="67773"/>
                        <a14:foregroundMark x1="21959" y1="67773" x2="21959" y2="67773"/>
                        <a14:foregroundMark x1="19707" y1="67773" x2="15090" y2="67615"/>
                        <a14:foregroundMark x1="13851" y1="67615" x2="9009" y2="67773"/>
                        <a14:foregroundMark x1="4955" y1="67299" x2="1802" y2="66825"/>
                        <a14:foregroundMark x1="338" y1="66035" x2="225" y2="65245"/>
                        <a14:foregroundMark x1="225" y1="63349" x2="225" y2="61927"/>
                        <a14:foregroundMark x1="338" y1="58768" x2="225" y2="57662"/>
                        <a14:foregroundMark x1="225" y1="57188" x2="225" y2="57188"/>
                        <a14:foregroundMark x1="450" y1="61453" x2="676" y2="65561"/>
                        <a14:foregroundMark x1="1464" y1="69036" x2="1464" y2="68404"/>
                        <a14:foregroundMark x1="2027" y1="59716" x2="1802" y2="58294"/>
                        <a14:foregroundMark x1="1351" y1="56398" x2="225" y2="55924"/>
                        <a14:foregroundMark x1="225" y1="55924" x2="1351" y2="55766"/>
                        <a14:foregroundMark x1="3716" y1="55450" x2="5068" y2="55292"/>
                        <a14:foregroundMark x1="7995" y1="54818" x2="10360" y2="54502"/>
                        <a14:foregroundMark x1="11824" y1="54502" x2="13626" y2="54344"/>
                        <a14:foregroundMark x1="18243" y1="54344" x2="20045" y2="54344"/>
                        <a14:foregroundMark x1="20608" y1="54344" x2="20608" y2="54344"/>
                        <a14:foregroundMark x1="13514" y1="55292" x2="7207" y2="55292"/>
                        <a14:foregroundMark x1="3829" y1="54976" x2="2928" y2="54976"/>
                        <a14:foregroundMark x1="2703" y1="54976" x2="2703" y2="56240"/>
                        <a14:foregroundMark x1="8784" y1="57504" x2="12050" y2="57504"/>
                        <a14:foregroundMark x1="16441" y1="57504" x2="20608" y2="57662"/>
                        <a14:foregroundMark x1="22410" y1="57662" x2="22410" y2="57662"/>
                        <a14:foregroundMark x1="3153" y1="65877" x2="12050" y2="68720"/>
                        <a14:foregroundMark x1="19369" y1="67299" x2="19932" y2="67299"/>
                        <a14:foregroundMark x1="20946" y1="67299" x2="18131" y2="68246"/>
                        <a14:foregroundMark x1="16216" y1="68878" x2="12275" y2="69194"/>
                        <a14:foregroundMark x1="8108" y1="69036" x2="4842" y2="69036"/>
                        <a14:foregroundMark x1="2928" y1="69036" x2="2027" y2="69036"/>
                        <a14:foregroundMark x1="1239" y1="69036" x2="1239" y2="69036"/>
                        <a14:foregroundMark x1="3153" y1="68404" x2="3153" y2="68404"/>
                        <a14:foregroundMark x1="2928" y1="58926" x2="2928" y2="58926"/>
                        <a14:foregroundMark x1="2140" y1="57188" x2="4730" y2="56082"/>
                        <a14:foregroundMark x1="9234" y1="55608" x2="12838" y2="55450"/>
                        <a14:foregroundMark x1="15878" y1="55450" x2="15878" y2="55450"/>
                        <a14:foregroundMark x1="5856" y1="55766" x2="5856" y2="55766"/>
                        <a14:foregroundMark x1="2140" y1="56714" x2="2140" y2="56714"/>
                        <a14:foregroundMark x1="17455" y1="68246" x2="17455" y2="68246"/>
                        <a14:foregroundMark x1="20721" y1="68720" x2="20721" y2="68720"/>
                        <a14:foregroundMark x1="26239" y1="80885" x2="26239" y2="80885"/>
                        <a14:foregroundMark x1="45608" y1="70932" x2="45608" y2="70932"/>
                        <a14:foregroundMark x1="47523" y1="69036" x2="47523" y2="69036"/>
                        <a14:foregroundMark x1="49662" y1="68878" x2="49662" y2="68878"/>
                        <a14:foregroundMark x1="52365" y1="68878" x2="52703" y2="68878"/>
                        <a14:foregroundMark x1="54955" y1="68878" x2="54955" y2="68878"/>
                        <a14:foregroundMark x1="55743" y1="68878" x2="55293" y2="68878"/>
                        <a14:foregroundMark x1="51239" y1="68878" x2="54392" y2="68720"/>
                        <a14:foregroundMark x1="54505" y1="69510" x2="54505" y2="69510"/>
                        <a14:foregroundMark x1="52703" y1="66983" x2="52252" y2="61137"/>
                        <a14:foregroundMark x1="55631" y1="59716" x2="54955" y2="61295"/>
                        <a14:foregroundMark x1="55293" y1="59242" x2="55293" y2="59242"/>
                        <a14:foregroundMark x1="56194" y1="54818" x2="56532" y2="54186"/>
                        <a14:foregroundMark x1="57545" y1="51659" x2="57545" y2="51659"/>
                        <a14:foregroundMark x1="55293" y1="45972" x2="46509" y2="50711"/>
                        <a14:foregroundMark x1="46284" y1="50711" x2="55631" y2="48025"/>
                        <a14:foregroundMark x1="55293" y1="44076" x2="54730" y2="49447"/>
                        <a14:foregroundMark x1="57207" y1="64771" x2="58671" y2="63349"/>
                        <a14:foregroundMark x1="55405" y1="71248" x2="77140" y2="65403"/>
                        <a14:foregroundMark x1="77140" y1="65403" x2="74437" y2="67457"/>
                        <a14:foregroundMark x1="51464" y1="70300" x2="53829" y2="69194"/>
                        <a14:foregroundMark x1="53716" y1="72038" x2="50901" y2="69984"/>
                        <a14:foregroundMark x1="48198" y1="70458" x2="46622" y2="70458"/>
                        <a14:foregroundMark x1="44820" y1="70142" x2="44707" y2="69510"/>
                        <a14:foregroundMark x1="45495" y1="68720" x2="48086" y2="68246"/>
                        <a14:foregroundMark x1="51239" y1="68088" x2="52365" y2="68404"/>
                        <a14:foregroundMark x1="68694" y1="69668" x2="69820" y2="69668"/>
                        <a14:foregroundMark x1="71059" y1="69668" x2="71059" y2="69668"/>
                        <a14:foregroundMark x1="72635" y1="69036" x2="74099" y2="68720"/>
                        <a14:foregroundMark x1="75113" y1="68562" x2="75113" y2="68562"/>
                        <a14:foregroundMark x1="70833" y1="68720" x2="68581" y2="69036"/>
                        <a14:foregroundMark x1="65541" y1="69194" x2="64752" y2="69194"/>
                        <a14:foregroundMark x1="64865" y1="69194" x2="67117" y2="69510"/>
                        <a14:foregroundMark x1="68131" y1="69510" x2="68131" y2="69510"/>
                        <a14:foregroundMark x1="68131" y1="68562" x2="68468" y2="68088"/>
                        <a14:foregroundMark x1="68806" y1="67615" x2="68806" y2="67615"/>
                        <a14:foregroundMark x1="44707" y1="44234" x2="43694" y2="44076"/>
                        <a14:foregroundMark x1="42455" y1="44076" x2="43468" y2="45182"/>
                        <a14:foregroundMark x1="43694" y1="45498" x2="43694" y2="45498"/>
                        <a14:foregroundMark x1="44482" y1="45498" x2="44482" y2="45498"/>
                        <a14:foregroundMark x1="44482" y1="45182" x2="44369" y2="44708"/>
                        <a14:foregroundMark x1="27477" y1="45182" x2="26126" y2="45498"/>
                        <a14:foregroundMark x1="25450" y1="45024" x2="25676" y2="45498"/>
                        <a14:foregroundMark x1="26239" y1="46288" x2="25901" y2="45024"/>
                        <a14:foregroundMark x1="25113" y1="43760" x2="24437" y2="42970"/>
                        <a14:foregroundMark x1="23986" y1="42022" x2="23986" y2="42022"/>
                        <a14:foregroundMark x1="23986" y1="42022" x2="24437" y2="42970"/>
                        <a14:foregroundMark x1="24662" y1="44234" x2="24662" y2="45814"/>
                        <a14:foregroundMark x1="24662" y1="47235" x2="24662" y2="48657"/>
                        <a14:foregroundMark x1="25000" y1="51027" x2="25338" y2="53397"/>
                        <a14:foregroundMark x1="33333" y1="30806" x2="32995" y2="30490"/>
                        <a14:foregroundMark x1="31982" y1="29542" x2="31982" y2="29542"/>
                        <a14:foregroundMark x1="32095" y1="28436" x2="32095" y2="27804"/>
                        <a14:foregroundMark x1="32095" y1="27172" x2="32995" y2="27014"/>
                        <a14:foregroundMark x1="33671" y1="26540" x2="34459" y2="26540"/>
                        <a14:foregroundMark x1="36036" y1="26540" x2="36599" y2="26540"/>
                        <a14:foregroundMark x1="37162" y1="26540" x2="37162" y2="26540"/>
                        <a14:foregroundMark x1="34122" y1="26540" x2="32432" y2="26540"/>
                        <a14:foregroundMark x1="31532" y1="26224" x2="30968" y2="26224"/>
                        <a14:foregroundMark x1="31419" y1="26224" x2="33221" y2="26224"/>
                        <a14:foregroundMark x1="34797" y1="26224" x2="37387" y2="26382"/>
                        <a14:foregroundMark x1="37838" y1="26540" x2="37838" y2="26540"/>
                        <a14:foregroundMark x1="34122" y1="26698" x2="32995" y2="26698"/>
                        <a14:foregroundMark x1="30968" y1="26382" x2="30968" y2="26382"/>
                        <a14:foregroundMark x1="31644" y1="26066" x2="34009" y2="25908"/>
                        <a14:foregroundMark x1="34459" y1="25908" x2="35360" y2="25908"/>
                        <a14:foregroundMark x1="36036" y1="25908" x2="36599" y2="25908"/>
                        <a14:foregroundMark x1="37275" y1="25750" x2="37275" y2="25750"/>
                        <a14:foregroundMark x1="34122" y1="25750" x2="32320" y2="25908"/>
                        <a14:foregroundMark x1="31644" y1="26066" x2="30968" y2="27804"/>
                        <a14:foregroundMark x1="30743" y1="28752" x2="30743" y2="30648"/>
                        <a14:foregroundMark x1="31081" y1="31596" x2="32207" y2="32227"/>
                        <a14:foregroundMark x1="33784" y1="32385" x2="36036" y2="32385"/>
                        <a14:foregroundMark x1="37050" y1="32385" x2="37613" y2="32701"/>
                        <a14:foregroundMark x1="60923" y1="26698" x2="60586" y2="25276"/>
                        <a14:foregroundMark x1="60473" y1="22749" x2="60473" y2="20379"/>
                        <a14:foregroundMark x1="60473" y1="17852" x2="60923" y2="15324"/>
                        <a14:foregroundMark x1="62500" y1="13270" x2="65090" y2="12638"/>
                        <a14:foregroundMark x1="67568" y1="12480" x2="70270" y2="12480"/>
                        <a14:foregroundMark x1="75000" y1="12480" x2="75000" y2="12480"/>
                        <a14:foregroundMark x1="72297" y1="14376" x2="70270" y2="14692"/>
                        <a14:foregroundMark x1="66329" y1="13744" x2="62838" y2="13428"/>
                        <a14:foregroundMark x1="60586" y1="13902" x2="60023" y2="15324"/>
                        <a14:foregroundMark x1="60248" y1="16746" x2="60248" y2="19431"/>
                        <a14:foregroundMark x1="60360" y1="21011" x2="60360" y2="22907"/>
                        <a14:foregroundMark x1="60360" y1="24487" x2="60360" y2="24329"/>
                        <a14:foregroundMark x1="60811" y1="18167" x2="61036" y2="15166"/>
                        <a14:foregroundMark x1="61824" y1="14060" x2="64752" y2="13902"/>
                        <a14:foregroundMark x1="69932" y1="14534" x2="73536" y2="15166"/>
                        <a14:foregroundMark x1="74324" y1="15324" x2="74099" y2="17852"/>
                        <a14:foregroundMark x1="73423" y1="21011" x2="71734" y2="27804"/>
                        <a14:foregroundMark x1="71622" y1="25118" x2="72523" y2="19115"/>
                        <a14:foregroundMark x1="72748" y1="18167" x2="72297" y2="21011"/>
                        <a14:foregroundMark x1="71509" y1="24803" x2="70495" y2="27172"/>
                        <a14:foregroundMark x1="67905" y1="28752" x2="67005" y2="28910"/>
                        <a14:foregroundMark x1="67005" y1="28910" x2="69820" y2="28910"/>
                        <a14:foregroundMark x1="71059" y1="28752" x2="72635" y2="28120"/>
                        <a14:foregroundMark x1="73086" y1="27330" x2="72748" y2="26066"/>
                        <a14:foregroundMark x1="73536" y1="19905" x2="73536" y2="19905"/>
                        <a14:foregroundMark x1="72860" y1="21485" x2="71396" y2="25908"/>
                        <a14:foregroundMark x1="70045" y1="29068" x2="70721" y2="32859"/>
                        <a14:foregroundMark x1="71509" y1="33649" x2="72523" y2="34123"/>
                        <a14:foregroundMark x1="75901" y1="34439" x2="77027" y2="34439"/>
                        <a14:foregroundMark x1="77815" y1="34439" x2="77815" y2="34439"/>
                        <a14:foregroundMark x1="73649" y1="30964" x2="72748" y2="30174"/>
                        <a14:foregroundMark x1="71847" y1="29384" x2="71396" y2="30964"/>
                        <a14:foregroundMark x1="71509" y1="34123" x2="73761" y2="35071"/>
                        <a14:foregroundMark x1="77815" y1="35071" x2="78941" y2="35071"/>
                        <a14:foregroundMark x1="78941" y1="35703" x2="76577" y2="38863"/>
                        <a14:foregroundMark x1="75788" y1="41232" x2="74887" y2="46445"/>
                        <a14:foregroundMark x1="74887" y1="46603" x2="77590" y2="32701"/>
                        <a14:foregroundMark x1="73536" y1="32227" x2="78153" y2="33175"/>
                        <a14:foregroundMark x1="77815" y1="36177" x2="77140" y2="37599"/>
                        <a14:foregroundMark x1="76126" y1="33175" x2="76689" y2="33807"/>
                        <a14:foregroundMark x1="76802" y1="47077" x2="89865" y2="55292"/>
                        <a14:foregroundMark x1="89865" y1="55292" x2="92117" y2="54976"/>
                        <a14:foregroundMark x1="90766" y1="56398" x2="90766" y2="56398"/>
                        <a14:foregroundMark x1="91892" y1="56872" x2="93694" y2="56872"/>
                        <a14:foregroundMark x1="97635" y1="57030" x2="97973" y2="57030"/>
                        <a14:foregroundMark x1="94932" y1="56714" x2="93468" y2="56714"/>
                        <a14:foregroundMark x1="93468" y1="56714" x2="93468" y2="56714"/>
                        <a14:foregroundMark x1="93468" y1="56714" x2="95721" y2="56398"/>
                        <a14:foregroundMark x1="97072" y1="56240" x2="98986" y2="56240"/>
                        <a14:foregroundMark x1="99887" y1="56082" x2="98761" y2="55924"/>
                        <a14:foregroundMark x1="94032" y1="55450" x2="91892" y2="55292"/>
                        <a14:foregroundMark x1="90766" y1="55292" x2="90766" y2="55292"/>
                        <a14:foregroundMark x1="93919" y1="55766" x2="97297" y2="56398"/>
                        <a14:foregroundMark x1="97973" y1="56714" x2="97973" y2="56714"/>
                        <a14:foregroundMark x1="19482" y1="55292" x2="14640" y2="55608"/>
                        <a14:foregroundMark x1="14640" y1="55608" x2="14640" y2="55608"/>
                        <a14:foregroundMark x1="24212" y1="33807" x2="30180" y2="32701"/>
                        <a14:foregroundMark x1="25225" y1="33017" x2="25225" y2="33017"/>
                        <a14:foregroundMark x1="28491" y1="32701" x2="28491" y2="32701"/>
                        <a14:foregroundMark x1="26014" y1="32701" x2="25225" y2="32701"/>
                        <a14:foregroundMark x1="24437" y1="32701" x2="25901" y2="40916"/>
                        <a14:foregroundMark x1="25338" y1="41706" x2="23649" y2="33649"/>
                        <a14:foregroundMark x1="25225" y1="40916" x2="25113" y2="41548"/>
                        <a14:foregroundMark x1="25450" y1="34755" x2="25225" y2="34123"/>
                        <a14:foregroundMark x1="23198" y1="32859" x2="29279" y2="33017"/>
                        <a14:foregroundMark x1="29167" y1="32859" x2="30743" y2="32227"/>
                        <a14:foregroundMark x1="27252" y1="33807" x2="27252" y2="33807"/>
                        <a14:foregroundMark x1="26689" y1="33175" x2="26689" y2="33175"/>
                        <a14:foregroundMark x1="87162" y1="66193" x2="90878" y2="64297"/>
                        <a14:foregroundMark x1="87162" y1="64929" x2="87162" y2="64929"/>
                        <a14:foregroundMark x1="94595" y1="66351" x2="94595" y2="66351"/>
                        <a14:foregroundMark x1="93919" y1="71564" x2="80068" y2="71090"/>
                        <a14:foregroundMark x1="80068" y1="71090" x2="94144" y2="74566"/>
                        <a14:foregroundMark x1="82995" y1="85940" x2="87275" y2="82306"/>
                        <a14:foregroundMark x1="82207" y1="90363" x2="75901" y2="85940"/>
                        <a14:foregroundMark x1="26126" y1="81517" x2="32207" y2="91627"/>
                        <a14:foregroundMark x1="30068" y1="90995" x2="30068" y2="90995"/>
                        <a14:foregroundMark x1="29505" y1="90995" x2="27365" y2="91469"/>
                        <a14:foregroundMark x1="25676" y1="91469" x2="24324" y2="91311"/>
                        <a14:foregroundMark x1="23423" y1="90995" x2="23423" y2="90995"/>
                        <a14:foregroundMark x1="24324" y1="90995" x2="33784" y2="91153"/>
                        <a14:foregroundMark x1="30968" y1="91311" x2="30518" y2="91469"/>
                        <a14:foregroundMark x1="29955" y1="91627" x2="28604" y2="91785"/>
                        <a14:foregroundMark x1="27140" y1="91785" x2="26351" y2="91785"/>
                        <a14:foregroundMark x1="25000" y1="91627" x2="25000" y2="91627"/>
                        <a14:foregroundMark x1="24437" y1="91627" x2="24437" y2="91627"/>
                        <a14:foregroundMark x1="23536" y1="91469" x2="23198" y2="90679"/>
                        <a14:foregroundMark x1="23198" y1="90047" x2="23536" y2="89415"/>
                        <a14:foregroundMark x1="24437" y1="87836" x2="24887" y2="86730"/>
                        <a14:foregroundMark x1="25338" y1="84044" x2="25338" y2="84044"/>
                        <a14:foregroundMark x1="25225" y1="82622" x2="25225" y2="82622"/>
                        <a14:foregroundMark x1="24662" y1="84044" x2="23874" y2="87836"/>
                        <a14:foregroundMark x1="23874" y1="87994" x2="23986" y2="87046"/>
                        <a14:foregroundMark x1="24662" y1="84518" x2="25901" y2="80569"/>
                        <a14:foregroundMark x1="26239" y1="79937" x2="26239" y2="79937"/>
                        <a14:foregroundMark x1="20270" y1="69194" x2="20270" y2="69194"/>
                        <a14:foregroundMark x1="19257" y1="69194" x2="17455" y2="69194"/>
                        <a14:foregroundMark x1="17117" y1="69194" x2="17117" y2="69194"/>
                        <a14:foregroundMark x1="2252" y1="56082" x2="2252" y2="56082"/>
                        <a14:foregroundMark x1="2140" y1="56714" x2="2140" y2="56714"/>
                        <a14:foregroundMark x1="1126" y1="56082" x2="1126" y2="56082"/>
                        <a14:foregroundMark x1="1464" y1="56082" x2="1464" y2="56082"/>
                        <a14:foregroundMark x1="2252" y1="56082" x2="2252" y2="56082"/>
                        <a14:foregroundMark x1="2365" y1="56082" x2="1464" y2="56082"/>
                        <a14:foregroundMark x1="3153" y1="56714" x2="2815" y2="56398"/>
                        <a14:foregroundMark x1="1802" y1="55766" x2="1802" y2="55766"/>
                        <a14:foregroundMark x1="1689" y1="55766" x2="1689" y2="55766"/>
                        <a14:foregroundMark x1="26014" y1="33175" x2="28153" y2="32859"/>
                        <a14:foregroundMark x1="27252" y1="33175" x2="27252" y2="33175"/>
                        <a14:foregroundMark x1="26577" y1="33333" x2="26577" y2="33333"/>
                        <a14:foregroundMark x1="26351" y1="32859" x2="26351" y2="32859"/>
                        <a14:foregroundMark x1="61486" y1="9795" x2="61486" y2="9795"/>
                        <a14:foregroundMark x1="60923" y1="7741" x2="60923" y2="7741"/>
                        <a14:foregroundMark x1="60811" y1="4897" x2="60811" y2="4897"/>
                        <a14:foregroundMark x1="60586" y1="6477" x2="60586" y2="8215"/>
                        <a14:foregroundMark x1="60586" y1="9479" x2="60586" y2="9479"/>
                        <a14:foregroundMark x1="60586" y1="10111" x2="61599" y2="11058"/>
                        <a14:foregroundMark x1="72297" y1="8847" x2="72297" y2="8847"/>
                        <a14:foregroundMark x1="71847" y1="6951" x2="71734" y2="6161"/>
                        <a14:foregroundMark x1="71622" y1="4581" x2="71622" y2="3949"/>
                        <a14:foregroundMark x1="71622" y1="3318" x2="71622" y2="3318"/>
                        <a14:foregroundMark x1="71622" y1="2528" x2="71622" y2="2528"/>
                        <a14:foregroundMark x1="71396" y1="6161" x2="71509" y2="9637"/>
                        <a14:foregroundMark x1="71509" y1="10900" x2="71622" y2="12480"/>
                        <a14:foregroundMark x1="71284" y1="6635" x2="71284" y2="2528"/>
                        <a14:backgroundMark x1="16329" y1="20379" x2="16329" y2="20379"/>
                        <a14:backgroundMark x1="24212" y1="19115" x2="24212" y2="19115"/>
                        <a14:backgroundMark x1="85473" y1="25908" x2="85473" y2="25908"/>
                        <a14:backgroundMark x1="83896" y1="24803" x2="83896" y2="24803"/>
                        <a14:backgroundMark x1="85473" y1="34281" x2="85811" y2="40442"/>
                        <a14:backgroundMark x1="79505" y1="71090" x2="79505" y2="71090"/>
                      </a14:backgroundRemoval>
                    </a14:imgEffect>
                  </a14:imgLayer>
                </a14:imgProps>
              </a:ext>
              <a:ext uri="{28A0092B-C50C-407E-A947-70E740481C1C}">
                <a14:useLocalDpi xmlns:a14="http://schemas.microsoft.com/office/drawing/2010/main" val="0"/>
              </a:ext>
            </a:extLst>
          </a:blip>
          <a:stretch>
            <a:fillRect/>
          </a:stretch>
        </p:blipFill>
        <p:spPr>
          <a:xfrm>
            <a:off x="3503712" y="1412776"/>
            <a:ext cx="4141655" cy="2952328"/>
          </a:xfrm>
          <a:prstGeom prst="rect">
            <a:avLst/>
          </a:prstGeom>
        </p:spPr>
      </p:pic>
      <p:sp>
        <p:nvSpPr>
          <p:cNvPr id="4" name="矩形 3">
            <a:extLst>
              <a:ext uri="{FF2B5EF4-FFF2-40B4-BE49-F238E27FC236}">
                <a16:creationId xmlns:a16="http://schemas.microsoft.com/office/drawing/2014/main" id="{9C023F9D-1B5B-E644-407D-E319205473AF}"/>
              </a:ext>
            </a:extLst>
          </p:cNvPr>
          <p:cNvSpPr/>
          <p:nvPr/>
        </p:nvSpPr>
        <p:spPr>
          <a:xfrm>
            <a:off x="2210784" y="4463242"/>
            <a:ext cx="5688632" cy="307777"/>
          </a:xfrm>
          <a:prstGeom prst="rect">
            <a:avLst/>
          </a:prstGeom>
        </p:spPr>
        <p:txBody>
          <a:bodyPr wrap="square">
            <a:spAutoFit/>
          </a:bodyPr>
          <a:lstStyle/>
          <a:p>
            <a:pPr lvl="2"/>
            <a:r>
              <a:rPr lang="en-US" altLang="zh-CN" sz="1400" dirty="0"/>
              <a:t>Figure: Structure of the controllable diffusion model.</a:t>
            </a:r>
          </a:p>
        </p:txBody>
      </p:sp>
    </p:spTree>
    <p:extLst>
      <p:ext uri="{BB962C8B-B14F-4D97-AF65-F5344CB8AC3E}">
        <p14:creationId xmlns:p14="http://schemas.microsoft.com/office/powerpoint/2010/main" val="1398420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Appendix: Ablation Study</a:t>
            </a:r>
            <a:endParaRPr lang="en-AU" sz="3200" dirty="0"/>
          </a:p>
        </p:txBody>
      </p:sp>
      <p:pic>
        <p:nvPicPr>
          <p:cNvPr id="6" name="图片 5" descr="文本&#10;&#10;描述已自动生成">
            <a:extLst>
              <a:ext uri="{FF2B5EF4-FFF2-40B4-BE49-F238E27FC236}">
                <a16:creationId xmlns:a16="http://schemas.microsoft.com/office/drawing/2014/main" id="{C1AA0AC2-39CB-07DF-E409-EEBF90222E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480" y="1450517"/>
            <a:ext cx="5904656" cy="1902922"/>
          </a:xfrm>
          <a:prstGeom prst="rect">
            <a:avLst/>
          </a:prstGeom>
        </p:spPr>
      </p:pic>
      <p:pic>
        <p:nvPicPr>
          <p:cNvPr id="8" name="图片 7" descr="文本&#10;&#10;中度可信度描述已自动生成">
            <a:extLst>
              <a:ext uri="{FF2B5EF4-FFF2-40B4-BE49-F238E27FC236}">
                <a16:creationId xmlns:a16="http://schemas.microsoft.com/office/drawing/2014/main" id="{7D961754-913C-2324-4735-9566A5B669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99456" y="3927585"/>
            <a:ext cx="6672064" cy="2758057"/>
          </a:xfrm>
          <a:prstGeom prst="rect">
            <a:avLst/>
          </a:prstGeom>
        </p:spPr>
      </p:pic>
      <p:sp>
        <p:nvSpPr>
          <p:cNvPr id="9" name="矩形 8">
            <a:extLst>
              <a:ext uri="{FF2B5EF4-FFF2-40B4-BE49-F238E27FC236}">
                <a16:creationId xmlns:a16="http://schemas.microsoft.com/office/drawing/2014/main" id="{A0A40545-B4D6-D592-A811-141C5E4D4FDF}"/>
              </a:ext>
            </a:extLst>
          </p:cNvPr>
          <p:cNvSpPr/>
          <p:nvPr/>
        </p:nvSpPr>
        <p:spPr>
          <a:xfrm>
            <a:off x="0" y="3583072"/>
            <a:ext cx="8208912" cy="307777"/>
          </a:xfrm>
          <a:prstGeom prst="rect">
            <a:avLst/>
          </a:prstGeom>
        </p:spPr>
        <p:txBody>
          <a:bodyPr wrap="square">
            <a:spAutoFit/>
          </a:bodyPr>
          <a:lstStyle/>
          <a:p>
            <a:pPr lvl="2"/>
            <a:r>
              <a:rPr lang="en-US" altLang="zh-CN" sz="1400" dirty="0"/>
              <a:t>Table 4: Planned ablation experiments on major components of the generation pipeline. </a:t>
            </a:r>
          </a:p>
        </p:txBody>
      </p:sp>
      <p:sp>
        <p:nvSpPr>
          <p:cNvPr id="10" name="矩形 9">
            <a:extLst>
              <a:ext uri="{FF2B5EF4-FFF2-40B4-BE49-F238E27FC236}">
                <a16:creationId xmlns:a16="http://schemas.microsoft.com/office/drawing/2014/main" id="{834C393A-EFBB-C3FF-60FD-87EC8641FB60}"/>
              </a:ext>
            </a:extLst>
          </p:cNvPr>
          <p:cNvSpPr/>
          <p:nvPr/>
        </p:nvSpPr>
        <p:spPr>
          <a:xfrm>
            <a:off x="1055440" y="1075628"/>
            <a:ext cx="8208912" cy="307777"/>
          </a:xfrm>
          <a:prstGeom prst="rect">
            <a:avLst/>
          </a:prstGeom>
        </p:spPr>
        <p:txBody>
          <a:bodyPr wrap="square">
            <a:spAutoFit/>
          </a:bodyPr>
          <a:lstStyle/>
          <a:p>
            <a:pPr lvl="2"/>
            <a:r>
              <a:rPr lang="en-US" altLang="zh-CN" sz="1400" dirty="0"/>
              <a:t>Table 3: Planned prompt construction strategies. </a:t>
            </a:r>
          </a:p>
        </p:txBody>
      </p:sp>
    </p:spTree>
    <p:extLst>
      <p:ext uri="{BB962C8B-B14F-4D97-AF65-F5344CB8AC3E}">
        <p14:creationId xmlns:p14="http://schemas.microsoft.com/office/powerpoint/2010/main" val="49991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US" altLang="zh-CN" sz="3200" dirty="0"/>
              <a:t>Appendix: Preliminary Result</a:t>
            </a:r>
            <a:endParaRPr lang="en-AU" sz="3200" dirty="0"/>
          </a:p>
        </p:txBody>
      </p:sp>
      <p:pic>
        <p:nvPicPr>
          <p:cNvPr id="4" name="图片 3" descr="图表, 折线图&#10;&#10;描述已自动生成">
            <a:extLst>
              <a:ext uri="{FF2B5EF4-FFF2-40B4-BE49-F238E27FC236}">
                <a16:creationId xmlns:a16="http://schemas.microsoft.com/office/drawing/2014/main" id="{A0A09863-9B8E-BE8D-3A71-855AFACC79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4279" y="2482641"/>
            <a:ext cx="5400600" cy="4033359"/>
          </a:xfrm>
          <a:prstGeom prst="rect">
            <a:avLst/>
          </a:prstGeom>
        </p:spPr>
      </p:pic>
      <p:sp>
        <p:nvSpPr>
          <p:cNvPr id="7" name="文本框 6">
            <a:extLst>
              <a:ext uri="{FF2B5EF4-FFF2-40B4-BE49-F238E27FC236}">
                <a16:creationId xmlns:a16="http://schemas.microsoft.com/office/drawing/2014/main" id="{9E3C94F2-14C5-775B-1BA5-1BBDD724F806}"/>
              </a:ext>
            </a:extLst>
          </p:cNvPr>
          <p:cNvSpPr txBox="1"/>
          <p:nvPr/>
        </p:nvSpPr>
        <p:spPr>
          <a:xfrm>
            <a:off x="345600" y="980728"/>
            <a:ext cx="9926864" cy="1815882"/>
          </a:xfrm>
          <a:prstGeom prst="rect">
            <a:avLst/>
          </a:prstGeom>
          <a:noFill/>
        </p:spPr>
        <p:txBody>
          <a:bodyPr wrap="square">
            <a:spAutoFit/>
          </a:bodyPr>
          <a:lstStyle/>
          <a:p>
            <a:pPr>
              <a:lnSpc>
                <a:spcPct val="150000"/>
              </a:lnSpc>
            </a:pPr>
            <a:r>
              <a:rPr lang="zh-CN" altLang="en-US" sz="1600" dirty="0">
                <a:solidFill>
                  <a:schemeClr val="bg2"/>
                </a:solidFill>
              </a:rPr>
              <a:t>Model: YOLOv8s</a:t>
            </a:r>
          </a:p>
          <a:p>
            <a:pPr>
              <a:lnSpc>
                <a:spcPct val="150000"/>
              </a:lnSpc>
            </a:pPr>
            <a:r>
              <a:rPr lang="zh-CN" altLang="en-US" sz="1600" dirty="0">
                <a:solidFill>
                  <a:schemeClr val="bg2"/>
                </a:solidFill>
              </a:rPr>
              <a:t>Dataset division: 70% for training, 20% for validation, and 10% for testing (excluding synthetic images).</a:t>
            </a:r>
          </a:p>
          <a:p>
            <a:pPr>
              <a:lnSpc>
                <a:spcPct val="150000"/>
              </a:lnSpc>
            </a:pPr>
            <a:r>
              <a:rPr lang="zh-CN" altLang="en-US" sz="1600" dirty="0">
                <a:solidFill>
                  <a:schemeClr val="bg2"/>
                </a:solidFill>
              </a:rPr>
              <a:t>top-k (0-8) filter synthetic images</a:t>
            </a:r>
            <a:endParaRPr lang="en-US" altLang="zh-CN" sz="1600" dirty="0">
              <a:solidFill>
                <a:schemeClr val="bg2"/>
              </a:solidFill>
            </a:endParaRPr>
          </a:p>
          <a:p>
            <a:pPr>
              <a:lnSpc>
                <a:spcPct val="150000"/>
              </a:lnSpc>
            </a:pPr>
            <a:r>
              <a:rPr lang="en-US" altLang="zh-CN" sz="1600" dirty="0">
                <a:solidFill>
                  <a:schemeClr val="bg2"/>
                </a:solidFill>
              </a:rPr>
              <a:t>retaining about half of the synthetic images improves the model’s performance.</a:t>
            </a:r>
          </a:p>
          <a:p>
            <a:endParaRPr lang="zh-CN" altLang="en-US" sz="1600" dirty="0">
              <a:solidFill>
                <a:schemeClr val="bg2"/>
              </a:solidFill>
            </a:endParaRPr>
          </a:p>
        </p:txBody>
      </p:sp>
    </p:spTree>
    <p:extLst>
      <p:ext uri="{BB962C8B-B14F-4D97-AF65-F5344CB8AC3E}">
        <p14:creationId xmlns:p14="http://schemas.microsoft.com/office/powerpoint/2010/main" val="2751844353"/>
      </p:ext>
    </p:extLst>
  </p:cSld>
  <p:clrMapOvr>
    <a:masterClrMapping/>
  </p:clrMapOvr>
</p:sld>
</file>

<file path=ppt/theme/theme1.xml><?xml version="1.0" encoding="utf-8"?>
<a:theme xmlns:a="http://schemas.openxmlformats.org/drawingml/2006/main" name="University of Melbourne">
  <a:themeElements>
    <a:clrScheme name="UOM Option2 Colours">
      <a:dk1>
        <a:sysClr val="windowText" lastClr="000000"/>
      </a:dk1>
      <a:lt1>
        <a:sysClr val="window" lastClr="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University of Melbourn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Black Sheoak (Dark)">
      <a:srgbClr val="78000D"/>
    </a:custClr>
    <a:custClr name="Possum (Dark)">
      <a:srgbClr val="73234B"/>
    </a:custClr>
    <a:custClr name="Possum (Light)">
      <a:srgbClr val="EB7BBE"/>
    </a:custClr>
    <a:custClr name="Yam Daisy (Dark)">
      <a:srgbClr val="A84500"/>
    </a:custClr>
    <a:custClr name="Yam Daisy (Light)">
      <a:srgbClr val="FFD629"/>
    </a:custClr>
    <a:custClr name="Magpie (Light)">
      <a:srgbClr val="C8C8C8"/>
    </a:custClr>
    <a:custClr name="Mt William Greenstone (Light)">
      <a:srgbClr val="ABC1A7"/>
    </a:custClr>
    <a:custClr name="River Red Gum (Dark)">
      <a:srgbClr val="2C421D"/>
    </a:custClr>
    <a:custClr name="Magpie (Dark)">
      <a:srgbClr val="2D2D2D"/>
    </a:custClr>
    <a:custClr name="Mt William Greenstone (Dark)">
      <a:srgbClr val="444A40"/>
    </a:custClr>
  </a:custClrLst>
  <a:extLst>
    <a:ext uri="{05A4C25C-085E-4340-85A3-A5531E510DB2}">
      <thm15:themeFamily xmlns:thm15="http://schemas.microsoft.com/office/thememl/2012/main" name="Master_University of Melbourne.potx" id="{EEF8E8C5-136A-4328-9120-DC238DB23620}" vid="{3C59B156-C13B-4CA4-AD0B-4F3716D70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UI/customUI.xml><?xml version="1.0" encoding="utf-8"?>
<customUI xmlns="http://schemas.microsoft.com/office/2006/01/customui">
  <ribbon startFromScratch="false">
    <tabs>
      <tab id="CustomTab" label="University of Melbourne" insertBeforeMso="TabHome" keytip="Q">
        <group idMso="GroupSlides"/>
        <group id="Group1" label="Change Bullet Styles">
          <button idMso="IndentDecrease" visible="true" label="Decrease List Level" size="large"/>
          <button idMso="IndentIncrease" visible="true" label="Increase List Level" size="large"/>
        </group>
        <group id="Group2" label=" ">
          <checkBox idMso="GuidesShowHide" label="Guides"/>
          <splitButton id="groupsplitbutton" size="normal">
            <button idMso="ObjectsGroup"/>
            <menu id="groupsplitmenu" itemSize="large">
              <button idMso="ObjectsUngroup" description="Un-group selected objects" screentip="Un-group selected objects"/>
              <button idMso="ObjectsRegroup" description="Combine and re-Group selected objects" screentip="Combine and re-Group selected objects"/>
            </menu>
          </splitButton>
          <splitButton id="Cropping" size="normal">
            <toggleButton idMso="PictureCrop" label="Crop Tools"/>
            <menu id="CropMenu" itemSize="large">
              <button idMso="PictureFitCrop" description="Resize picture to fit the placeholder proportionally"/>
              <menuSeparator id="croppingmenu2"/>
              <menu idMso="PictureCropAspectRatioMenu" description="Crop image to selected aspect ratio"/>
              <gallery idMso="PictureShapeGallery" description="Crop image to selected shape"/>
            </menu>
          </splitButton>
          <separator id="sep1"/>
          <button idMso="ZoomFitToWindow" size="large" label="Fit to Window"/>
        </group>
        <group id="customGroup3" label="Accessibility Tools">
          <splitButton idMso="MenuAccessibility" visible="true" size="large"/>
          <separator id="Acc"/>
          <toggleButton idMso="AltTextPaneRibbon" visible="true" size="large"/>
          <separator id="sep3"/>
          <toggleButton idMso="SelectionPane" label="Selection Pane" size="large"/>
          <separator id="sep2"/>
          <splitButton id="sendbacksplitbutton" size="large">
            <button idMso="ObjectSendToBack" label="Send to Back"/>
            <menu id="sendbacksplitmenu" itemSize="large">
              <button idMso="ObjectBringToFront" label="Bring to Front"/>
            </menu>
          </splitButton>
        </group>
        <group id="group3" label=" ">
          <button idMso="PictureInsertFromFilePowerPoint" visible="true" size="large" label="Insert Symbols and Patterns" imageMso="InsertPictures"/>
          <button idMso="HeaderFooterInsert" size="large"/>
          <button idMso="PasteTextOnly" size="large" imageMso="Paste" label="Paste Unformatted"/>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11C620F3B436428A25057898027FE7" ma:contentTypeVersion="13" ma:contentTypeDescription="Create a new document." ma:contentTypeScope="" ma:versionID="e75af887571335a19ecb0f2c01abbd63">
  <xsd:schema xmlns:xsd="http://www.w3.org/2001/XMLSchema" xmlns:xs="http://www.w3.org/2001/XMLSchema" xmlns:p="http://schemas.microsoft.com/office/2006/metadata/properties" xmlns:ns2="11b4f495-11b8-43f2-b0a6-bd3e9198cf0b" xmlns:ns3="ae8ede3d-ca04-40de-a521-e5739ec48b5f" targetNamespace="http://schemas.microsoft.com/office/2006/metadata/properties" ma:root="true" ma:fieldsID="5a5d3d7acb5601e93c2cbac012439d32" ns2:_="" ns3:_="">
    <xsd:import namespace="11b4f495-11b8-43f2-b0a6-bd3e9198cf0b"/>
    <xsd:import namespace="ae8ede3d-ca04-40de-a521-e5739ec48b5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b4f495-11b8-43f2-b0a6-bd3e9198cf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66921fe-4017-451f-be36-692af8ba859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e8ede3d-ca04-40de-a521-e5739ec48b5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eebe2cbe-a4cc-4daf-9365-b3e719dfc505}" ma:internalName="TaxCatchAll" ma:showField="CatchAllData" ma:web="ae8ede3d-ca04-40de-a521-e5739ec48b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1b4f495-11b8-43f2-b0a6-bd3e9198cf0b">
      <Terms xmlns="http://schemas.microsoft.com/office/infopath/2007/PartnerControls"/>
    </lcf76f155ced4ddcb4097134ff3c332f>
    <TaxCatchAll xmlns="ae8ede3d-ca04-40de-a521-e5739ec48b5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BE7C61-A3B0-4286-8062-81097C40FC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b4f495-11b8-43f2-b0a6-bd3e9198cf0b"/>
    <ds:schemaRef ds:uri="ae8ede3d-ca04-40de-a521-e5739ec48b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8FFBB9-4FB3-4A1F-8381-B3FA72337E91}">
  <ds:schemaRef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2006/metadata/properties"/>
    <ds:schemaRef ds:uri="ae8ede3d-ca04-40de-a521-e5739ec48b5f"/>
    <ds:schemaRef ds:uri="http://schemas.microsoft.com/office/infopath/2007/PartnerControls"/>
    <ds:schemaRef ds:uri="11b4f495-11b8-43f2-b0a6-bd3e9198cf0b"/>
    <ds:schemaRef ds:uri="http://www.w3.org/XML/1998/namespace"/>
  </ds:schemaRefs>
</ds:datastoreItem>
</file>

<file path=customXml/itemProps3.xml><?xml version="1.0" encoding="utf-8"?>
<ds:datastoreItem xmlns:ds="http://schemas.openxmlformats.org/officeDocument/2006/customXml" ds:itemID="{42C75387-93F6-4D93-B300-D671EFAD96D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Master_University-of-Melbourne</Template>
  <TotalTime>5700</TotalTime>
  <Words>2925</Words>
  <Application>Microsoft Office PowerPoint</Application>
  <PresentationFormat>宽屏</PresentationFormat>
  <Paragraphs>208</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Arial</vt:lpstr>
      <vt:lpstr>Calibri</vt:lpstr>
      <vt:lpstr>Open Sans</vt:lpstr>
      <vt:lpstr>University of Melbourne</vt:lpstr>
      <vt:lpstr>Data Quality of Generative Images for Object Detection, Real vs Generated</vt:lpstr>
      <vt:lpstr>Introduction</vt:lpstr>
      <vt:lpstr>PowerPoint 演示文稿</vt:lpstr>
      <vt:lpstr>PowerPoint 演示文稿</vt:lpstr>
      <vt:lpstr>Background: Current Methods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Appendix: Diffusion Model</vt:lpstr>
      <vt:lpstr>Appendix: Controlnet Structure</vt:lpstr>
      <vt:lpstr>Appendix: Ablation Study</vt:lpstr>
      <vt:lpstr>Appendix: Preliminary Result</vt:lpstr>
    </vt:vector>
  </TitlesOfParts>
  <Company>The University of Melbourne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Microsoft PowerPoint</dc:title>
  <dc:creator>Susannah Woodward</dc:creator>
  <cp:lastModifiedBy>景成 钱</cp:lastModifiedBy>
  <cp:revision>48</cp:revision>
  <dcterms:created xsi:type="dcterms:W3CDTF">2024-08-22T01:42:58Z</dcterms:created>
  <dcterms:modified xsi:type="dcterms:W3CDTF">2025-10-24T01:28:47Z</dcterms:modified>
  <cp:category>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0x0101001A11C620F3B436428A25057898027FE7</vt:lpwstr>
  </property>
</Properties>
</file>