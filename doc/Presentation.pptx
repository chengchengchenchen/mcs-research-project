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41130059ae474ffa" Type="http://schemas.microsoft.com/office/2006/relationships/ui/extensibility" Target="customUI/customUI.xml"/><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370" r:id="rId5"/>
    <p:sldId id="454" r:id="rId6"/>
    <p:sldId id="359" r:id="rId7"/>
    <p:sldId id="456" r:id="rId8"/>
    <p:sldId id="457" r:id="rId9"/>
    <p:sldId id="458" r:id="rId10"/>
    <p:sldId id="459" r:id="rId11"/>
    <p:sldId id="460" r:id="rId12"/>
  </p:sldIdLst>
  <p:sldSz cx="12192000" cy="6858000"/>
  <p:notesSz cx="6858000" cy="9144000"/>
  <p:defaultTex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defaultTextStyle>
  <p:extLst>
    <p:ext uri="{521415D9-36F7-43E2-AB2F-B90AF26B5E84}">
      <p14:sectionLst xmlns:p14="http://schemas.microsoft.com/office/powerpoint/2010/main">
        <p14:section name="Right Click for Option" id="{4FDA67CD-A15C-4C29-8948-D1BF91269A83}">
          <p14:sldIdLst>
            <p14:sldId id="370"/>
            <p14:sldId id="454"/>
            <p14:sldId id="359"/>
            <p14:sldId id="456"/>
            <p14:sldId id="457"/>
            <p14:sldId id="458"/>
            <p14:sldId id="459"/>
            <p14:sldId id="46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ay" initials="" lastIdx="0" clrIdx="0"/>
  <p:cmAuthor id="1" name="Shay" initials="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B8D8"/>
    <a:srgbClr val="EB7BBE"/>
    <a:srgbClr val="FFD629"/>
    <a:srgbClr val="EBEBEB"/>
    <a:srgbClr val="4F4C37"/>
    <a:srgbClr val="1E497D"/>
    <a:srgbClr val="8F999E"/>
    <a:srgbClr val="FFFFFF"/>
    <a:srgbClr val="000000"/>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186E7CC-E9CA-4A81-9595-9A8B10420DC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5" autoAdjust="0"/>
    <p:restoredTop sz="82223" autoAdjust="0"/>
  </p:normalViewPr>
  <p:slideViewPr>
    <p:cSldViewPr snapToObjects="1">
      <p:cViewPr varScale="1">
        <p:scale>
          <a:sx n="90" d="100"/>
          <a:sy n="90" d="100"/>
        </p:scale>
        <p:origin x="1244" y="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72" d="100"/>
        <a:sy n="172" d="100"/>
      </p:scale>
      <p:origin x="0" y="-9864"/>
    </p:cViewPr>
  </p:sorterViewPr>
  <p:notesViewPr>
    <p:cSldViewPr snapToObjects="1" showGuides="1">
      <p:cViewPr varScale="1">
        <p:scale>
          <a:sx n="84" d="100"/>
          <a:sy n="84" d="100"/>
        </p:scale>
        <p:origin x="297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7200"/>
          </a:xfrm>
          <a:prstGeom prst="rect">
            <a:avLst/>
          </a:prstGeom>
        </p:spPr>
        <p:txBody>
          <a:bodyPr vert="horz" lIns="72000" tIns="72000" rIns="72000" bIns="72000" rtlCol="0" anchor="t" anchorCtr="0"/>
          <a:lstStyle/>
          <a:p>
            <a:endParaRPr lang="en-AU" sz="1000" dirty="0">
              <a:cs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72000" tIns="72000" rIns="72000" bIns="72000" rtlCol="0"/>
          <a:lstStyle>
            <a:lvl1pPr algn="r">
              <a:defRPr sz="1200"/>
            </a:lvl1pPr>
          </a:lstStyle>
          <a:p>
            <a:fld id="{4E50C307-5AD1-4F8C-91A0-1FC7219EFB34}" type="datetimeFigureOut">
              <a:rPr lang="en-AU" sz="1000" smtClean="0">
                <a:cs typeface="Arial" pitchFamily="34" charset="0"/>
              </a:rPr>
              <a:t>11/10/2025</a:t>
            </a:fld>
            <a:endParaRPr lang="en-AU" sz="1000" dirty="0">
              <a:cs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72000" tIns="72000" rIns="72000" bIns="72000" rtlCol="0" anchor="b"/>
          <a:lstStyle>
            <a:lvl1pPr algn="l">
              <a:defRPr sz="1200"/>
            </a:lvl1pPr>
          </a:lstStyle>
          <a:p>
            <a:endParaRPr lang="en-AU" sz="1000" dirty="0">
              <a:cs typeface="Arial" pitchFamily="34" charset="0"/>
            </a:endParaRPr>
          </a:p>
        </p:txBody>
      </p:sp>
      <p:sp>
        <p:nvSpPr>
          <p:cNvPr id="5" name="Slide Number Placeholder 4"/>
          <p:cNvSpPr>
            <a:spLocks noGrp="1"/>
          </p:cNvSpPr>
          <p:nvPr>
            <p:ph type="sldNum" sz="quarter" idx="3"/>
          </p:nvPr>
        </p:nvSpPr>
        <p:spPr>
          <a:xfrm>
            <a:off x="5769261" y="8685213"/>
            <a:ext cx="1087153" cy="457200"/>
          </a:xfrm>
          <a:prstGeom prst="rect">
            <a:avLst/>
          </a:prstGeom>
        </p:spPr>
        <p:txBody>
          <a:bodyPr vert="horz" lIns="0" tIns="36000" rIns="91440" bIns="36000" rtlCol="0" anchor="b"/>
          <a:lstStyle>
            <a:lvl1pPr algn="r">
              <a:defRPr sz="1200"/>
            </a:lvl1pPr>
          </a:lstStyle>
          <a:p>
            <a:fld id="{AF84CFB5-B6E9-4915-957C-05CFA717E28F}" type="slidenum">
              <a:rPr lang="en-AU" sz="1000" smtClean="0">
                <a:cs typeface="Arial" pitchFamily="34" charset="0"/>
              </a:rPr>
              <a:t>‹#›</a:t>
            </a:fld>
            <a:endParaRPr lang="en-AU" sz="1000" dirty="0">
              <a:cs typeface="Arial" pitchFamily="34" charset="0"/>
            </a:endParaRPr>
          </a:p>
        </p:txBody>
      </p:sp>
    </p:spTree>
    <p:extLst>
      <p:ext uri="{BB962C8B-B14F-4D97-AF65-F5344CB8AC3E}">
        <p14:creationId xmlns:p14="http://schemas.microsoft.com/office/powerpoint/2010/main" val="2668290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6200" y="76200"/>
            <a:ext cx="5017985" cy="381000"/>
          </a:xfrm>
          <a:prstGeom prst="rect">
            <a:avLst/>
          </a:prstGeom>
        </p:spPr>
        <p:txBody>
          <a:bodyPr vert="horz" lIns="0" tIns="0" rIns="0" bIns="0" rtlCol="0"/>
          <a:lstStyle>
            <a:lvl1pPr algn="l">
              <a:defRPr sz="1200">
                <a:latin typeface="+mn-lt"/>
              </a:defRPr>
            </a:lvl1pPr>
          </a:lstStyle>
          <a:p>
            <a:endParaRPr lang="en-AU" dirty="0"/>
          </a:p>
        </p:txBody>
      </p:sp>
      <p:sp>
        <p:nvSpPr>
          <p:cNvPr id="3" name="Date Placeholder 2"/>
          <p:cNvSpPr>
            <a:spLocks noGrp="1"/>
          </p:cNvSpPr>
          <p:nvPr>
            <p:ph type="dt" idx="1"/>
          </p:nvPr>
        </p:nvSpPr>
        <p:spPr>
          <a:xfrm>
            <a:off x="5398770" y="64770"/>
            <a:ext cx="1417320" cy="381000"/>
          </a:xfrm>
          <a:prstGeom prst="rect">
            <a:avLst/>
          </a:prstGeom>
        </p:spPr>
        <p:txBody>
          <a:bodyPr vert="horz" lIns="0" tIns="0" rIns="0" bIns="0" rtlCol="0"/>
          <a:lstStyle>
            <a:lvl1pPr algn="r">
              <a:defRPr sz="1200">
                <a:latin typeface="+mn-lt"/>
              </a:defRPr>
            </a:lvl1pPr>
          </a:lstStyle>
          <a:p>
            <a:fld id="{9BB1C32A-CF46-409D-8B8D-587A7E3A4DCC}" type="datetimeFigureOut">
              <a:rPr lang="en-AU" smtClean="0"/>
              <a:pPr/>
              <a:t>11/10/2025</a:t>
            </a:fld>
            <a:endParaRPr lang="en-AU" dirty="0"/>
          </a:p>
        </p:txBody>
      </p:sp>
      <p:sp>
        <p:nvSpPr>
          <p:cNvPr id="4" name="Slide Image Placeholder 3"/>
          <p:cNvSpPr>
            <a:spLocks noGrp="1" noRot="1" noChangeAspect="1"/>
          </p:cNvSpPr>
          <p:nvPr>
            <p:ph type="sldImg" idx="2"/>
          </p:nvPr>
        </p:nvSpPr>
        <p:spPr>
          <a:xfrm>
            <a:off x="-246063" y="542925"/>
            <a:ext cx="7342188" cy="4130675"/>
          </a:xfrm>
          <a:prstGeom prst="rect">
            <a:avLst/>
          </a:prstGeom>
          <a:noFill/>
          <a:ln w="3175">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2264" y="4977044"/>
            <a:ext cx="5505891" cy="3481155"/>
          </a:xfrm>
          <a:prstGeom prst="rect">
            <a:avLst/>
          </a:prstGeom>
        </p:spPr>
        <p:txBody>
          <a:bodyPr vert="horz" lIns="0" tIns="0" rIns="0" bIns="0" rtlCol="0">
            <a:normAutofit/>
          </a:bodyPr>
          <a:lstStyle/>
          <a:p>
            <a:pPr lvl="0"/>
            <a:r>
              <a:rPr lang="en-AU" noProof="0" dirty="0"/>
              <a:t>Click to edit Master text styles</a:t>
            </a:r>
          </a:p>
          <a:p>
            <a:pPr marL="0" lvl="1"/>
            <a:r>
              <a:rPr lang="en-AU" noProof="0" dirty="0"/>
              <a:t>Second level</a:t>
            </a:r>
          </a:p>
          <a:p>
            <a:pPr marL="144000" lvl="2" indent="-144000">
              <a:buFont typeface="Arial" pitchFamily="34" charset="0"/>
              <a:buChar char="•"/>
            </a:pPr>
            <a:r>
              <a:rPr lang="en-AU" noProof="0" dirty="0"/>
              <a:t>Third level</a:t>
            </a:r>
          </a:p>
          <a:p>
            <a:pPr marL="288000" lvl="3" indent="-144000">
              <a:buFont typeface="Arial" pitchFamily="34" charset="0"/>
              <a:buChar char="•"/>
            </a:pPr>
            <a:r>
              <a:rPr lang="en-AU" noProof="0" dirty="0"/>
              <a:t>Fourth level</a:t>
            </a:r>
          </a:p>
        </p:txBody>
      </p:sp>
      <p:sp>
        <p:nvSpPr>
          <p:cNvPr id="6" name="Footer Placeholder 5"/>
          <p:cNvSpPr>
            <a:spLocks noGrp="1"/>
          </p:cNvSpPr>
          <p:nvPr>
            <p:ph type="ftr" sz="quarter" idx="4"/>
          </p:nvPr>
        </p:nvSpPr>
        <p:spPr>
          <a:xfrm>
            <a:off x="76200" y="8685213"/>
            <a:ext cx="4800600" cy="360000"/>
          </a:xfrm>
          <a:prstGeom prst="rect">
            <a:avLst/>
          </a:prstGeom>
        </p:spPr>
        <p:txBody>
          <a:bodyPr vert="horz" lIns="91440" tIns="45720" rIns="91440" bIns="45720" rtlCol="0" anchor="b"/>
          <a:lstStyle>
            <a:lvl1pPr algn="l">
              <a:defRPr sz="1200">
                <a:latin typeface="+mn-lt"/>
                <a:cs typeface="Arial" pitchFamily="34" charset="0"/>
              </a:defRPr>
            </a:lvl1pPr>
          </a:lstStyle>
          <a:p>
            <a:endParaRPr lang="en-AU" dirty="0"/>
          </a:p>
        </p:txBody>
      </p:sp>
      <p:sp>
        <p:nvSpPr>
          <p:cNvPr id="7" name="Slide Number Placeholder 6"/>
          <p:cNvSpPr>
            <a:spLocks noGrp="1"/>
          </p:cNvSpPr>
          <p:nvPr>
            <p:ph type="sldNum" sz="quarter" idx="5"/>
          </p:nvPr>
        </p:nvSpPr>
        <p:spPr>
          <a:xfrm>
            <a:off x="5855969" y="8685213"/>
            <a:ext cx="989013" cy="360000"/>
          </a:xfrm>
          <a:prstGeom prst="rect">
            <a:avLst/>
          </a:prstGeom>
        </p:spPr>
        <p:txBody>
          <a:bodyPr vert="horz" lIns="91440" tIns="45720" rIns="91440" bIns="45720" rtlCol="0" anchor="b"/>
          <a:lstStyle>
            <a:lvl1pPr algn="r">
              <a:defRPr sz="1200">
                <a:latin typeface="+mn-lt"/>
              </a:defRPr>
            </a:lvl1pPr>
          </a:lstStyle>
          <a:p>
            <a:fld id="{D5A593CC-2149-4E6C-BC3C-0044C280ECB2}" type="slidenum">
              <a:rPr lang="en-AU" smtClean="0"/>
              <a:pPr/>
              <a:t>‹#›</a:t>
            </a:fld>
            <a:endParaRPr lang="en-AU"/>
          </a:p>
        </p:txBody>
      </p:sp>
    </p:spTree>
    <p:extLst>
      <p:ext uri="{BB962C8B-B14F-4D97-AF65-F5344CB8AC3E}">
        <p14:creationId xmlns:p14="http://schemas.microsoft.com/office/powerpoint/2010/main" val="3772576877"/>
      </p:ext>
    </p:extLst>
  </p:cSld>
  <p:clrMap bg1="lt1" tx1="dk1" bg2="lt2" tx2="dk2" accent1="accent1" accent2="accent2" accent3="accent3" accent4="accent4" accent5="accent5" accent6="accent6" hlink="hlink" folHlink="folHlink"/>
  <p:notesStyle>
    <a:lvl1pPr marL="0" algn="l" defTabSz="1218895" rtl="0" eaLnBrk="1" latinLnBrk="0" hangingPunct="1">
      <a:defRPr lang="en-US" sz="1600" b="1" kern="1200" dirty="0" smtClean="0">
        <a:solidFill>
          <a:schemeClr val="tx1"/>
        </a:solidFill>
        <a:latin typeface="+mn-lt"/>
        <a:ea typeface="+mn-ea"/>
        <a:cs typeface="Arial" pitchFamily="34" charset="0"/>
      </a:defRPr>
    </a:lvl1pPr>
    <a:lvl2pPr marL="609448" algn="l" defTabSz="1218895" rtl="0" eaLnBrk="1" latinLnBrk="0" hangingPunct="1">
      <a:defRPr lang="en-US" sz="1600" kern="1200" dirty="0" smtClean="0">
        <a:solidFill>
          <a:schemeClr val="tx1"/>
        </a:solidFill>
        <a:latin typeface="Arial" pitchFamily="34" charset="0"/>
        <a:ea typeface="+mn-ea"/>
        <a:cs typeface="Arial" pitchFamily="34" charset="0"/>
      </a:defRPr>
    </a:lvl2pPr>
    <a:lvl3pPr marL="1218895" algn="l" defTabSz="1218895" rtl="0" eaLnBrk="1" latinLnBrk="0" hangingPunct="1">
      <a:defRPr lang="en-US" sz="1600" kern="1200" dirty="0" smtClean="0">
        <a:solidFill>
          <a:schemeClr val="tx1"/>
        </a:solidFill>
        <a:latin typeface="Arial" pitchFamily="34" charset="0"/>
        <a:ea typeface="+mn-ea"/>
        <a:cs typeface="Arial" pitchFamily="34" charset="0"/>
      </a:defRPr>
    </a:lvl3pPr>
    <a:lvl4pPr marL="1828343" algn="l" defTabSz="1218895" rtl="0" eaLnBrk="1" latinLnBrk="0" hangingPunct="1">
      <a:defRPr lang="en-US" sz="1600" kern="1200" dirty="0" smtClean="0">
        <a:solidFill>
          <a:schemeClr val="tx1"/>
        </a:solidFill>
        <a:latin typeface="Arial" pitchFamily="34" charset="0"/>
        <a:ea typeface="+mn-ea"/>
        <a:cs typeface="Arial" pitchFamily="34" charset="0"/>
      </a:defRPr>
    </a:lvl4pPr>
    <a:lvl5pPr marL="2437790" algn="l" defTabSz="1218895" rtl="0" eaLnBrk="1" latinLnBrk="0" hangingPunct="1">
      <a:defRPr lang="en-AU" sz="1600" kern="1200" baseline="0" dirty="0">
        <a:solidFill>
          <a:schemeClr val="tx1"/>
        </a:solidFill>
        <a:latin typeface="Arial" pitchFamily="34" charset="0"/>
        <a:ea typeface="+mn-ea"/>
        <a:cs typeface="Arial" pitchFamily="34" charset="0"/>
      </a:defRPr>
    </a:lvl5pPr>
    <a:lvl6pPr marL="3047238" algn="l" defTabSz="1218895" rtl="0" eaLnBrk="1" latinLnBrk="0" hangingPunct="1">
      <a:defRPr sz="1600" kern="1200">
        <a:solidFill>
          <a:schemeClr val="tx1"/>
        </a:solidFill>
        <a:latin typeface="+mn-lt"/>
        <a:ea typeface="+mn-ea"/>
        <a:cs typeface="+mn-cs"/>
      </a:defRPr>
    </a:lvl6pPr>
    <a:lvl7pPr marL="3656686" algn="l" defTabSz="1218895" rtl="0" eaLnBrk="1" latinLnBrk="0" hangingPunct="1">
      <a:defRPr sz="1600" kern="1200">
        <a:solidFill>
          <a:schemeClr val="tx1"/>
        </a:solidFill>
        <a:latin typeface="+mn-lt"/>
        <a:ea typeface="+mn-ea"/>
        <a:cs typeface="+mn-cs"/>
      </a:defRPr>
    </a:lvl7pPr>
    <a:lvl8pPr marL="4266133" algn="l" defTabSz="1218895" rtl="0" eaLnBrk="1" latinLnBrk="0" hangingPunct="1">
      <a:defRPr sz="1600" kern="1200">
        <a:solidFill>
          <a:schemeClr val="tx1"/>
        </a:solidFill>
        <a:latin typeface="+mn-lt"/>
        <a:ea typeface="+mn-ea"/>
        <a:cs typeface="+mn-cs"/>
      </a:defRPr>
    </a:lvl8pPr>
    <a:lvl9pPr marL="4875581" algn="l" defTabSz="121889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 I'm </a:t>
            </a:r>
            <a:r>
              <a:rPr lang="en-US" altLang="zh-CN" dirty="0" err="1"/>
              <a:t>Jingcheng</a:t>
            </a:r>
            <a:r>
              <a:rPr lang="en-US" altLang="zh-CN" dirty="0"/>
              <a:t> Qian. Today, I’m excited to talk about my research on </a:t>
            </a:r>
            <a:r>
              <a:rPr lang="en-US" altLang="zh-CN" sz="1600" dirty="0"/>
              <a:t>Data Quality of Generative Images for Object Detection</a:t>
            </a:r>
            <a:r>
              <a:rPr lang="en-US" altLang="zh-CN" dirty="0"/>
              <a:t>. </a:t>
            </a:r>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1</a:t>
            </a:fld>
            <a:endParaRPr lang="en-AU"/>
          </a:p>
        </p:txBody>
      </p:sp>
    </p:spTree>
    <p:extLst>
      <p:ext uri="{BB962C8B-B14F-4D97-AF65-F5344CB8AC3E}">
        <p14:creationId xmlns:p14="http://schemas.microsoft.com/office/powerpoint/2010/main" val="2110191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Imagine you're watching a video on your phone in a noisy place — and magically, subtitles start appearing in real-time, even without an internet connection.</a:t>
            </a:r>
          </a:p>
          <a:p>
            <a:r>
              <a:rPr lang="en-US" altLang="zh-CN" dirty="0"/>
              <a:t>That’s Google’s **Live Caption**, a speech-recognition network integrated into Android and powered by **TensorFlow Lite**, giving users instant, private, and seamless AI.</a:t>
            </a:r>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2</a:t>
            </a:fld>
            <a:endParaRPr lang="en-AU"/>
          </a:p>
        </p:txBody>
      </p:sp>
    </p:spTree>
    <p:extLst>
      <p:ext uri="{BB962C8B-B14F-4D97-AF65-F5344CB8AC3E}">
        <p14:creationId xmlns:p14="http://schemas.microsoft.com/office/powerpoint/2010/main" val="2448363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i="1" dirty="0"/>
              <a:t>But there’s a catch: these models, stored directly inside application, are vulnerable. They can be extracted, reverse-engineered, or manipulated.</a:t>
            </a:r>
          </a:p>
          <a:p>
            <a:r>
              <a:rPr lang="en-US" altLang="zh-CN" i="1" dirty="0"/>
              <a:t>As mobile AI spreads, so do the security risks.</a:t>
            </a:r>
          </a:p>
          <a:p>
            <a:endParaRPr lang="en-US" altLang="zh-CN" i="1" dirty="0"/>
          </a:p>
          <a:p>
            <a:r>
              <a:rPr lang="en-US" altLang="zh-CN" i="1" dirty="0"/>
              <a:t>This is where my research comes in.</a:t>
            </a:r>
            <a:endParaRPr lang="zh-CN" altLang="en-US" i="1" dirty="0"/>
          </a:p>
        </p:txBody>
      </p:sp>
      <p:sp>
        <p:nvSpPr>
          <p:cNvPr id="4" name="灯片编号占位符 3"/>
          <p:cNvSpPr>
            <a:spLocks noGrp="1"/>
          </p:cNvSpPr>
          <p:nvPr>
            <p:ph type="sldNum" sz="quarter" idx="5"/>
          </p:nvPr>
        </p:nvSpPr>
        <p:spPr/>
        <p:txBody>
          <a:bodyPr/>
          <a:lstStyle/>
          <a:p>
            <a:fld id="{D5A593CC-2149-4E6C-BC3C-0044C280ECB2}" type="slidenum">
              <a:rPr lang="en-AU" smtClean="0"/>
              <a:pPr/>
              <a:t>3</a:t>
            </a:fld>
            <a:endParaRPr lang="en-AU"/>
          </a:p>
        </p:txBody>
      </p:sp>
    </p:spTree>
    <p:extLst>
      <p:ext uri="{BB962C8B-B14F-4D97-AF65-F5344CB8AC3E}">
        <p14:creationId xmlns:p14="http://schemas.microsoft.com/office/powerpoint/2010/main" val="3348779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r>
              <a:rPr lang="en-US" altLang="zh-CN" dirty="0"/>
              <a:t>Let’s take a quick glance to the background.</a:t>
            </a:r>
          </a:p>
          <a:p>
            <a:r>
              <a:rPr lang="en-US" altLang="zh-CN" dirty="0"/>
              <a:t>Local inference is no longer experimental. Neural processors and runtimes such as **TensorFlow Lite and </a:t>
            </a:r>
            <a:r>
              <a:rPr lang="en-US" altLang="zh-CN" dirty="0" err="1"/>
              <a:t>PyTorch</a:t>
            </a:r>
            <a:r>
              <a:rPr lang="en-US" altLang="zh-CN" dirty="0"/>
              <a:t> Mobile** let developers embed filters, recommenders and language models directly in apps.</a:t>
            </a:r>
          </a:p>
          <a:p>
            <a:r>
              <a:rPr lang="en-US" altLang="zh-CN" dirty="0"/>
              <a:t>But with this shift comes a new risk. When a model is stored on device, it’s more exposed than in the cloud.</a:t>
            </a:r>
          </a:p>
          <a:p>
            <a:r>
              <a:rPr lang="en-US" altLang="zh-CN" dirty="0"/>
              <a:t>The **chart** here shows that a **large number of Android applications** with embedded Machine Learning models have **serious security flaws**, and over 80% of such apps were vulnerable to attacks.</a:t>
            </a:r>
          </a:p>
          <a:p>
            <a:r>
              <a:rPr lang="en-US" altLang="zh-CN" dirty="0"/>
              <a:t>So even though on-device AI brings big benefits in speed and privacy, we’re now facing **real-world vulnerabilities** — and that’s the gap my research aims to address.</a:t>
            </a:r>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4</a:t>
            </a:fld>
            <a:endParaRPr lang="en-AU"/>
          </a:p>
        </p:txBody>
      </p:sp>
    </p:spTree>
    <p:extLst>
      <p:ext uri="{BB962C8B-B14F-4D97-AF65-F5344CB8AC3E}">
        <p14:creationId xmlns:p14="http://schemas.microsoft.com/office/powerpoint/2010/main" val="572901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r>
              <a:rPr lang="en-US" altLang="zh-CN" dirty="0"/>
              <a:t>Running AI models directly on mobile makes them fast and private — but also **easy targets**.</a:t>
            </a:r>
          </a:p>
          <a:p>
            <a:r>
              <a:rPr lang="en-US" altLang="zh-CN" dirty="0"/>
              <a:t>As shown here, once a model is packaged within an app, attackers can **extract**, **reverse-engineer it**, or even **modify** how it behaves.</a:t>
            </a:r>
          </a:p>
          <a:p>
            <a:endParaRPr lang="en-US" altLang="zh-CN" dirty="0"/>
          </a:p>
          <a:p>
            <a:r>
              <a:rPr lang="en-US" altLang="zh-CN" dirty="0"/>
              <a:t>This isn't just a theoretical risk. Real attacks have happened in fields like **health**, **finance**, and **driver assistance**, where mistakes can be costly.</a:t>
            </a:r>
          </a:p>
          <a:p>
            <a:r>
              <a:rPr lang="en-US" altLang="zh-CN" dirty="0"/>
              <a:t>The challenge is, current protection strategies often come with a trade-off. Techniques like **Trusted Execution Environments** —  often slow down performance. Others, like quantization, can hurt accuracy or require retraining.</a:t>
            </a:r>
          </a:p>
          <a:p>
            <a:r>
              <a:rPr lang="en-US" altLang="zh-CN" dirty="0"/>
              <a:t>So we’re stuck between two problems: either the model is fast but exposed, or it's secure but too heavy.</a:t>
            </a:r>
          </a:p>
          <a:p>
            <a:r>
              <a:rPr lang="en-US" altLang="zh-CN" dirty="0"/>
              <a:t>That’s the motivation for my research: find **practical, lightweight defenses** that keep mobile AI safe — without breaking usability or speed.</a:t>
            </a:r>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5</a:t>
            </a:fld>
            <a:endParaRPr lang="en-AU"/>
          </a:p>
        </p:txBody>
      </p:sp>
    </p:spTree>
    <p:extLst>
      <p:ext uri="{BB962C8B-B14F-4D97-AF65-F5344CB8AC3E}">
        <p14:creationId xmlns:p14="http://schemas.microsoft.com/office/powerpoint/2010/main" val="926761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r>
              <a:rPr lang="en-US" altLang="zh-CN" dirty="0"/>
              <a:t>So, how exactly will I carry out this research?</a:t>
            </a:r>
          </a:p>
          <a:p>
            <a:r>
              <a:rPr lang="en-US" altLang="zh-CN" dirty="0"/>
              <a:t>First, I’ll define a **threat model** to identify the most relevant attacks expected on Android.</a:t>
            </a:r>
          </a:p>
          <a:p>
            <a:r>
              <a:rPr lang="en-US" altLang="zh-CN" dirty="0"/>
              <a:t>Then, I’ll use **TensorFlow Lite** to deploy common models like </a:t>
            </a:r>
            <a:r>
              <a:rPr lang="en-US" altLang="zh-CN" dirty="0" err="1"/>
              <a:t>MobileNet</a:t>
            </a:r>
            <a:r>
              <a:rPr lang="en-US" altLang="zh-CN" dirty="0"/>
              <a:t> onto Android devices.</a:t>
            </a:r>
          </a:p>
          <a:p>
            <a:r>
              <a:rPr lang="en-US" altLang="zh-CN" dirty="0"/>
              <a:t>with tools such as *IBM ART* and *</a:t>
            </a:r>
            <a:r>
              <a:rPr lang="en-US" altLang="zh-CN" dirty="0" err="1"/>
              <a:t>Foolbox</a:t>
            </a:r>
            <a:r>
              <a:rPr lang="en-US" altLang="zh-CN" dirty="0"/>
              <a:t>*, I’ll mimic an attacker trying to steal or tamper with the model.</a:t>
            </a:r>
          </a:p>
          <a:p>
            <a:r>
              <a:rPr lang="en-US" altLang="zh-CN" dirty="0"/>
              <a:t>After that, I’ll apply several **defense strategies** and test how well they hold up: Encrypting the model file so it can’t be read</a:t>
            </a:r>
          </a:p>
          <a:p>
            <a:r>
              <a:rPr lang="en-US" altLang="zh-CN" dirty="0"/>
              <a:t>- Obfuscating the model’s structure to confuse reverse-engineering And adding watermarks to detect stolen copies</a:t>
            </a:r>
          </a:p>
          <a:p>
            <a:r>
              <a:rPr lang="en-US" altLang="zh-CN" dirty="0"/>
              <a:t>Finally, I’ll evaluate both **security** — like how much of the model leaks — and **performance**, such as how much latency or accuracy is affected.</a:t>
            </a:r>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6</a:t>
            </a:fld>
            <a:endParaRPr lang="en-AU"/>
          </a:p>
        </p:txBody>
      </p:sp>
    </p:spTree>
    <p:extLst>
      <p:ext uri="{BB962C8B-B14F-4D97-AF65-F5344CB8AC3E}">
        <p14:creationId xmlns:p14="http://schemas.microsoft.com/office/powerpoint/2010/main" val="2708187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r>
              <a:rPr lang="en-US" altLang="zh-CN" dirty="0"/>
              <a:t>This research has three key impacts.</a:t>
            </a:r>
          </a:p>
          <a:p>
            <a:r>
              <a:rPr lang="en-US" altLang="zh-CN" dirty="0"/>
              <a:t>First, it helps **secure mobile AI models**, so developers can safely deploy features like voice assistants or health apps without worrying about model theft.</a:t>
            </a:r>
          </a:p>
          <a:p>
            <a:r>
              <a:rPr lang="en-US" altLang="zh-CN" dirty="0"/>
              <a:t>Second, it protects both **intellectual property** and **user privacy**, by making models harder to extract or reverse-engineer.</a:t>
            </a:r>
          </a:p>
          <a:p>
            <a:r>
              <a:rPr lang="en-US" altLang="zh-CN" dirty="0"/>
              <a:t>Finally, the focus is on **lightweight defense** — minimal overhead, so the protections are actually usable in practical development.</a:t>
            </a:r>
          </a:p>
          <a:p>
            <a:r>
              <a:rPr lang="en-US" altLang="zh-CN" dirty="0"/>
              <a:t>In short, this research could help bridge the gap between **secure AI** and **usable AI** — making advanced features on mobile device, not just smart, but safe too.</a:t>
            </a:r>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7</a:t>
            </a:fld>
            <a:endParaRPr lang="en-AU"/>
          </a:p>
        </p:txBody>
      </p:sp>
    </p:spTree>
    <p:extLst>
      <p:ext uri="{BB962C8B-B14F-4D97-AF65-F5344CB8AC3E}">
        <p14:creationId xmlns:p14="http://schemas.microsoft.com/office/powerpoint/2010/main" val="224808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8</a:t>
            </a:fld>
            <a:endParaRPr lang="en-AU"/>
          </a:p>
        </p:txBody>
      </p:sp>
    </p:spTree>
    <p:extLst>
      <p:ext uri="{BB962C8B-B14F-4D97-AF65-F5344CB8AC3E}">
        <p14:creationId xmlns:p14="http://schemas.microsoft.com/office/powerpoint/2010/main" val="3153244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mailto:copyright-office@unimelb.edu.au" TargetMode="External"/><Relationship Id="rId2" Type="http://schemas.openxmlformats.org/officeDocument/2006/relationships/hyperlink" Target="https://academicintegrity.unimelb.edu.au/"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jp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knowledgement of Country">
    <p:bg>
      <p:bgPr>
        <a:solidFill>
          <a:schemeClr val="bg2"/>
        </a:solidFill>
        <a:effectLst/>
      </p:bgPr>
    </p:bg>
    <p:spTree>
      <p:nvGrpSpPr>
        <p:cNvPr id="1" name=""/>
        <p:cNvGrpSpPr/>
        <p:nvPr/>
      </p:nvGrpSpPr>
      <p:grpSpPr>
        <a:xfrm>
          <a:off x="0" y="0"/>
          <a:ext cx="0" cy="0"/>
          <a:chOff x="0" y="0"/>
          <a:chExt cx="0" cy="0"/>
        </a:xfrm>
      </p:grpSpPr>
      <p:pic>
        <p:nvPicPr>
          <p:cNvPr id="5" name="Picture 4" descr="A tree in a park&#10;&#10;Description automatically generated">
            <a:extLst>
              <a:ext uri="{FF2B5EF4-FFF2-40B4-BE49-F238E27FC236}">
                <a16:creationId xmlns:a16="http://schemas.microsoft.com/office/drawing/2014/main" id="{22B7B5EB-409D-C364-0E66-735E92752C91}"/>
              </a:ext>
            </a:extLst>
          </p:cNvPr>
          <p:cNvPicPr>
            <a:picLocks noGrp="1" noRot="1" noChangeAspect="1" noMove="1" noResize="1" noEditPoints="1" noAdjustHandles="1" noChangeArrowheads="1" noChangeShapeType="1" noCrop="1"/>
          </p:cNvPicPr>
          <p:nvPr userDrawn="1"/>
        </p:nvPicPr>
        <p:blipFill rotWithShape="1">
          <a:blip r:embed="rId2">
            <a:alphaModFix amt="17000"/>
            <a:extLst>
              <a:ext uri="{28A0092B-C50C-407E-A947-70E740481C1C}">
                <a14:useLocalDpi xmlns:a14="http://schemas.microsoft.com/office/drawing/2010/main"/>
              </a:ext>
            </a:extLst>
          </a:blip>
          <a:srcRect/>
          <a:stretch/>
        </p:blipFill>
        <p:spPr>
          <a:xfrm>
            <a:off x="0" y="14928"/>
            <a:ext cx="12199058" cy="6852171"/>
          </a:xfrm>
          <a:prstGeom prst="rect">
            <a:avLst/>
          </a:prstGeom>
        </p:spPr>
      </p:pic>
      <p:sp>
        <p:nvSpPr>
          <p:cNvPr id="9" name="TextBox 3">
            <a:extLst>
              <a:ext uri="{FF2B5EF4-FFF2-40B4-BE49-F238E27FC236}">
                <a16:creationId xmlns:a16="http://schemas.microsoft.com/office/drawing/2014/main" id="{CBB971FD-D847-BF4C-933A-802E03ED89A8}"/>
              </a:ext>
            </a:extLst>
          </p:cNvPr>
          <p:cNvSpPr txBox="1">
            <a:spLocks noGrp="1" noRot="1" noMove="1" noResize="1" noEditPoints="1" noAdjustHandles="1" noChangeArrowheads="1" noChangeShapeType="1"/>
          </p:cNvSpPr>
          <p:nvPr userDrawn="1"/>
        </p:nvSpPr>
        <p:spPr>
          <a:xfrm>
            <a:off x="875420" y="1628800"/>
            <a:ext cx="10441160" cy="4478149"/>
          </a:xfrm>
          <a:prstGeom prst="rect">
            <a:avLst/>
          </a:prstGeom>
          <a:solidFill>
            <a:schemeClr val="accent1">
              <a:alpha val="0"/>
            </a:schemeClr>
          </a:solidFill>
        </p:spPr>
        <p:txBody>
          <a:bodyPr wrap="square" rtlCol="0">
            <a:spAutoFit/>
          </a:bodyPr>
          <a:ls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a:lstStyle>
          <a:p>
            <a:pPr algn="l" fontAlgn="base">
              <a:spcBef>
                <a:spcPts val="1200"/>
              </a:spcBef>
            </a:pPr>
            <a:endParaRPr lang="en-AU" sz="1100" b="0" i="0" dirty="0">
              <a:solidFill>
                <a:schemeClr val="bg1"/>
              </a:solidFill>
              <a:effectLst/>
              <a:latin typeface="+mj-lt"/>
            </a:endParaRPr>
          </a:p>
          <a:p>
            <a:pPr algn="l">
              <a:spcBef>
                <a:spcPts val="1200"/>
              </a:spcBef>
            </a:pPr>
            <a:r>
              <a:rPr lang="en-AU" sz="1600" b="0" i="0" dirty="0">
                <a:solidFill>
                  <a:schemeClr val="bg1"/>
                </a:solidFill>
                <a:effectLst/>
                <a:latin typeface="+mj-lt"/>
              </a:rPr>
              <a:t>The University of Melbourne acknowledges the Traditional Owners of the unceded land on which we work, learn and live: the Wurundjeri Woi-wurrung and Bunurong peoples (Burnley, Fishermans Bend, Parkville, Southbank and Werribee campuses), the Yorta Yorta Nation (Dookie and Shepparton campuses), and the Dja Dja Wurrung people (Creswick campus).</a:t>
            </a:r>
          </a:p>
          <a:p>
            <a:pPr algn="l">
              <a:spcBef>
                <a:spcPts val="1200"/>
              </a:spcBef>
            </a:pPr>
            <a:r>
              <a:rPr lang="en-AU" sz="1600" b="0" i="0" dirty="0">
                <a:solidFill>
                  <a:schemeClr val="bg1"/>
                </a:solidFill>
                <a:effectLst/>
                <a:latin typeface="+mj-lt"/>
              </a:rPr>
              <a:t>The University also acknowledges and is grateful to the Traditional Owners, Elders and Knowledge Holders of all Indigenous nations and clans who have been instrumental in our reconciliation journey.</a:t>
            </a:r>
          </a:p>
          <a:p>
            <a:pPr algn="l">
              <a:spcBef>
                <a:spcPts val="1200"/>
              </a:spcBef>
            </a:pPr>
            <a:r>
              <a:rPr lang="en-AU" sz="1600" b="0" i="0" dirty="0">
                <a:solidFill>
                  <a:schemeClr val="bg1"/>
                </a:solidFill>
                <a:effectLst/>
                <a:latin typeface="+mj-lt"/>
              </a:rPr>
              <a:t>We recognise the unique place held by Aboriginal and Torres Strait Islander peoples as the original owners and custodians of the lands and waterways across the Australian continent, with histories of continuous connection dating back more than 60,000 years. We also acknowledge their enduring cultural practices of caring for Country.</a:t>
            </a:r>
          </a:p>
          <a:p>
            <a:pPr algn="l">
              <a:spcBef>
                <a:spcPts val="1200"/>
              </a:spcBef>
            </a:pPr>
            <a:r>
              <a:rPr lang="en-AU" sz="1600" b="0" i="0" dirty="0">
                <a:solidFill>
                  <a:schemeClr val="bg1"/>
                </a:solidFill>
                <a:effectLst/>
                <a:latin typeface="+mj-lt"/>
              </a:rPr>
              <a:t>We pay respect to Elders past, present and future, and acknowledge the importance of Indigenous knowledge in the Academy. As a community of researchers, teachers, professional staff and students we are privileged to work and learn every day with Indigenous colleagues and partners.</a:t>
            </a:r>
          </a:p>
          <a:p>
            <a:pPr algn="l">
              <a:spcBef>
                <a:spcPts val="1200"/>
              </a:spcBef>
            </a:pPr>
            <a:r>
              <a:rPr lang="en-AU" sz="1600" b="0" i="0" dirty="0">
                <a:solidFill>
                  <a:schemeClr val="bg1"/>
                </a:solidFill>
                <a:effectLst/>
                <a:latin typeface="+mj-lt"/>
              </a:rPr>
              <a:t>In making this Acknowledgment of Country we commit to respectful and responsible conduct towards all others according to the Traditional lores of this land, particularly at times of formal ceremony.</a:t>
            </a:r>
            <a:endParaRPr lang="en-AU" sz="1600" dirty="0">
              <a:solidFill>
                <a:schemeClr val="bg1"/>
              </a:solidFill>
              <a:latin typeface="+mj-lt"/>
            </a:endParaRPr>
          </a:p>
        </p:txBody>
      </p:sp>
      <p:pic>
        <p:nvPicPr>
          <p:cNvPr id="6" name="Picture Placeholder 10" descr="Logo&#10;&#10;Description automatically generated">
            <a:extLst>
              <a:ext uri="{FF2B5EF4-FFF2-40B4-BE49-F238E27FC236}">
                <a16:creationId xmlns:a16="http://schemas.microsoft.com/office/drawing/2014/main" id="{72FB4B94-D733-663C-1E58-FF1318E71F5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2239070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notice">
    <p:bg>
      <p:bgPr>
        <a:solidFill>
          <a:schemeClr val="bg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5BE21A-3472-BF8A-EB42-E260FAD81CC6}"/>
              </a:ext>
            </a:extLst>
          </p:cNvPr>
          <p:cNvSpPr txBox="1"/>
          <p:nvPr userDrawn="1"/>
        </p:nvSpPr>
        <p:spPr>
          <a:xfrm>
            <a:off x="1835696" y="1899350"/>
            <a:ext cx="8520608" cy="3305520"/>
          </a:xfrm>
          <a:prstGeom prst="rect">
            <a:avLst/>
          </a:prstGeom>
          <a:noFill/>
          <a:ln w="15875">
            <a:solidFill>
              <a:schemeClr val="bg1"/>
            </a:solidFill>
          </a:ln>
        </p:spPr>
        <p:txBody>
          <a:bodyPr wrap="square">
            <a:spAutoFit/>
          </a:bodyPr>
          <a:lstStyle/>
          <a:p>
            <a:pPr algn="ctr"/>
            <a:endPar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WARNING</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This material has been reproduced and communicated to you by or on behalf of the University of Melbourne in accordance with section 113P of the </a:t>
            </a:r>
            <a:r>
              <a:rPr lang="en-GB" sz="1600" i="1" dirty="0">
                <a:solidFill>
                  <a:schemeClr val="bg1"/>
                </a:solidFill>
                <a:effectLst/>
                <a:latin typeface="Arial" panose="020B0604020202020204" pitchFamily="34" charset="0"/>
                <a:ea typeface="Calibri" panose="020F0502020204030204" pitchFamily="34" charset="0"/>
                <a:cs typeface="Arial" panose="020B0604020202020204" pitchFamily="34" charset="0"/>
              </a:rPr>
              <a:t>Copyright Act 1968</a:t>
            </a: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Act</a:t>
            </a: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The material in this communication may be subject to copyright under the Act. </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Any further reproduction or communication of this material by you may be the subject of copyright protection under the Act.</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Do not remove this notice</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r>
              <a:rPr lang="en-AU" sz="1800" dirty="0">
                <a:effectLst/>
                <a:latin typeface="Calibri" panose="020F0502020204030204" pitchFamily="34" charset="0"/>
                <a:ea typeface="Calibri" panose="020F0502020204030204" pitchFamily="34" charset="0"/>
                <a:cs typeface="Times New Roman" panose="02020603050405020304" pitchFamily="18" charset="0"/>
              </a:rPr>
              <a:t> </a:t>
            </a:r>
            <a:endParaRPr lang="en-AU" dirty="0"/>
          </a:p>
        </p:txBody>
      </p:sp>
    </p:spTree>
    <p:extLst>
      <p:ext uri="{BB962C8B-B14F-4D97-AF65-F5344CB8AC3E}">
        <p14:creationId xmlns:p14="http://schemas.microsoft.com/office/powerpoint/2010/main" val="71598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style1">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dirty="0"/>
              <a:t>[Insert Identifier] | [Insert Report Title]</a:t>
            </a:r>
          </a:p>
        </p:txBody>
      </p:sp>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US"/>
              <a:t>Click to edit Master title style</a:t>
            </a:r>
            <a:endParaRPr lang="en-AU" dirty="0"/>
          </a:p>
        </p:txBody>
      </p:sp>
      <p:pic>
        <p:nvPicPr>
          <p:cNvPr id="12" name="Picture Placeholder 10" descr="Logo&#10;&#10;Description automatically generated">
            <a:extLst>
              <a:ext uri="{FF2B5EF4-FFF2-40B4-BE49-F238E27FC236}">
                <a16:creationId xmlns:a16="http://schemas.microsoft.com/office/drawing/2014/main" id="{B9E60202-450E-CF2C-601B-7D1A7C9B3DF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1914734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_with image_style1">
    <p:bg>
      <p:bgPr>
        <a:solidFill>
          <a:schemeClr val="bg2"/>
        </a:solidFill>
        <a:effectLst/>
      </p:bgPr>
    </p:bg>
    <p:spTree>
      <p:nvGrpSpPr>
        <p:cNvPr id="1" name=""/>
        <p:cNvGrpSpPr/>
        <p:nvPr/>
      </p:nvGrpSpPr>
      <p:grpSpPr>
        <a:xfrm>
          <a:off x="0" y="0"/>
          <a:ext cx="0" cy="0"/>
          <a:chOff x="0" y="0"/>
          <a:chExt cx="0" cy="0"/>
        </a:xfrm>
      </p:grpSpPr>
      <p:sp>
        <p:nvSpPr>
          <p:cNvPr id="10" name="Text Placeholder 10">
            <a:extLst>
              <a:ext uri="{FF2B5EF4-FFF2-40B4-BE49-F238E27FC236}">
                <a16:creationId xmlns:a16="http://schemas.microsoft.com/office/drawing/2014/main" id="{E3D3FA08-3353-A72F-AD1D-5DBF1C9647FE}"/>
              </a:ext>
            </a:extLst>
          </p:cNvPr>
          <p:cNvSpPr>
            <a:spLocks noGrp="1"/>
          </p:cNvSpPr>
          <p:nvPr>
            <p:ph type="body" sz="quarter" idx="18"/>
          </p:nvPr>
        </p:nvSpPr>
        <p:spPr>
          <a:xfrm>
            <a:off x="8966079" y="6437192"/>
            <a:ext cx="2880320"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400">
                <a:solidFill>
                  <a:schemeClr val="bg1"/>
                </a:solidFill>
              </a:defRPr>
            </a:lvl3pPr>
            <a:lvl4pPr marL="0" indent="0" algn="r">
              <a:lnSpc>
                <a:spcPct val="100000"/>
              </a:lnSpc>
              <a:spcAft>
                <a:spcPts val="0"/>
              </a:spcAft>
              <a:buFontTx/>
              <a:buNone/>
              <a:defRPr sz="1400">
                <a:solidFill>
                  <a:schemeClr val="bg1"/>
                </a:solidFill>
              </a:defRPr>
            </a:lvl4pPr>
            <a:lvl5pPr marL="0" indent="0" algn="r">
              <a:lnSpc>
                <a:spcPct val="100000"/>
              </a:lnSpc>
              <a:spcAft>
                <a:spcPts val="0"/>
              </a:spcAft>
              <a:buFontTx/>
              <a:buNone/>
              <a:defRPr sz="1400">
                <a:solidFill>
                  <a:schemeClr val="bg1"/>
                </a:solidFill>
              </a:defRPr>
            </a:lvl5pPr>
            <a:lvl6pPr marL="0" indent="0" algn="r">
              <a:lnSpc>
                <a:spcPct val="100000"/>
              </a:lnSpc>
              <a:spcAft>
                <a:spcPts val="0"/>
              </a:spcAft>
              <a:buFontTx/>
              <a:buNone/>
              <a:defRPr sz="1400">
                <a:solidFill>
                  <a:schemeClr val="bg1"/>
                </a:solidFill>
              </a:defRPr>
            </a:lvl6pPr>
            <a:lvl7pPr marL="0" indent="0" algn="r">
              <a:lnSpc>
                <a:spcPct val="100000"/>
              </a:lnSpc>
              <a:spcAft>
                <a:spcPts val="0"/>
              </a:spcAft>
              <a:buFontTx/>
              <a:buNone/>
              <a:defRPr sz="1400">
                <a:solidFill>
                  <a:schemeClr val="bg1"/>
                </a:solidFill>
              </a:defRPr>
            </a:lvl7pPr>
            <a:lvl8pPr marL="0" indent="0" algn="r">
              <a:lnSpc>
                <a:spcPct val="100000"/>
              </a:lnSpc>
              <a:spcAft>
                <a:spcPts val="0"/>
              </a:spcAft>
              <a:buFontTx/>
              <a:buNone/>
              <a:defRPr sz="1400">
                <a:solidFill>
                  <a:schemeClr val="bg1"/>
                </a:solidFill>
              </a:defRPr>
            </a:lvl8pPr>
            <a:lvl9pPr marL="0" indent="0" algn="r">
              <a:lnSpc>
                <a:spcPct val="100000"/>
              </a:lnSpc>
              <a:spcAft>
                <a:spcPts val="0"/>
              </a:spcAft>
              <a:buFontTx/>
              <a:buNone/>
              <a:defRPr sz="1400">
                <a:solidFill>
                  <a:schemeClr val="bg1"/>
                </a:solidFill>
              </a:defRPr>
            </a:lvl9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p>
        </p:txBody>
      </p:sp>
      <p:pic>
        <p:nvPicPr>
          <p:cNvPr id="6" name="Picture 5" descr="A building with a clock tower&#10;&#10;Description automatically generated">
            <a:extLst>
              <a:ext uri="{FF2B5EF4-FFF2-40B4-BE49-F238E27FC236}">
                <a16:creationId xmlns:a16="http://schemas.microsoft.com/office/drawing/2014/main" id="{539DE1A1-49DF-E58A-6C88-61C3401E0A41}"/>
              </a:ext>
            </a:extLst>
          </p:cNvPr>
          <p:cNvPicPr>
            <a:picLocks noChangeAspect="1"/>
          </p:cNvPicPr>
          <p:nvPr userDrawn="1"/>
        </p:nvPicPr>
        <p:blipFill rotWithShape="1">
          <a:blip r:embed="rId2" cstate="email">
            <a:alphaModFix amt="15000"/>
            <a:extLst>
              <a:ext uri="{28A0092B-C50C-407E-A947-70E740481C1C}">
                <a14:useLocalDpi xmlns:a14="http://schemas.microsoft.com/office/drawing/2010/main"/>
              </a:ext>
            </a:extLst>
          </a:blip>
          <a:srcRect/>
          <a:stretch/>
        </p:blipFill>
        <p:spPr>
          <a:xfrm>
            <a:off x="322875" y="342000"/>
            <a:ext cx="11534887" cy="5791668"/>
          </a:xfrm>
          <a:prstGeom prst="rect">
            <a:avLst/>
          </a:prstGeom>
        </p:spPr>
      </p:pic>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US"/>
              <a:t>Click to edit Master title style</a:t>
            </a:r>
            <a:endParaRPr lang="en-AU" dirty="0"/>
          </a:p>
        </p:txBody>
      </p:sp>
      <p:pic>
        <p:nvPicPr>
          <p:cNvPr id="5" name="Picture Placeholder 10" descr="Logo&#10;&#10;Description automatically generated">
            <a:extLst>
              <a:ext uri="{FF2B5EF4-FFF2-40B4-BE49-F238E27FC236}">
                <a16:creationId xmlns:a16="http://schemas.microsoft.com/office/drawing/2014/main" id="{30E4AA47-6A18-5856-8B55-31A2F24D6B0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557912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slide_style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2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4" name="Picture Placeholder 10" descr="Logo&#10;&#10;Description automatically generated">
            <a:extLst>
              <a:ext uri="{FF2B5EF4-FFF2-40B4-BE49-F238E27FC236}">
                <a16:creationId xmlns:a16="http://schemas.microsoft.com/office/drawing/2014/main" id="{F44244A3-AF35-00C5-3FA8-D6B57DDB2ED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727138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1">
    <p:spTree>
      <p:nvGrpSpPr>
        <p:cNvPr id="1" name=""/>
        <p:cNvGrpSpPr/>
        <p:nvPr/>
      </p:nvGrpSpPr>
      <p:grpSpPr>
        <a:xfrm>
          <a:off x="0" y="0"/>
          <a:ext cx="0" cy="0"/>
          <a:chOff x="0" y="0"/>
          <a:chExt cx="0" cy="0"/>
        </a:xfrm>
      </p:grpSpPr>
      <p:pic>
        <p:nvPicPr>
          <p:cNvPr id="4" name="Picture 3" descr="A train on the street&#10;&#10;Description automatically generated">
            <a:extLst>
              <a:ext uri="{FF2B5EF4-FFF2-40B4-BE49-F238E27FC236}">
                <a16:creationId xmlns:a16="http://schemas.microsoft.com/office/drawing/2014/main" id="{C21B4368-12D9-57AE-3A1D-DAE6674AE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800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72152403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1">
    <p:spTree>
      <p:nvGrpSpPr>
        <p:cNvPr id="1" name=""/>
        <p:cNvGrpSpPr/>
        <p:nvPr/>
      </p:nvGrpSpPr>
      <p:grpSpPr>
        <a:xfrm>
          <a:off x="0" y="0"/>
          <a:ext cx="0" cy="0"/>
          <a:chOff x="0" y="0"/>
          <a:chExt cx="0" cy="0"/>
        </a:xfrm>
      </p:grpSpPr>
      <p:pic>
        <p:nvPicPr>
          <p:cNvPr id="3" name="Picture 2" descr="A close-up of a building&#10;&#10;Description automatically generated">
            <a:extLst>
              <a:ext uri="{FF2B5EF4-FFF2-40B4-BE49-F238E27FC236}">
                <a16:creationId xmlns:a16="http://schemas.microsoft.com/office/drawing/2014/main" id="{B81EDBD4-C9CF-59CC-461E-DB98C187D3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907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4EF8F4E9-FAE8-C7F7-EED9-30CA77676534}"/>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7" name="Picture Placeholder 10" descr="Logo&#10;&#10;Description automatically generated">
            <a:extLst>
              <a:ext uri="{FF2B5EF4-FFF2-40B4-BE49-F238E27FC236}">
                <a16:creationId xmlns:a16="http://schemas.microsoft.com/office/drawing/2014/main" id="{21F14F64-41A3-A64C-2463-CAC1DD1F163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CB4A80DB-38E0-359B-9518-DCF2692A96B0}"/>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288052055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1">
    <p:spTree>
      <p:nvGrpSpPr>
        <p:cNvPr id="1" name=""/>
        <p:cNvGrpSpPr/>
        <p:nvPr/>
      </p:nvGrpSpPr>
      <p:grpSpPr>
        <a:xfrm>
          <a:off x="0" y="0"/>
          <a:ext cx="0" cy="0"/>
          <a:chOff x="0" y="0"/>
          <a:chExt cx="0" cy="0"/>
        </a:xfrm>
      </p:grpSpPr>
      <p:pic>
        <p:nvPicPr>
          <p:cNvPr id="3" name="Picture 2" descr="A group of people walking outside of a building&#10;&#10;Description automatically generated">
            <a:extLst>
              <a:ext uri="{FF2B5EF4-FFF2-40B4-BE49-F238E27FC236}">
                <a16:creationId xmlns:a16="http://schemas.microsoft.com/office/drawing/2014/main" id="{FED4D6B5-F526-F625-9177-15B300C8FC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392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315C606B-DBD6-6B98-FCEE-3981CBD7676E}"/>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7" name="Picture Placeholder 10" descr="Logo&#10;&#10;Description automatically generated">
            <a:extLst>
              <a:ext uri="{FF2B5EF4-FFF2-40B4-BE49-F238E27FC236}">
                <a16:creationId xmlns:a16="http://schemas.microsoft.com/office/drawing/2014/main" id="{934572BE-6DBB-223D-542C-91D71528A17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D22CA810-7F8C-3D8D-59E6-41512FFA280C}"/>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20638221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_with image4_style1">
    <p:spTree>
      <p:nvGrpSpPr>
        <p:cNvPr id="1" name=""/>
        <p:cNvGrpSpPr/>
        <p:nvPr/>
      </p:nvGrpSpPr>
      <p:grpSpPr>
        <a:xfrm>
          <a:off x="0" y="0"/>
          <a:ext cx="0" cy="0"/>
          <a:chOff x="0" y="0"/>
          <a:chExt cx="0" cy="0"/>
        </a:xfrm>
      </p:grpSpPr>
      <p:pic>
        <p:nvPicPr>
          <p:cNvPr id="3" name="Picture 2" descr="A building with many windows&#10;&#10;Description automatically generated">
            <a:extLst>
              <a:ext uri="{FF2B5EF4-FFF2-40B4-BE49-F238E27FC236}">
                <a16:creationId xmlns:a16="http://schemas.microsoft.com/office/drawing/2014/main" id="{4ACB552C-63F8-E9C0-06FA-7DB1F7430E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7508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20000"/>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B961782D-5772-54A1-DB84-FE91617DDF6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7" name="Picture Placeholder 10" descr="Logo&#10;&#10;Description automatically generated">
            <a:extLst>
              <a:ext uri="{FF2B5EF4-FFF2-40B4-BE49-F238E27FC236}">
                <a16:creationId xmlns:a16="http://schemas.microsoft.com/office/drawing/2014/main" id="{337175A6-6452-322F-7BD0-EAA975A8656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19FE526D-CA42-9B67-5F7E-8E810C8A8C49}"/>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36321361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_with image5_style1">
    <p:spTree>
      <p:nvGrpSpPr>
        <p:cNvPr id="1" name=""/>
        <p:cNvGrpSpPr/>
        <p:nvPr/>
      </p:nvGrpSpPr>
      <p:grpSpPr>
        <a:xfrm>
          <a:off x="0" y="0"/>
          <a:ext cx="0" cy="0"/>
          <a:chOff x="0" y="0"/>
          <a:chExt cx="0" cy="0"/>
        </a:xfrm>
      </p:grpSpPr>
      <p:pic>
        <p:nvPicPr>
          <p:cNvPr id="3" name="Picture 2" descr="A large auditorium with blue lights&#10;&#10;Description automatically generated">
            <a:extLst>
              <a:ext uri="{FF2B5EF4-FFF2-40B4-BE49-F238E27FC236}">
                <a16:creationId xmlns:a16="http://schemas.microsoft.com/office/drawing/2014/main" id="{E4A9FC45-DD09-38AB-3B34-9EF99267BF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851691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4" name="Rectangle 3">
            <a:extLst>
              <a:ext uri="{FF2B5EF4-FFF2-40B4-BE49-F238E27FC236}">
                <a16:creationId xmlns:a16="http://schemas.microsoft.com/office/drawing/2014/main" id="{D3569B04-81DF-2285-6290-6A1B9AE81DFD}"/>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10" name="Picture Placeholder 10" descr="Logo&#10;&#10;Description automatically generated">
            <a:extLst>
              <a:ext uri="{FF2B5EF4-FFF2-40B4-BE49-F238E27FC236}">
                <a16:creationId xmlns:a16="http://schemas.microsoft.com/office/drawing/2014/main" id="{560B8F70-2D74-855E-E3DD-E1442F6A7DA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14" name="Text Placeholder 11">
            <a:extLst>
              <a:ext uri="{FF2B5EF4-FFF2-40B4-BE49-F238E27FC236}">
                <a16:creationId xmlns:a16="http://schemas.microsoft.com/office/drawing/2014/main" id="{2C42A733-BC01-7351-0C78-CD744DE94C58}"/>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321238552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_Dark Mode">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1"/>
                </a:solidFill>
              </a:defRPr>
            </a:lvl1pPr>
          </a:lstStyle>
          <a:p>
            <a:r>
              <a:rPr lang="en-AU"/>
              <a:t>Page [</a:t>
            </a:r>
            <a:fld id="{29D5CE74-914C-4689-99FC-1AEF49CE2B47}" type="slidenum">
              <a:rPr smtClean="0"/>
              <a:pPr/>
              <a:t>‹#›</a:t>
            </a:fld>
            <a:r>
              <a:t>]</a:t>
            </a:r>
            <a:endParaRPr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1392457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o and Present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a:xfrm>
            <a:off x="345600" y="6437192"/>
            <a:ext cx="4114800" cy="216000"/>
          </a:xfrm>
        </p:spPr>
        <p:txBody>
          <a:bodyPr/>
          <a:lstStyle>
            <a:lvl1pPr>
              <a:defRPr>
                <a:solidFill>
                  <a:schemeClr val="bg2"/>
                </a:solidFill>
              </a:defRPr>
            </a:lvl1pPr>
          </a:lstStyle>
          <a:p>
            <a:r>
              <a:rPr lang="en-AU" dirty="0"/>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673806"/>
            <a:ext cx="7405200" cy="44676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AU" dirty="0"/>
          </a:p>
        </p:txBody>
      </p:sp>
      <p:sp>
        <p:nvSpPr>
          <p:cNvPr id="4" name="Picture Placeholder 7">
            <a:extLst>
              <a:ext uri="{FF2B5EF4-FFF2-40B4-BE49-F238E27FC236}">
                <a16:creationId xmlns:a16="http://schemas.microsoft.com/office/drawing/2014/main" id="{7C6DB685-726F-A1FB-C9B0-00C92EC7F117}"/>
              </a:ext>
            </a:extLst>
          </p:cNvPr>
          <p:cNvSpPr>
            <a:spLocks noGrp="1"/>
          </p:cNvSpPr>
          <p:nvPr>
            <p:ph type="pic" sz="quarter" idx="16" hasCustomPrompt="1"/>
          </p:nvPr>
        </p:nvSpPr>
        <p:spPr>
          <a:xfrm>
            <a:off x="8040217" y="1673806"/>
            <a:ext cx="3806182" cy="4467794"/>
          </a:xfrm>
          <a:blipFill>
            <a:blip r:embed="rId2" cstate="print">
              <a:extLst>
                <a:ext uri="{28A0092B-C50C-407E-A947-70E740481C1C}">
                  <a14:useLocalDpi xmlns:a14="http://schemas.microsoft.com/office/drawing/2010/main" val="0"/>
                </a:ext>
              </a:extLst>
            </a:blip>
            <a:stretch>
              <a:fillRect l="-12818" t="-6998" r="-14598" b="-250"/>
            </a:stretch>
          </a:blipFill>
        </p:spPr>
        <p:txBody>
          <a:bodyPr anchor="ctr" anchorCtr="0"/>
          <a:lstStyle>
            <a:lvl1pPr algn="ctr">
              <a:defRPr/>
            </a:lvl1pPr>
          </a:lstStyle>
          <a:p>
            <a:r>
              <a:rPr lang="en-AU" dirty="0"/>
              <a:t>Click icon to add Image of presenter</a:t>
            </a:r>
          </a:p>
        </p:txBody>
      </p:sp>
      <p:sp>
        <p:nvSpPr>
          <p:cNvPr id="5" name="TextBox 4">
            <a:extLst>
              <a:ext uri="{FF2B5EF4-FFF2-40B4-BE49-F238E27FC236}">
                <a16:creationId xmlns:a16="http://schemas.microsoft.com/office/drawing/2014/main" id="{8D5EAD7E-7B06-ABC7-F34C-50EDEAFC6D52}"/>
              </a:ext>
            </a:extLst>
          </p:cNvPr>
          <p:cNvSpPr txBox="1"/>
          <p:nvPr userDrawn="1"/>
        </p:nvSpPr>
        <p:spPr>
          <a:xfrm>
            <a:off x="4700845" y="6499304"/>
            <a:ext cx="7145554" cy="153888"/>
          </a:xfrm>
          <a:prstGeom prst="rect">
            <a:avLst/>
          </a:prstGeom>
          <a:noFill/>
        </p:spPr>
        <p:txBody>
          <a:bodyPr wrap="square" lIns="0" tIns="0" rIns="0" bIns="0" rtlCol="0">
            <a:spAutoFit/>
          </a:bodyPr>
          <a:lstStyle/>
          <a:p>
            <a:pPr algn="r">
              <a:lnSpc>
                <a:spcPts val="1200"/>
              </a:lnSpc>
            </a:pPr>
            <a:r>
              <a:rPr lang="en-AU" sz="1000" dirty="0"/>
              <a:t>(c) The University of Melbourne &lt;insert year&gt; This content is protected and may not be shared, uploaded, or distributed.</a:t>
            </a:r>
          </a:p>
        </p:txBody>
      </p:sp>
    </p:spTree>
    <p:extLst>
      <p:ext uri="{BB962C8B-B14F-4D97-AF65-F5344CB8AC3E}">
        <p14:creationId xmlns:p14="http://schemas.microsoft.com/office/powerpoint/2010/main" val="3915543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2"/>
                </a:solidFill>
              </a:defRPr>
            </a:lvl1p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2"/>
                </a:solidFill>
              </a:defRPr>
            </a:lvl1pPr>
          </a:lstStyle>
          <a:p>
            <a:r>
              <a:rPr lang="en-AU"/>
              <a:t>Page [</a:t>
            </a:r>
            <a:fld id="{29D5CE74-914C-4689-99FC-1AEF49CE2B47}" type="slidenum">
              <a:rPr smtClean="0"/>
              <a:pPr/>
              <a:t>‹#›</a:t>
            </a:fld>
            <a:r>
              <a:t>]</a:t>
            </a:r>
            <a:endParaRPr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AU" dirty="0"/>
          </a:p>
        </p:txBody>
      </p:sp>
    </p:spTree>
    <p:extLst>
      <p:ext uri="{BB962C8B-B14F-4D97-AF65-F5344CB8AC3E}">
        <p14:creationId xmlns:p14="http://schemas.microsoft.com/office/powerpoint/2010/main" val="3267535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704266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wo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6219599"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751513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Image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
        <p:nvSpPr>
          <p:cNvPr id="6" name="Picture Placeholder 5">
            <a:extLst>
              <a:ext uri="{FF2B5EF4-FFF2-40B4-BE49-F238E27FC236}">
                <a16:creationId xmlns:a16="http://schemas.microsoft.com/office/drawing/2014/main" id="{FC2A53D8-7CC9-C8A8-3494-5EBD660356B9}"/>
              </a:ext>
            </a:extLst>
          </p:cNvPr>
          <p:cNvSpPr>
            <a:spLocks noGrp="1"/>
          </p:cNvSpPr>
          <p:nvPr>
            <p:ph type="pic" sz="quarter" idx="16" hasCustomPrompt="1"/>
          </p:nvPr>
        </p:nvSpPr>
        <p:spPr>
          <a:xfrm>
            <a:off x="6219599" y="1870075"/>
            <a:ext cx="5626800" cy="4273200"/>
          </a:xfrm>
        </p:spPr>
        <p:txBody>
          <a:bodyPr anchor="ctr" anchorCtr="0"/>
          <a:lstStyle>
            <a:lvl1pPr algn="ctr">
              <a:lnSpc>
                <a:spcPts val="1400"/>
              </a:lnSpc>
              <a:defRPr sz="1200"/>
            </a:lvl1pPr>
          </a:lstStyle>
          <a:p>
            <a:r>
              <a:rPr lang="en-AU" dirty="0"/>
              <a:t>Click icon to insert image</a:t>
            </a:r>
          </a:p>
        </p:txBody>
      </p:sp>
    </p:spTree>
    <p:extLst>
      <p:ext uri="{BB962C8B-B14F-4D97-AF65-F5344CB8AC3E}">
        <p14:creationId xmlns:p14="http://schemas.microsoft.com/office/powerpoint/2010/main" val="31182805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hart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3875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4" cy="3886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dirty="0"/>
          </a:p>
        </p:txBody>
      </p:sp>
      <p:sp>
        <p:nvSpPr>
          <p:cNvPr id="6" name="Chart Placeholder 5">
            <a:extLst>
              <a:ext uri="{FF2B5EF4-FFF2-40B4-BE49-F238E27FC236}">
                <a16:creationId xmlns:a16="http://schemas.microsoft.com/office/drawing/2014/main" id="{83A92489-4F48-E651-8308-E8A1BEAEF4BD}"/>
              </a:ext>
            </a:extLst>
          </p:cNvPr>
          <p:cNvSpPr>
            <a:spLocks noGrp="1"/>
          </p:cNvSpPr>
          <p:nvPr>
            <p:ph type="chart" sz="quarter" idx="17" hasCustomPrompt="1"/>
          </p:nvPr>
        </p:nvSpPr>
        <p:spPr>
          <a:xfrm>
            <a:off x="345600" y="2573905"/>
            <a:ext cx="5626575" cy="2880320"/>
          </a:xfrm>
        </p:spPr>
        <p:txBody>
          <a:bodyPr anchor="ctr" anchorCtr="0"/>
          <a:lstStyle>
            <a:lvl1pPr algn="ctr">
              <a:defRPr/>
            </a:lvl1pPr>
          </a:lstStyle>
          <a:p>
            <a:r>
              <a:rPr lang="en-AU" dirty="0"/>
              <a:t>Click icon to insert Chart</a:t>
            </a:r>
          </a:p>
        </p:txBody>
      </p:sp>
      <p:sp>
        <p:nvSpPr>
          <p:cNvPr id="9" name="Chart Placeholder 5">
            <a:extLst>
              <a:ext uri="{FF2B5EF4-FFF2-40B4-BE49-F238E27FC236}">
                <a16:creationId xmlns:a16="http://schemas.microsoft.com/office/drawing/2014/main" id="{9D4C9335-8F56-5714-572A-14E7E23CC1AB}"/>
              </a:ext>
            </a:extLst>
          </p:cNvPr>
          <p:cNvSpPr>
            <a:spLocks noGrp="1"/>
          </p:cNvSpPr>
          <p:nvPr>
            <p:ph type="chart" sz="quarter" idx="18" hasCustomPrompt="1"/>
          </p:nvPr>
        </p:nvSpPr>
        <p:spPr>
          <a:xfrm>
            <a:off x="6223381" y="2573905"/>
            <a:ext cx="5623018" cy="2880320"/>
          </a:xfrm>
        </p:spPr>
        <p:txBody>
          <a:bodyPr anchor="ctr" anchorCtr="0"/>
          <a:lstStyle>
            <a:lvl1pPr algn="ctr">
              <a:defRPr/>
            </a:lvl1pPr>
          </a:lstStyle>
          <a:p>
            <a:r>
              <a:rPr lang="en-AU" dirty="0"/>
              <a:t>Click icon to insert Chart</a:t>
            </a:r>
          </a:p>
        </p:txBody>
      </p:sp>
      <p:sp>
        <p:nvSpPr>
          <p:cNvPr id="4" name="Title 3">
            <a:extLst>
              <a:ext uri="{FF2B5EF4-FFF2-40B4-BE49-F238E27FC236}">
                <a16:creationId xmlns:a16="http://schemas.microsoft.com/office/drawing/2014/main" id="{0C4277FC-2AB5-CB23-BC94-BEF3C9536350}"/>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061018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3"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dirty="0"/>
          </a:p>
        </p:txBody>
      </p:sp>
      <p:sp>
        <p:nvSpPr>
          <p:cNvPr id="4" name="Title 3">
            <a:extLst>
              <a:ext uri="{FF2B5EF4-FFF2-40B4-BE49-F238E27FC236}">
                <a16:creationId xmlns:a16="http://schemas.microsoft.com/office/drawing/2014/main" id="{4863FD07-110D-DEB8-85AE-92CD33C072C4}"/>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4218476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hree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dirty="0"/>
              <a:t>Page [</a:t>
            </a:r>
            <a:fld id="{29D5CE74-914C-4689-99FC-1AEF49CE2B47}" type="slidenum">
              <a:rPr smtClean="0"/>
              <a:pPr/>
              <a:t>‹#›</a:t>
            </a:fld>
            <a:r>
              <a:rPr dirty="0"/>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dirty="0"/>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4296000"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Content Placeholder 6">
            <a:extLst>
              <a:ext uri="{FF2B5EF4-FFF2-40B4-BE49-F238E27FC236}">
                <a16:creationId xmlns:a16="http://schemas.microsoft.com/office/drawing/2014/main" id="{A14B56AF-59AC-1DD7-A515-93236D9D5034}"/>
              </a:ext>
            </a:extLst>
          </p:cNvPr>
          <p:cNvSpPr>
            <a:spLocks noGrp="1"/>
          </p:cNvSpPr>
          <p:nvPr>
            <p:ph sz="quarter" idx="17"/>
          </p:nvPr>
        </p:nvSpPr>
        <p:spPr>
          <a:xfrm>
            <a:off x="8246399"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5030644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4295999"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4" name="Content Placeholder 6">
            <a:extLst>
              <a:ext uri="{FF2B5EF4-FFF2-40B4-BE49-F238E27FC236}">
                <a16:creationId xmlns:a16="http://schemas.microsoft.com/office/drawing/2014/main" id="{12B8F049-B051-C3CF-84AF-76D0419ECC4D}"/>
              </a:ext>
            </a:extLst>
          </p:cNvPr>
          <p:cNvSpPr>
            <a:spLocks noGrp="1"/>
          </p:cNvSpPr>
          <p:nvPr>
            <p:ph sz="quarter" idx="16"/>
          </p:nvPr>
        </p:nvSpPr>
        <p:spPr>
          <a:xfrm>
            <a:off x="8246399"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Slide Number Placeholder 5">
            <a:extLst>
              <a:ext uri="{FF2B5EF4-FFF2-40B4-BE49-F238E27FC236}">
                <a16:creationId xmlns:a16="http://schemas.microsoft.com/office/drawing/2014/main" id="{CA6341BC-444F-9260-2F29-DB09F5C10802}"/>
              </a:ext>
            </a:extLst>
          </p:cNvPr>
          <p:cNvSpPr>
            <a:spLocks noGrp="1"/>
          </p:cNvSpPr>
          <p:nvPr>
            <p:ph type="sldNum" sz="quarter" idx="17"/>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8" name="Title 7">
            <a:extLst>
              <a:ext uri="{FF2B5EF4-FFF2-40B4-BE49-F238E27FC236}">
                <a16:creationId xmlns:a16="http://schemas.microsoft.com/office/drawing/2014/main" id="{B997EF1D-2BE4-A99C-D98C-B233628816F3}"/>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2628763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hank you_1">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1577134" y="1133745"/>
            <a:ext cx="9001001" cy="869091"/>
          </a:xfrm>
        </p:spPr>
        <p:txBody>
          <a:bodyPr/>
          <a:lstStyle>
            <a:lvl1pPr algn="ctr">
              <a:lnSpc>
                <a:spcPts val="5200"/>
              </a:lnSpc>
              <a:defRPr sz="4800">
                <a:solidFill>
                  <a:schemeClr val="bg1"/>
                </a:solidFill>
              </a:defRPr>
            </a:lvl1pPr>
          </a:lstStyle>
          <a:p>
            <a:r>
              <a:rPr lang="en-US"/>
              <a:t>Click to edit Master title style</a:t>
            </a:r>
            <a:endParaRPr lang="en-AU" dirty="0"/>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6023122"/>
            <a:ext cx="5490611" cy="630070"/>
          </a:xfrm>
        </p:spPr>
        <p:txBody>
          <a:bodyPr anchor="b" anchorCtr="0"/>
          <a:lstStyle>
            <a:lvl1pPr marL="0" algn="l">
              <a:lnSpc>
                <a:spcPct val="100000"/>
              </a:lnSpc>
              <a:spcAft>
                <a:spcPts val="0"/>
              </a:spcAft>
              <a:buFontTx/>
              <a:buNone/>
              <a:defRPr sz="1400" b="0">
                <a:solidFill>
                  <a:schemeClr val="bg1"/>
                </a:solidFill>
              </a:defRPr>
            </a:lvl1pPr>
            <a:lvl2pPr marL="0" algn="l">
              <a:lnSpc>
                <a:spcPct val="100000"/>
              </a:lnSpc>
              <a:spcAft>
                <a:spcPts val="0"/>
              </a:spcAft>
              <a:buFontTx/>
              <a:buNone/>
              <a:defRPr sz="1400" b="0">
                <a:solidFill>
                  <a:schemeClr val="bg1"/>
                </a:solidFill>
              </a:defRPr>
            </a:lvl2pPr>
            <a:lvl3pPr marL="0" indent="0" algn="l">
              <a:lnSpc>
                <a:spcPct val="100000"/>
              </a:lnSpc>
              <a:spcAft>
                <a:spcPts val="0"/>
              </a:spcAft>
              <a:buFontTx/>
              <a:buNone/>
              <a:defRPr sz="1400" b="0">
                <a:solidFill>
                  <a:schemeClr val="bg1"/>
                </a:solidFill>
              </a:defRPr>
            </a:lvl3pPr>
            <a:lvl4pPr marL="0" indent="0" algn="l">
              <a:lnSpc>
                <a:spcPct val="100000"/>
              </a:lnSpc>
              <a:spcAft>
                <a:spcPts val="0"/>
              </a:spcAft>
              <a:buFontTx/>
              <a:buNone/>
              <a:defRPr sz="1400" b="0">
                <a:solidFill>
                  <a:schemeClr val="bg1"/>
                </a:solidFill>
              </a:defRPr>
            </a:lvl4pPr>
            <a:lvl5pPr marL="0" indent="0" algn="l">
              <a:lnSpc>
                <a:spcPct val="100000"/>
              </a:lnSpc>
              <a:spcAft>
                <a:spcPts val="0"/>
              </a:spcAft>
              <a:buFontTx/>
              <a:buNone/>
              <a:defRPr sz="1400" b="0">
                <a:solidFill>
                  <a:schemeClr val="bg1"/>
                </a:solidFill>
              </a:defRPr>
            </a:lvl5pPr>
            <a:lvl6pPr marL="0" indent="0" algn="l">
              <a:lnSpc>
                <a:spcPct val="100000"/>
              </a:lnSpc>
              <a:spcAft>
                <a:spcPts val="0"/>
              </a:spcAft>
              <a:buFontTx/>
              <a:buNone/>
              <a:defRPr sz="1400" b="0">
                <a:solidFill>
                  <a:schemeClr val="bg1"/>
                </a:solidFill>
              </a:defRPr>
            </a:lvl6pPr>
            <a:lvl7pPr marL="0" indent="0" algn="l">
              <a:lnSpc>
                <a:spcPct val="100000"/>
              </a:lnSpc>
              <a:spcAft>
                <a:spcPts val="0"/>
              </a:spcAft>
              <a:buFontTx/>
              <a:buNone/>
              <a:defRPr sz="1400" b="0">
                <a:solidFill>
                  <a:schemeClr val="bg1"/>
                </a:solidFill>
              </a:defRPr>
            </a:lvl7pPr>
            <a:lvl8pPr marL="0" indent="0" algn="l">
              <a:lnSpc>
                <a:spcPct val="100000"/>
              </a:lnSpc>
              <a:spcAft>
                <a:spcPts val="0"/>
              </a:spcAft>
              <a:buFontTx/>
              <a:buNone/>
              <a:defRPr sz="1400" b="0">
                <a:solidFill>
                  <a:schemeClr val="bg1"/>
                </a:solidFill>
              </a:defRPr>
            </a:lvl8pPr>
            <a:lvl9pPr marL="0" indent="0" algn="l">
              <a:lnSpc>
                <a:spcPct val="100000"/>
              </a:lnSpc>
              <a:spcAft>
                <a:spcPts val="0"/>
              </a:spcAft>
              <a:buFontTx/>
              <a:buNone/>
              <a:defRPr sz="1400" b="0">
                <a:solidFill>
                  <a:schemeClr val="bg1"/>
                </a:solidFill>
              </a:defRPr>
            </a:lvl9pPr>
          </a:lstStyle>
          <a:p>
            <a:pPr lvl="0"/>
            <a:r>
              <a:rPr lang="en-US" dirty="0"/>
              <a:t>[Collaborator/partner relationship disclaimer]</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9" name="Text Placeholder 10">
            <a:extLst>
              <a:ext uri="{FF2B5EF4-FFF2-40B4-BE49-F238E27FC236}">
                <a16:creationId xmlns:a16="http://schemas.microsoft.com/office/drawing/2014/main" id="{E98D57ED-F6FA-0853-C0FA-554B2313321E}"/>
              </a:ext>
            </a:extLst>
          </p:cNvPr>
          <p:cNvSpPr>
            <a:spLocks noGrp="1"/>
          </p:cNvSpPr>
          <p:nvPr>
            <p:ph type="body" sz="quarter" idx="18" hasCustomPrompt="1"/>
          </p:nvPr>
        </p:nvSpPr>
        <p:spPr>
          <a:xfrm>
            <a:off x="6231015" y="6437192"/>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pic>
        <p:nvPicPr>
          <p:cNvPr id="2" name="Picture Placeholder 6" descr="Logo&#10;&#10;Description automatically generated">
            <a:extLst>
              <a:ext uri="{FF2B5EF4-FFF2-40B4-BE49-F238E27FC236}">
                <a16:creationId xmlns:a16="http://schemas.microsoft.com/office/drawing/2014/main" id="{54D6F5F3-83EC-7C59-7764-F0BA609CE28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4870378" y="2315284"/>
            <a:ext cx="2385265" cy="2373856"/>
          </a:xfrm>
          <a:prstGeom prst="rect">
            <a:avLst/>
          </a:prstGeom>
        </p:spPr>
      </p:pic>
    </p:spTree>
    <p:extLst>
      <p:ext uri="{BB962C8B-B14F-4D97-AF65-F5344CB8AC3E}">
        <p14:creationId xmlns:p14="http://schemas.microsoft.com/office/powerpoint/2010/main" val="25691384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_2">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345599" y="489679"/>
            <a:ext cx="11500799" cy="869091"/>
          </a:xfrm>
        </p:spPr>
        <p:txBody>
          <a:bodyPr/>
          <a:lstStyle>
            <a:lvl1pPr algn="ctr">
              <a:lnSpc>
                <a:spcPts val="5200"/>
              </a:lnSpc>
              <a:defRPr sz="4800">
                <a:solidFill>
                  <a:schemeClr val="bg1"/>
                </a:solidFill>
              </a:defRPr>
            </a:lvl1pPr>
          </a:lstStyle>
          <a:p>
            <a:r>
              <a:rPr lang="en-US"/>
              <a:t>Click to edit Master title style</a:t>
            </a:r>
            <a:endParaRPr lang="en-AU" dirty="0"/>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5850353"/>
            <a:ext cx="5265585" cy="365012"/>
          </a:xfrm>
        </p:spPr>
        <p:txBody>
          <a:bodyPr anchor="t" anchorCtr="0"/>
          <a:lstStyle>
            <a:lvl1pPr marL="0" algn="l">
              <a:lnSpc>
                <a:spcPct val="100000"/>
              </a:lnSpc>
              <a:spcAft>
                <a:spcPts val="0"/>
              </a:spcAft>
              <a:buFontTx/>
              <a:buNone/>
              <a:defRPr sz="2000" b="0">
                <a:solidFill>
                  <a:schemeClr val="bg1"/>
                </a:solidFill>
              </a:defRPr>
            </a:lvl1pPr>
            <a:lvl2pPr marL="0" algn="l">
              <a:lnSpc>
                <a:spcPct val="100000"/>
              </a:lnSpc>
              <a:spcAft>
                <a:spcPts val="0"/>
              </a:spcAft>
              <a:buFontTx/>
              <a:buNone/>
              <a:defRPr sz="2000" b="0">
                <a:solidFill>
                  <a:schemeClr val="bg1"/>
                </a:solidFill>
              </a:defRPr>
            </a:lvl2pPr>
            <a:lvl3pPr marL="0" indent="0" algn="l">
              <a:lnSpc>
                <a:spcPct val="100000"/>
              </a:lnSpc>
              <a:spcAft>
                <a:spcPts val="0"/>
              </a:spcAft>
              <a:buFontTx/>
              <a:buNone/>
              <a:defRPr sz="2000" b="0">
                <a:solidFill>
                  <a:schemeClr val="bg1"/>
                </a:solidFill>
              </a:defRPr>
            </a:lvl3pPr>
            <a:lvl4pPr marL="0" indent="0" algn="l">
              <a:lnSpc>
                <a:spcPct val="100000"/>
              </a:lnSpc>
              <a:spcAft>
                <a:spcPts val="0"/>
              </a:spcAft>
              <a:buFontTx/>
              <a:buNone/>
              <a:defRPr sz="2000" b="0">
                <a:solidFill>
                  <a:schemeClr val="bg1"/>
                </a:solidFill>
              </a:defRPr>
            </a:lvl4pPr>
            <a:lvl5pPr marL="0" indent="0" algn="l">
              <a:lnSpc>
                <a:spcPct val="100000"/>
              </a:lnSpc>
              <a:spcAft>
                <a:spcPts val="0"/>
              </a:spcAft>
              <a:buFontTx/>
              <a:buNone/>
              <a:defRPr sz="2000" b="0">
                <a:solidFill>
                  <a:schemeClr val="bg1"/>
                </a:solidFill>
              </a:defRPr>
            </a:lvl5pPr>
            <a:lvl6pPr marL="0" indent="0" algn="l">
              <a:lnSpc>
                <a:spcPct val="100000"/>
              </a:lnSpc>
              <a:spcAft>
                <a:spcPts val="0"/>
              </a:spcAft>
              <a:buFontTx/>
              <a:buNone/>
              <a:defRPr sz="2000" b="0">
                <a:solidFill>
                  <a:schemeClr val="bg1"/>
                </a:solidFill>
              </a:defRPr>
            </a:lvl6pPr>
            <a:lvl7pPr marL="0" indent="0" algn="l">
              <a:lnSpc>
                <a:spcPct val="100000"/>
              </a:lnSpc>
              <a:spcAft>
                <a:spcPts val="0"/>
              </a:spcAft>
              <a:buFontTx/>
              <a:buNone/>
              <a:defRPr sz="2000" b="0">
                <a:solidFill>
                  <a:schemeClr val="bg1"/>
                </a:solidFill>
              </a:defRPr>
            </a:lvl7pPr>
            <a:lvl8pPr marL="0" indent="0" algn="l">
              <a:lnSpc>
                <a:spcPct val="100000"/>
              </a:lnSpc>
              <a:spcAft>
                <a:spcPts val="0"/>
              </a:spcAft>
              <a:buFontTx/>
              <a:buNone/>
              <a:defRPr sz="2000" b="0">
                <a:solidFill>
                  <a:schemeClr val="bg1"/>
                </a:solidFill>
              </a:defRPr>
            </a:lvl8pPr>
            <a:lvl9pPr marL="0" indent="0" algn="l">
              <a:lnSpc>
                <a:spcPct val="100000"/>
              </a:lnSpc>
              <a:spcAft>
                <a:spcPts val="0"/>
              </a:spcAft>
              <a:buFontTx/>
              <a:buNone/>
              <a:defRPr sz="2000" b="0">
                <a:solidFill>
                  <a:schemeClr val="bg1"/>
                </a:solidFill>
              </a:defRPr>
            </a:lvl9pPr>
          </a:lstStyle>
          <a:p>
            <a:pPr lvl="0"/>
            <a:r>
              <a:rPr lang="en-AU" dirty="0"/>
              <a:t>[Copyright, CTA or other information/notices]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2" name="Content Placeholder 7">
            <a:extLst>
              <a:ext uri="{FF2B5EF4-FFF2-40B4-BE49-F238E27FC236}">
                <a16:creationId xmlns:a16="http://schemas.microsoft.com/office/drawing/2014/main" id="{BBF3D5F6-94BD-ACED-7F35-959B5B93BD76}"/>
              </a:ext>
            </a:extLst>
          </p:cNvPr>
          <p:cNvSpPr>
            <a:spLocks noGrp="1"/>
          </p:cNvSpPr>
          <p:nvPr>
            <p:ph sz="quarter" idx="20"/>
          </p:nvPr>
        </p:nvSpPr>
        <p:spPr>
          <a:xfrm>
            <a:off x="4678967" y="2266086"/>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5" name="Picture Placeholder 6" descr="Logo&#10;&#10;Description automatically generated">
            <a:extLst>
              <a:ext uri="{FF2B5EF4-FFF2-40B4-BE49-F238E27FC236}">
                <a16:creationId xmlns:a16="http://schemas.microsoft.com/office/drawing/2014/main" id="{E3F816A6-DD62-1263-EF40-8DEE9FBC629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1315442" y="2266086"/>
            <a:ext cx="2385265" cy="2373856"/>
          </a:xfrm>
          <a:prstGeom prst="rect">
            <a:avLst/>
          </a:prstGeom>
        </p:spPr>
      </p:pic>
      <p:sp>
        <p:nvSpPr>
          <p:cNvPr id="7" name="Content Placeholder 7">
            <a:extLst>
              <a:ext uri="{FF2B5EF4-FFF2-40B4-BE49-F238E27FC236}">
                <a16:creationId xmlns:a16="http://schemas.microsoft.com/office/drawing/2014/main" id="{BCABDFB2-774F-9F26-0537-DFF1E88D8406}"/>
              </a:ext>
            </a:extLst>
          </p:cNvPr>
          <p:cNvSpPr>
            <a:spLocks noGrp="1"/>
          </p:cNvSpPr>
          <p:nvPr>
            <p:ph sz="quarter" idx="21"/>
          </p:nvPr>
        </p:nvSpPr>
        <p:spPr>
          <a:xfrm>
            <a:off x="8040216" y="2262385"/>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10">
            <a:extLst>
              <a:ext uri="{FF2B5EF4-FFF2-40B4-BE49-F238E27FC236}">
                <a16:creationId xmlns:a16="http://schemas.microsoft.com/office/drawing/2014/main" id="{F892BB12-1705-BD7B-229D-BF067F242181}"/>
              </a:ext>
            </a:extLst>
          </p:cNvPr>
          <p:cNvSpPr>
            <a:spLocks noGrp="1"/>
          </p:cNvSpPr>
          <p:nvPr>
            <p:ph type="body" sz="quarter" idx="18" hasCustomPrompt="1"/>
          </p:nvPr>
        </p:nvSpPr>
        <p:spPr>
          <a:xfrm>
            <a:off x="6231015" y="5999365"/>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Tree>
    <p:extLst>
      <p:ext uri="{BB962C8B-B14F-4D97-AF65-F5344CB8AC3E}">
        <p14:creationId xmlns:p14="http://schemas.microsoft.com/office/powerpoint/2010/main" val="6107219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right notice 2">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574486-8652-716C-61C2-985D79E5DEEF}"/>
              </a:ext>
            </a:extLst>
          </p:cNvPr>
          <p:cNvSpPr txBox="1"/>
          <p:nvPr userDrawn="1"/>
        </p:nvSpPr>
        <p:spPr>
          <a:xfrm>
            <a:off x="345600" y="4183343"/>
            <a:ext cx="2310675" cy="200055"/>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(c) The University of Melbourne</a:t>
            </a:r>
            <a:endParaRPr lang="en-AU" sz="1300" dirty="0">
              <a:latin typeface="+mn-lt"/>
            </a:endParaRPr>
          </a:p>
        </p:txBody>
      </p:sp>
      <p:sp>
        <p:nvSpPr>
          <p:cNvPr id="6" name="Text Placeholder 5">
            <a:extLst>
              <a:ext uri="{FF2B5EF4-FFF2-40B4-BE49-F238E27FC236}">
                <a16:creationId xmlns:a16="http://schemas.microsoft.com/office/drawing/2014/main" id="{9AB091FC-4E25-7936-CC06-27124E717614}"/>
              </a:ext>
            </a:extLst>
          </p:cNvPr>
          <p:cNvSpPr>
            <a:spLocks noGrp="1"/>
          </p:cNvSpPr>
          <p:nvPr>
            <p:ph type="body" sz="quarter" idx="19" hasCustomPrompt="1"/>
          </p:nvPr>
        </p:nvSpPr>
        <p:spPr>
          <a:xfrm>
            <a:off x="2699196" y="4182849"/>
            <a:ext cx="1192703" cy="216000"/>
          </a:xfrm>
        </p:spPr>
        <p:txBody>
          <a:bodyPr/>
          <a:lstStyle>
            <a:lvl1pPr marL="0">
              <a:lnSpc>
                <a:spcPct val="100000"/>
              </a:lnSpc>
              <a:spcAft>
                <a:spcPts val="0"/>
              </a:spcAft>
              <a:buFontTx/>
              <a:buNone/>
              <a:defRPr sz="1300" b="0">
                <a:solidFill>
                  <a:schemeClr val="bg1"/>
                </a:solidFill>
              </a:defRPr>
            </a:lvl1pPr>
            <a:lvl2pPr marL="0">
              <a:lnSpc>
                <a:spcPct val="100000"/>
              </a:lnSpc>
              <a:spcAft>
                <a:spcPts val="0"/>
              </a:spcAft>
              <a:buFontTx/>
              <a:buNone/>
              <a:defRPr sz="1300" b="0">
                <a:solidFill>
                  <a:schemeClr val="bg1"/>
                </a:solidFill>
              </a:defRPr>
            </a:lvl2pPr>
            <a:lvl3pPr marL="0" indent="0">
              <a:lnSpc>
                <a:spcPct val="100000"/>
              </a:lnSpc>
              <a:spcAft>
                <a:spcPts val="0"/>
              </a:spcAft>
              <a:buFontTx/>
              <a:buNone/>
              <a:defRPr sz="1300" b="0">
                <a:solidFill>
                  <a:schemeClr val="bg1"/>
                </a:solidFill>
              </a:defRPr>
            </a:lvl3pPr>
            <a:lvl4pPr marL="0" indent="0">
              <a:lnSpc>
                <a:spcPct val="100000"/>
              </a:lnSpc>
              <a:spcAft>
                <a:spcPts val="0"/>
              </a:spcAft>
              <a:buFontTx/>
              <a:buNone/>
              <a:defRPr sz="1300" b="0">
                <a:solidFill>
                  <a:schemeClr val="bg1"/>
                </a:solidFill>
              </a:defRPr>
            </a:lvl4pPr>
            <a:lvl5pPr marL="0" indent="0">
              <a:lnSpc>
                <a:spcPct val="100000"/>
              </a:lnSpc>
              <a:spcAft>
                <a:spcPts val="0"/>
              </a:spcAft>
              <a:buFontTx/>
              <a:buNone/>
              <a:defRPr sz="1300" b="0">
                <a:solidFill>
                  <a:schemeClr val="bg1"/>
                </a:solidFill>
              </a:defRPr>
            </a:lvl5pPr>
            <a:lvl6pPr marL="0" indent="0">
              <a:lnSpc>
                <a:spcPct val="100000"/>
              </a:lnSpc>
              <a:spcAft>
                <a:spcPts val="0"/>
              </a:spcAft>
              <a:buFontTx/>
              <a:buNone/>
              <a:defRPr sz="1300" b="0">
                <a:solidFill>
                  <a:schemeClr val="bg1"/>
                </a:solidFill>
              </a:defRPr>
            </a:lvl6pPr>
            <a:lvl7pPr marL="0" indent="0">
              <a:lnSpc>
                <a:spcPct val="100000"/>
              </a:lnSpc>
              <a:spcAft>
                <a:spcPts val="0"/>
              </a:spcAft>
              <a:buFontTx/>
              <a:buNone/>
              <a:defRPr sz="1300" b="0">
                <a:solidFill>
                  <a:schemeClr val="bg1"/>
                </a:solidFill>
              </a:defRPr>
            </a:lvl7pPr>
            <a:lvl8pPr marL="0" indent="0">
              <a:lnSpc>
                <a:spcPct val="100000"/>
              </a:lnSpc>
              <a:spcAft>
                <a:spcPts val="0"/>
              </a:spcAft>
              <a:buFontTx/>
              <a:buNone/>
              <a:defRPr sz="1300" b="0">
                <a:solidFill>
                  <a:schemeClr val="bg1"/>
                </a:solidFill>
              </a:defRPr>
            </a:lvl8pPr>
            <a:lvl9pPr marL="0" indent="0">
              <a:lnSpc>
                <a:spcPct val="100000"/>
              </a:lnSpc>
              <a:spcAft>
                <a:spcPts val="0"/>
              </a:spcAft>
              <a:buFontTx/>
              <a:buNone/>
              <a:defRPr sz="1300" b="0">
                <a:solidFill>
                  <a:schemeClr val="bg1"/>
                </a:solidFill>
              </a:defRPr>
            </a:lvl9pPr>
          </a:lstStyle>
          <a:p>
            <a:pPr lvl="0"/>
            <a:r>
              <a:rPr lang="en-US" dirty="0"/>
              <a:t>2023</a:t>
            </a:r>
          </a:p>
        </p:txBody>
      </p:sp>
      <p:sp>
        <p:nvSpPr>
          <p:cNvPr id="5" name="TextBox 4">
            <a:extLst>
              <a:ext uri="{FF2B5EF4-FFF2-40B4-BE49-F238E27FC236}">
                <a16:creationId xmlns:a16="http://schemas.microsoft.com/office/drawing/2014/main" id="{C92EDEFF-E4AC-F752-A7F7-6FDA4F7FAD96}"/>
              </a:ext>
            </a:extLst>
          </p:cNvPr>
          <p:cNvSpPr txBox="1"/>
          <p:nvPr userDrawn="1"/>
        </p:nvSpPr>
        <p:spPr>
          <a:xfrm>
            <a:off x="345600" y="4383609"/>
            <a:ext cx="6740510" cy="1600438"/>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This material is protected by copyright. Unless indicated otherwise, the University of Melbourne owns the copyright subsisting in the work.  Other than for the purposes permitted under the Copyright Act 1968, you are prohibited from downloading, republishing, retransmitting, reproducing or otherwise using any of the materials included in the work as standalone files. Sharing University teaching materials with third-parties, including uploading lecture notes, slides or recordings to websites constitutes academic misconduct and may be subject to penalties.  For more  information: </a:t>
            </a:r>
            <a:r>
              <a:rPr lang="en-AU" sz="1300" u="sng" dirty="0">
                <a:solidFill>
                  <a:schemeClr val="bg1"/>
                </a:solidFill>
                <a:effectLst/>
                <a:latin typeface="+mn-lt"/>
                <a:ea typeface="Times New Roman" panose="02020603050405020304" pitchFamily="18" charset="0"/>
                <a:hlinkClick r:id="rId2" tooltip="https://academicintegrity.unimelb.edu.au/">
                  <a:extLst>
                    <a:ext uri="{A12FA001-AC4F-418D-AE19-62706E023703}">
                      <ahyp:hlinkClr xmlns:ahyp="http://schemas.microsoft.com/office/drawing/2018/hyperlinkcolor" val="tx"/>
                    </a:ext>
                  </a:extLst>
                </a:hlinkClick>
              </a:rPr>
              <a:t>Academic Integrity at the University of Melbourne</a:t>
            </a:r>
            <a:endParaRPr lang="en-AU" sz="1300" dirty="0">
              <a:latin typeface="+mn-lt"/>
            </a:endParaRPr>
          </a:p>
        </p:txBody>
      </p:sp>
      <p:sp>
        <p:nvSpPr>
          <p:cNvPr id="7" name="TextBox 6">
            <a:extLst>
              <a:ext uri="{FF2B5EF4-FFF2-40B4-BE49-F238E27FC236}">
                <a16:creationId xmlns:a16="http://schemas.microsoft.com/office/drawing/2014/main" id="{28028CA4-95B8-600A-C697-0F46636ABD89}"/>
              </a:ext>
            </a:extLst>
          </p:cNvPr>
          <p:cNvSpPr txBox="1"/>
          <p:nvPr userDrawn="1"/>
        </p:nvSpPr>
        <p:spPr>
          <a:xfrm>
            <a:off x="344500" y="5962159"/>
            <a:ext cx="6740510" cy="400110"/>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Requests and enquiries concerning reproduction and rights should be addressed to the University Copyright Office, The University of Melbourne: </a:t>
            </a:r>
            <a:r>
              <a:rPr lang="en-AU" sz="1300" u="sng" dirty="0">
                <a:solidFill>
                  <a:schemeClr val="bg1"/>
                </a:solidFill>
                <a:effectLst/>
                <a:latin typeface="+mn-lt"/>
                <a:ea typeface="Times New Roman" panose="02020603050405020304" pitchFamily="18" charset="0"/>
                <a:hlinkClick r:id="rId3">
                  <a:extLst>
                    <a:ext uri="{A12FA001-AC4F-418D-AE19-62706E023703}">
                      <ahyp:hlinkClr xmlns:ahyp="http://schemas.microsoft.com/office/drawing/2018/hyperlinkcolor" val="tx"/>
                    </a:ext>
                  </a:extLst>
                </a:hlinkClick>
              </a:rPr>
              <a:t>copyright-office@unimelb.edu.au</a:t>
            </a:r>
            <a:endParaRPr lang="en-AU" sz="1300" dirty="0">
              <a:latin typeface="+mn-lt"/>
            </a:endParaRPr>
          </a:p>
        </p:txBody>
      </p:sp>
      <p:sp>
        <p:nvSpPr>
          <p:cNvPr id="3" name="Text Placeholder 10">
            <a:extLst>
              <a:ext uri="{FF2B5EF4-FFF2-40B4-BE49-F238E27FC236}">
                <a16:creationId xmlns:a16="http://schemas.microsoft.com/office/drawing/2014/main" id="{9C45E1F2-EF0D-321D-535C-967DD7ADCCEB}"/>
              </a:ext>
            </a:extLst>
          </p:cNvPr>
          <p:cNvSpPr>
            <a:spLocks noGrp="1"/>
          </p:cNvSpPr>
          <p:nvPr>
            <p:ph type="body" sz="quarter" idx="18" hasCustomPrompt="1"/>
          </p:nvPr>
        </p:nvSpPr>
        <p:spPr>
          <a:xfrm>
            <a:off x="7671175" y="6167945"/>
            <a:ext cx="417522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Tree>
    <p:extLst>
      <p:ext uri="{BB962C8B-B14F-4D97-AF65-F5344CB8AC3E}">
        <p14:creationId xmlns:p14="http://schemas.microsoft.com/office/powerpoint/2010/main" val="2732123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7687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ver_style2">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84500"/>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Tree>
    <p:extLst>
      <p:ext uri="{BB962C8B-B14F-4D97-AF65-F5344CB8AC3E}">
        <p14:creationId xmlns:p14="http://schemas.microsoft.com/office/powerpoint/2010/main" val="415485853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2">
    <p:spTree>
      <p:nvGrpSpPr>
        <p:cNvPr id="1" name=""/>
        <p:cNvGrpSpPr/>
        <p:nvPr/>
      </p:nvGrpSpPr>
      <p:grpSpPr>
        <a:xfrm>
          <a:off x="0" y="0"/>
          <a:ext cx="0" cy="0"/>
          <a:chOff x="0" y="0"/>
          <a:chExt cx="0" cy="0"/>
        </a:xfrm>
      </p:grpSpPr>
      <p:pic>
        <p:nvPicPr>
          <p:cNvPr id="4" name="Picture 3" descr="People walking under a building&#10;&#10;Description automatically generated">
            <a:extLst>
              <a:ext uri="{FF2B5EF4-FFF2-40B4-BE49-F238E27FC236}">
                <a16:creationId xmlns:a16="http://schemas.microsoft.com/office/drawing/2014/main" id="{E7BA957F-097B-72FD-DF04-76077458E4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798261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21501597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_Divider_with image1_style2">
    <p:spTree>
      <p:nvGrpSpPr>
        <p:cNvPr id="1" name=""/>
        <p:cNvGrpSpPr/>
        <p:nvPr/>
      </p:nvGrpSpPr>
      <p:grpSpPr>
        <a:xfrm>
          <a:off x="0" y="0"/>
          <a:ext cx="0" cy="0"/>
          <a:chOff x="0" y="0"/>
          <a:chExt cx="0" cy="0"/>
        </a:xfrm>
      </p:grpSpPr>
      <p:pic>
        <p:nvPicPr>
          <p:cNvPr id="4" name="Picture 3" descr="A statue of a person&#10;&#10;Description automatically generated">
            <a:extLst>
              <a:ext uri="{FF2B5EF4-FFF2-40B4-BE49-F238E27FC236}">
                <a16:creationId xmlns:a16="http://schemas.microsoft.com/office/drawing/2014/main" id="{64F275E5-53E4-CE84-BFBA-2BC612A005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7361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771786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_Divider_with image1_style2">
    <p:spTree>
      <p:nvGrpSpPr>
        <p:cNvPr id="1" name=""/>
        <p:cNvGrpSpPr/>
        <p:nvPr/>
      </p:nvGrpSpPr>
      <p:grpSpPr>
        <a:xfrm>
          <a:off x="0" y="0"/>
          <a:ext cx="0" cy="0"/>
          <a:chOff x="0" y="0"/>
          <a:chExt cx="0" cy="0"/>
        </a:xfrm>
      </p:grpSpPr>
      <p:pic>
        <p:nvPicPr>
          <p:cNvPr id="9" name="Picture 8" descr="A close-up of a hand pointing at a model&#10;&#10;Description automatically generated">
            <a:extLst>
              <a:ext uri="{FF2B5EF4-FFF2-40B4-BE49-F238E27FC236}">
                <a16:creationId xmlns:a16="http://schemas.microsoft.com/office/drawing/2014/main" id="{BD33C0EC-1329-DF67-CC34-2186429DE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302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569239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79176794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_style3">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2"/>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67554999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3">
    <p:spTree>
      <p:nvGrpSpPr>
        <p:cNvPr id="1" name=""/>
        <p:cNvGrpSpPr/>
        <p:nvPr/>
      </p:nvGrpSpPr>
      <p:grpSpPr>
        <a:xfrm>
          <a:off x="0" y="0"/>
          <a:ext cx="0" cy="0"/>
          <a:chOff x="0" y="0"/>
          <a:chExt cx="0" cy="0"/>
        </a:xfrm>
      </p:grpSpPr>
      <p:pic>
        <p:nvPicPr>
          <p:cNvPr id="13" name="Picture 12" descr="A group of people sitting in a room&#10;&#10;Description automatically generated">
            <a:extLst>
              <a:ext uri="{FF2B5EF4-FFF2-40B4-BE49-F238E27FC236}">
                <a16:creationId xmlns:a16="http://schemas.microsoft.com/office/drawing/2014/main" id="{28BDE54C-00E9-5879-B7AA-CBAEB4B200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833715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57394206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3">
    <p:spTree>
      <p:nvGrpSpPr>
        <p:cNvPr id="1" name=""/>
        <p:cNvGrpSpPr/>
        <p:nvPr/>
      </p:nvGrpSpPr>
      <p:grpSpPr>
        <a:xfrm>
          <a:off x="0" y="0"/>
          <a:ext cx="0" cy="0"/>
          <a:chOff x="0" y="0"/>
          <a:chExt cx="0" cy="0"/>
        </a:xfrm>
      </p:grpSpPr>
      <p:pic>
        <p:nvPicPr>
          <p:cNvPr id="9" name="Picture 8" descr="A building with a curved roof&#10;&#10;Description automatically generated">
            <a:extLst>
              <a:ext uri="{FF2B5EF4-FFF2-40B4-BE49-F238E27FC236}">
                <a16:creationId xmlns:a16="http://schemas.microsoft.com/office/drawing/2014/main" id="{7C32C17A-0B3D-3605-0770-718372FF11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01253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032562100"/>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3">
    <p:spTree>
      <p:nvGrpSpPr>
        <p:cNvPr id="1" name=""/>
        <p:cNvGrpSpPr/>
        <p:nvPr/>
      </p:nvGrpSpPr>
      <p:grpSpPr>
        <a:xfrm>
          <a:off x="0" y="0"/>
          <a:ext cx="0" cy="0"/>
          <a:chOff x="0" y="0"/>
          <a:chExt cx="0" cy="0"/>
        </a:xfrm>
      </p:grpSpPr>
      <p:pic>
        <p:nvPicPr>
          <p:cNvPr id="9" name="Picture 8" descr="A person using a device to connect wires&#10;&#10;Description automatically generated">
            <a:extLst>
              <a:ext uri="{FF2B5EF4-FFF2-40B4-BE49-F238E27FC236}">
                <a16:creationId xmlns:a16="http://schemas.microsoft.com/office/drawing/2014/main" id="{C1287946-82AF-7FA8-19A7-7FCE04906E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4238323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0721040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ver_style4">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BC1A7"/>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85156874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4">
    <p:spTree>
      <p:nvGrpSpPr>
        <p:cNvPr id="1" name=""/>
        <p:cNvGrpSpPr/>
        <p:nvPr/>
      </p:nvGrpSpPr>
      <p:grpSpPr>
        <a:xfrm>
          <a:off x="0" y="0"/>
          <a:ext cx="0" cy="0"/>
          <a:chOff x="0" y="0"/>
          <a:chExt cx="0" cy="0"/>
        </a:xfrm>
      </p:grpSpPr>
      <p:pic>
        <p:nvPicPr>
          <p:cNvPr id="4" name="Picture 3" descr="A group of people walking in a park&#10;&#10;Description automatically generated">
            <a:extLst>
              <a:ext uri="{FF2B5EF4-FFF2-40B4-BE49-F238E27FC236}">
                <a16:creationId xmlns:a16="http://schemas.microsoft.com/office/drawing/2014/main" id="{09DD1383-E7A4-AA64-8DE9-6E004E157B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077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6669143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4">
    <p:spTree>
      <p:nvGrpSpPr>
        <p:cNvPr id="1" name=""/>
        <p:cNvGrpSpPr/>
        <p:nvPr/>
      </p:nvGrpSpPr>
      <p:grpSpPr>
        <a:xfrm>
          <a:off x="0" y="0"/>
          <a:ext cx="0" cy="0"/>
          <a:chOff x="0" y="0"/>
          <a:chExt cx="0" cy="0"/>
        </a:xfrm>
      </p:grpSpPr>
      <p:pic>
        <p:nvPicPr>
          <p:cNvPr id="4" name="Picture 3" descr="A building under construction with trees&#10;&#10;Description automatically generated">
            <a:extLst>
              <a:ext uri="{FF2B5EF4-FFF2-40B4-BE49-F238E27FC236}">
                <a16:creationId xmlns:a16="http://schemas.microsoft.com/office/drawing/2014/main" id="{51F6BE47-7A2B-FB6B-ED40-B51129631D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55124"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0719196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4">
    <p:spTree>
      <p:nvGrpSpPr>
        <p:cNvPr id="1" name=""/>
        <p:cNvGrpSpPr/>
        <p:nvPr/>
      </p:nvGrpSpPr>
      <p:grpSpPr>
        <a:xfrm>
          <a:off x="0" y="0"/>
          <a:ext cx="0" cy="0"/>
          <a:chOff x="0" y="0"/>
          <a:chExt cx="0" cy="0"/>
        </a:xfrm>
      </p:grpSpPr>
      <p:pic>
        <p:nvPicPr>
          <p:cNvPr id="11" name="Picture 10" descr="A person holding a piece of wood&#10;&#10;Description automatically generated">
            <a:extLst>
              <a:ext uri="{FF2B5EF4-FFF2-40B4-BE49-F238E27FC236}">
                <a16:creationId xmlns:a16="http://schemas.microsoft.com/office/drawing/2014/main" id="{94024269-2550-85C4-BE45-B706209E4B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68792978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2"/>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88723145"/>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ver_style5">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2C421D"/>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07732104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5">
    <p:spTree>
      <p:nvGrpSpPr>
        <p:cNvPr id="1" name=""/>
        <p:cNvGrpSpPr/>
        <p:nvPr/>
      </p:nvGrpSpPr>
      <p:grpSpPr>
        <a:xfrm>
          <a:off x="0" y="0"/>
          <a:ext cx="0" cy="0"/>
          <a:chOff x="0" y="0"/>
          <a:chExt cx="0" cy="0"/>
        </a:xfrm>
      </p:grpSpPr>
      <p:pic>
        <p:nvPicPr>
          <p:cNvPr id="11" name="Picture 10" descr="People walking in a park&#10;&#10;Description automatically generated">
            <a:extLst>
              <a:ext uri="{FF2B5EF4-FFF2-40B4-BE49-F238E27FC236}">
                <a16:creationId xmlns:a16="http://schemas.microsoft.com/office/drawing/2014/main" id="{8FBDA43B-799F-3262-242C-5B80658B72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458123"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926217321"/>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5">
    <p:spTree>
      <p:nvGrpSpPr>
        <p:cNvPr id="1" name=""/>
        <p:cNvGrpSpPr/>
        <p:nvPr/>
      </p:nvGrpSpPr>
      <p:grpSpPr>
        <a:xfrm>
          <a:off x="0" y="0"/>
          <a:ext cx="0" cy="0"/>
          <a:chOff x="0" y="0"/>
          <a:chExt cx="0" cy="0"/>
        </a:xfrm>
      </p:grpSpPr>
      <p:pic>
        <p:nvPicPr>
          <p:cNvPr id="8" name="Picture 7" descr="People walking past a building with ivy on the side&#10;&#10;Description automatically generated">
            <a:extLst>
              <a:ext uri="{FF2B5EF4-FFF2-40B4-BE49-F238E27FC236}">
                <a16:creationId xmlns:a16="http://schemas.microsoft.com/office/drawing/2014/main" id="{DCDBF601-CDA9-69BA-756C-E76F557DDD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3495"/>
            <a:ext cx="8937748" cy="6120000"/>
          </a:xfrm>
          <a:prstGeom prst="rect">
            <a:avLst/>
          </a:prstGeom>
        </p:spPr>
      </p:pic>
      <p:sp>
        <p:nvSpPr>
          <p:cNvPr id="3" name="Picture Placeholder 7">
            <a:extLst>
              <a:ext uri="{FF2B5EF4-FFF2-40B4-BE49-F238E27FC236}">
                <a16:creationId xmlns:a16="http://schemas.microsoft.com/office/drawing/2014/main" id="{F974493F-F173-1F00-92AD-843885FB6183}"/>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52386867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5">
    <p:spTree>
      <p:nvGrpSpPr>
        <p:cNvPr id="1" name=""/>
        <p:cNvGrpSpPr/>
        <p:nvPr/>
      </p:nvGrpSpPr>
      <p:grpSpPr>
        <a:xfrm>
          <a:off x="0" y="0"/>
          <a:ext cx="0" cy="0"/>
          <a:chOff x="0" y="0"/>
          <a:chExt cx="0" cy="0"/>
        </a:xfrm>
      </p:grpSpPr>
      <p:pic>
        <p:nvPicPr>
          <p:cNvPr id="4" name="Picture 3" descr="Close-up of hands cutting a plant&#10;&#10;Description automatically generated">
            <a:extLst>
              <a:ext uri="{FF2B5EF4-FFF2-40B4-BE49-F238E27FC236}">
                <a16:creationId xmlns:a16="http://schemas.microsoft.com/office/drawing/2014/main" id="{C8DC821B-C317-1417-9462-5276076292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3496"/>
            <a:ext cx="91162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98410877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288818274"/>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ver_style6">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823509555"/>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6">
    <p:spTree>
      <p:nvGrpSpPr>
        <p:cNvPr id="1" name=""/>
        <p:cNvGrpSpPr/>
        <p:nvPr/>
      </p:nvGrpSpPr>
      <p:grpSpPr>
        <a:xfrm>
          <a:off x="0" y="0"/>
          <a:ext cx="0" cy="0"/>
          <a:chOff x="0" y="0"/>
          <a:chExt cx="0" cy="0"/>
        </a:xfrm>
      </p:grpSpPr>
      <p:pic>
        <p:nvPicPr>
          <p:cNvPr id="11" name="Picture 10" descr="A building with a large building and a green field&#10;&#10;Description automatically generated with medium confidence">
            <a:extLst>
              <a:ext uri="{FF2B5EF4-FFF2-40B4-BE49-F238E27FC236}">
                <a16:creationId xmlns:a16="http://schemas.microsoft.com/office/drawing/2014/main" id="{77EEB241-B6FD-9EE4-0BB0-B7F11F8418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7446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30538654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6">
    <p:spTree>
      <p:nvGrpSpPr>
        <p:cNvPr id="1" name=""/>
        <p:cNvGrpSpPr/>
        <p:nvPr/>
      </p:nvGrpSpPr>
      <p:grpSpPr>
        <a:xfrm>
          <a:off x="0" y="0"/>
          <a:ext cx="0" cy="0"/>
          <a:chOff x="0" y="0"/>
          <a:chExt cx="0" cy="0"/>
        </a:xfrm>
      </p:grpSpPr>
      <p:pic>
        <p:nvPicPr>
          <p:cNvPr id="9" name="Picture 8" descr="A pencil and a piece of wood&#10;&#10;Description automatically generated">
            <a:extLst>
              <a:ext uri="{FF2B5EF4-FFF2-40B4-BE49-F238E27FC236}">
                <a16:creationId xmlns:a16="http://schemas.microsoft.com/office/drawing/2014/main" id="{65E1F172-EAEE-9E3C-B801-E4B9030BEEF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744" b="4383"/>
          <a:stretch/>
        </p:blipFill>
        <p:spPr>
          <a:xfrm>
            <a:off x="345599" y="342000"/>
            <a:ext cx="809066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88317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6">
    <p:spTree>
      <p:nvGrpSpPr>
        <p:cNvPr id="1" name=""/>
        <p:cNvGrpSpPr/>
        <p:nvPr/>
      </p:nvGrpSpPr>
      <p:grpSpPr>
        <a:xfrm>
          <a:off x="0" y="0"/>
          <a:ext cx="0" cy="0"/>
          <a:chOff x="0" y="0"/>
          <a:chExt cx="0" cy="0"/>
        </a:xfrm>
      </p:grpSpPr>
      <p:pic>
        <p:nvPicPr>
          <p:cNvPr id="11" name="Picture 10" descr="A close-up of a person holding a pair of hands&#10;&#10;Description automatically generated">
            <a:extLst>
              <a:ext uri="{FF2B5EF4-FFF2-40B4-BE49-F238E27FC236}">
                <a16:creationId xmlns:a16="http://schemas.microsoft.com/office/drawing/2014/main" id="{BE621E20-3B1D-7A47-09A7-7ADB27759E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9245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90000"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57575195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22108170"/>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over_style7">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73234B"/>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EB7B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18180457"/>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7">
    <p:spTree>
      <p:nvGrpSpPr>
        <p:cNvPr id="1" name=""/>
        <p:cNvGrpSpPr/>
        <p:nvPr/>
      </p:nvGrpSpPr>
      <p:grpSpPr>
        <a:xfrm>
          <a:off x="0" y="0"/>
          <a:ext cx="0" cy="0"/>
          <a:chOff x="0" y="0"/>
          <a:chExt cx="0" cy="0"/>
        </a:xfrm>
      </p:grpSpPr>
      <p:pic>
        <p:nvPicPr>
          <p:cNvPr id="4" name="Picture 3" descr="A building with trees and grass&#10;&#10;Description automatically generated">
            <a:extLst>
              <a:ext uri="{FF2B5EF4-FFF2-40B4-BE49-F238E27FC236}">
                <a16:creationId xmlns:a16="http://schemas.microsoft.com/office/drawing/2014/main" id="{DBF2D86A-A44D-CDAE-9665-F4BFF676E9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6448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42903895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7">
    <p:spTree>
      <p:nvGrpSpPr>
        <p:cNvPr id="1" name=""/>
        <p:cNvGrpSpPr/>
        <p:nvPr/>
      </p:nvGrpSpPr>
      <p:grpSpPr>
        <a:xfrm>
          <a:off x="0" y="0"/>
          <a:ext cx="0" cy="0"/>
          <a:chOff x="0" y="0"/>
          <a:chExt cx="0" cy="0"/>
        </a:xfrm>
      </p:grpSpPr>
      <p:pic>
        <p:nvPicPr>
          <p:cNvPr id="4" name="Picture 3" descr="A multi-story building with colorful balconies&#10;&#10;Description automatically generated">
            <a:extLst>
              <a:ext uri="{FF2B5EF4-FFF2-40B4-BE49-F238E27FC236}">
                <a16:creationId xmlns:a16="http://schemas.microsoft.com/office/drawing/2014/main" id="{90EADEC2-C4A9-6F30-E874-B83B9B07C3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9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7114837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7">
    <p:spTree>
      <p:nvGrpSpPr>
        <p:cNvPr id="1" name=""/>
        <p:cNvGrpSpPr/>
        <p:nvPr/>
      </p:nvGrpSpPr>
      <p:grpSpPr>
        <a:xfrm>
          <a:off x="0" y="0"/>
          <a:ext cx="0" cy="0"/>
          <a:chOff x="0" y="0"/>
          <a:chExt cx="0" cy="0"/>
        </a:xfrm>
      </p:grpSpPr>
      <p:pic>
        <p:nvPicPr>
          <p:cNvPr id="4" name="Picture 3" descr="A person holding a file&#10;&#10;Description automatically generated">
            <a:extLst>
              <a:ext uri="{FF2B5EF4-FFF2-40B4-BE49-F238E27FC236}">
                <a16:creationId xmlns:a16="http://schemas.microsoft.com/office/drawing/2014/main" id="{F3379736-BE03-EE69-3641-E7C70EC45D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634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86450669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7">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92411636"/>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ver_style8">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1"/>
          </a:solidFill>
        </p:spPr>
        <p:txBody>
          <a:bodyPr lIns="180000" tIns="144000" rIns="144000" bIns="144000"/>
          <a:lstStyle>
            <a:lvl1pPr marL="0">
              <a:lnSpc>
                <a:spcPts val="1400"/>
              </a:lnSpc>
              <a:spcAft>
                <a:spcPts val="0"/>
              </a:spcAft>
              <a:buFontTx/>
              <a:buNone/>
              <a:defRPr sz="1200" b="1">
                <a:solidFill>
                  <a:schemeClr val="bg1"/>
                </a:solidFill>
              </a:defRPr>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400154552"/>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8">
    <p:spTree>
      <p:nvGrpSpPr>
        <p:cNvPr id="1" name=""/>
        <p:cNvGrpSpPr/>
        <p:nvPr/>
      </p:nvGrpSpPr>
      <p:grpSpPr>
        <a:xfrm>
          <a:off x="0" y="0"/>
          <a:ext cx="0" cy="0"/>
          <a:chOff x="0" y="0"/>
          <a:chExt cx="0" cy="0"/>
        </a:xfrm>
      </p:grpSpPr>
      <p:pic>
        <p:nvPicPr>
          <p:cNvPr id="4" name="Picture 3" descr="A person walking past a building&#10;&#10;Description automatically generated">
            <a:extLst>
              <a:ext uri="{FF2B5EF4-FFF2-40B4-BE49-F238E27FC236}">
                <a16:creationId xmlns:a16="http://schemas.microsoft.com/office/drawing/2014/main" id="{D5753130-04CA-4F8F-7BD2-B29CCF71AB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535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1076727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8">
    <p:spTree>
      <p:nvGrpSpPr>
        <p:cNvPr id="1" name=""/>
        <p:cNvGrpSpPr/>
        <p:nvPr/>
      </p:nvGrpSpPr>
      <p:grpSpPr>
        <a:xfrm>
          <a:off x="0" y="0"/>
          <a:ext cx="0" cy="0"/>
          <a:chOff x="0" y="0"/>
          <a:chExt cx="0" cy="0"/>
        </a:xfrm>
      </p:grpSpPr>
      <p:pic>
        <p:nvPicPr>
          <p:cNvPr id="9" name="Picture 8" descr="A sculpture outside of a building&#10;&#10;Description automatically generated">
            <a:extLst>
              <a:ext uri="{FF2B5EF4-FFF2-40B4-BE49-F238E27FC236}">
                <a16:creationId xmlns:a16="http://schemas.microsoft.com/office/drawing/2014/main" id="{5BC26AC2-AAA3-E94F-770E-788A91004B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30393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94246968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8">
    <p:spTree>
      <p:nvGrpSpPr>
        <p:cNvPr id="1" name=""/>
        <p:cNvGrpSpPr/>
        <p:nvPr/>
      </p:nvGrpSpPr>
      <p:grpSpPr>
        <a:xfrm>
          <a:off x="0" y="0"/>
          <a:ext cx="0" cy="0"/>
          <a:chOff x="0" y="0"/>
          <a:chExt cx="0" cy="0"/>
        </a:xfrm>
      </p:grpSpPr>
      <p:pic>
        <p:nvPicPr>
          <p:cNvPr id="4" name="Picture 3" descr="A person cleaning a surface&#10;&#10;Description automatically generated">
            <a:extLst>
              <a:ext uri="{FF2B5EF4-FFF2-40B4-BE49-F238E27FC236}">
                <a16:creationId xmlns:a16="http://schemas.microsoft.com/office/drawing/2014/main" id="{F496D6BF-DBBA-5AEF-EF97-08D170EF1C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023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7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05645031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8">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3314554331"/>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F5FD65-719B-D18F-F8E8-E39C71BCBD2F}"/>
              </a:ext>
            </a:extLst>
          </p:cNvPr>
          <p:cNvSpPr>
            <a:spLocks noGrp="1"/>
          </p:cNvSpPr>
          <p:nvPr>
            <p:ph type="title"/>
          </p:nvPr>
        </p:nvSpPr>
        <p:spPr/>
        <p:txBody>
          <a:bodyPr/>
          <a:lstStyle/>
          <a:p>
            <a:r>
              <a:rPr lang="en-US"/>
              <a:t>Click to edit Master title style</a:t>
            </a:r>
            <a:endParaRPr lang="en-AU"/>
          </a:p>
        </p:txBody>
      </p:sp>
      <p:sp>
        <p:nvSpPr>
          <p:cNvPr id="2" name="Footer Placeholder 1">
            <a:extLst>
              <a:ext uri="{FF2B5EF4-FFF2-40B4-BE49-F238E27FC236}">
                <a16:creationId xmlns:a16="http://schemas.microsoft.com/office/drawing/2014/main" id="{AEAC15A5-6D74-A5DE-3613-65783B641150}"/>
              </a:ext>
            </a:extLst>
          </p:cNvPr>
          <p:cNvSpPr>
            <a:spLocks noGrp="1"/>
          </p:cNvSpPr>
          <p:nvPr>
            <p:ph type="ftr" sz="quarter" idx="13"/>
          </p:nvPr>
        </p:nvSpPr>
        <p:spPr/>
        <p:txBody>
          <a:bodyPr/>
          <a:lstStyle/>
          <a:p>
            <a:r>
              <a:rPr lang="en-AU"/>
              <a:t>[Insert Identifier] | [Insert Report Title]</a:t>
            </a:r>
            <a:endParaRPr lang="en-AU" dirty="0"/>
          </a:p>
        </p:txBody>
      </p:sp>
      <p:sp>
        <p:nvSpPr>
          <p:cNvPr id="4" name="Slide Number Placeholder 3">
            <a:extLst>
              <a:ext uri="{FF2B5EF4-FFF2-40B4-BE49-F238E27FC236}">
                <a16:creationId xmlns:a16="http://schemas.microsoft.com/office/drawing/2014/main" id="{435F3ED5-6AAA-3BC2-D5BA-F3F1F1F148E4}"/>
              </a:ext>
            </a:extLst>
          </p:cNvPr>
          <p:cNvSpPr>
            <a:spLocks noGrp="1"/>
          </p:cNvSpPr>
          <p:nvPr>
            <p:ph type="sldNum" sz="quarter" idx="14"/>
          </p:nvPr>
        </p:nvSpPr>
        <p:spPr/>
        <p:txBody>
          <a:bodyPr/>
          <a:lstStyle/>
          <a:p>
            <a:r>
              <a:rPr lang="en-AU"/>
              <a:t>Page [</a:t>
            </a:r>
            <a:fld id="{29D5CE74-914C-4689-99FC-1AEF49CE2B47}" type="slidenum">
              <a:rPr smtClean="0"/>
              <a:pPr/>
              <a:t>‹#›</a:t>
            </a:fld>
            <a:r>
              <a:t>]</a:t>
            </a:r>
            <a:endParaRPr lang="en-AU" dirty="0"/>
          </a:p>
        </p:txBody>
      </p:sp>
    </p:spTree>
    <p:extLst>
      <p:ext uri="{BB962C8B-B14F-4D97-AF65-F5344CB8AC3E}">
        <p14:creationId xmlns:p14="http://schemas.microsoft.com/office/powerpoint/2010/main" val="5465479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67260" y="6437192"/>
            <a:ext cx="1579139" cy="216000"/>
          </a:xfrm>
          <a:prstGeom prst="rect">
            <a:avLst/>
          </a:prstGeom>
        </p:spPr>
        <p:txBody>
          <a:bodyPr vert="horz" lIns="0" tIns="0" rIns="0" bIns="0" rtlCol="0" anchor="ctr"/>
          <a:lstStyle>
            <a:lvl1pPr algn="r">
              <a:lnSpc>
                <a:spcPts val="1200"/>
              </a:lnSpc>
              <a:defRPr lang="en-AU" sz="1000" b="1" smtClean="0">
                <a:solidFill>
                  <a:schemeClr val="bg2"/>
                </a:solidFill>
                <a:latin typeface="+mn-lt"/>
                <a:cs typeface="Arial" pitchFamily="34" charset="0"/>
              </a:defRPr>
            </a:lvl1pPr>
          </a:lstStyle>
          <a:p>
            <a:r>
              <a:rPr lang="en-AU" dirty="0"/>
              <a:t>Page [</a:t>
            </a:r>
            <a:fld id="{29D5CE74-914C-4689-99FC-1AEF49CE2B47}" type="slidenum">
              <a:rPr smtClean="0"/>
              <a:pPr/>
              <a:t>‹#›</a:t>
            </a:fld>
            <a:r>
              <a:rPr dirty="0"/>
              <a:t>]</a:t>
            </a:r>
            <a:endParaRPr lang="en-AU" dirty="0"/>
          </a:p>
        </p:txBody>
      </p:sp>
      <p:sp>
        <p:nvSpPr>
          <p:cNvPr id="4" name="Footer Placeholder 3">
            <a:extLst>
              <a:ext uri="{FF2B5EF4-FFF2-40B4-BE49-F238E27FC236}">
                <a16:creationId xmlns:a16="http://schemas.microsoft.com/office/drawing/2014/main" id="{D379F384-E22A-4C04-2D3F-76823C04012A}"/>
              </a:ext>
            </a:extLst>
          </p:cNvPr>
          <p:cNvSpPr>
            <a:spLocks noGrp="1"/>
          </p:cNvSpPr>
          <p:nvPr>
            <p:ph type="ftr" sz="quarter" idx="3"/>
          </p:nvPr>
        </p:nvSpPr>
        <p:spPr>
          <a:xfrm>
            <a:off x="345600" y="6437192"/>
            <a:ext cx="4114800" cy="216000"/>
          </a:xfrm>
          <a:prstGeom prst="rect">
            <a:avLst/>
          </a:prstGeom>
        </p:spPr>
        <p:txBody>
          <a:bodyPr vert="horz" lIns="0" tIns="0" rIns="0" bIns="0" rtlCol="0" anchor="ctr"/>
          <a:lstStyle>
            <a:lvl1pPr algn="l">
              <a:lnSpc>
                <a:spcPts val="1200"/>
              </a:lnSpc>
              <a:defRPr sz="1000" b="1">
                <a:solidFill>
                  <a:schemeClr val="bg2"/>
                </a:solidFill>
              </a:defRPr>
            </a:lvl1pPr>
          </a:lstStyle>
          <a:p>
            <a:r>
              <a:rPr lang="en-AU" dirty="0"/>
              <a:t>[Insert Identifier] | [Insert Report Title]</a:t>
            </a:r>
          </a:p>
        </p:txBody>
      </p:sp>
      <p:sp>
        <p:nvSpPr>
          <p:cNvPr id="3" name="Text Placeholder 2"/>
          <p:cNvSpPr>
            <a:spLocks noGrp="1"/>
          </p:cNvSpPr>
          <p:nvPr>
            <p:ph type="body" idx="1"/>
          </p:nvPr>
        </p:nvSpPr>
        <p:spPr>
          <a:xfrm>
            <a:off x="345600" y="1870255"/>
            <a:ext cx="11501912" cy="4273200"/>
          </a:xfrm>
          <a:prstGeom prst="rect">
            <a:avLst/>
          </a:prstGeom>
        </p:spPr>
        <p:txBody>
          <a:bodyPr vert="horz" lIns="0" tIns="0" rIns="0" bIns="0" rtlCol="0">
            <a:noAutofit/>
          </a:body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pic>
        <p:nvPicPr>
          <p:cNvPr id="8" name="Picture Placeholder 10" descr="Logo&#10;&#10;Description automatically generated">
            <a:extLst>
              <a:ext uri="{FF2B5EF4-FFF2-40B4-BE49-F238E27FC236}">
                <a16:creationId xmlns:a16="http://schemas.microsoft.com/office/drawing/2014/main" id="{186FA8D1-9047-12AF-8731-019C3A7101D9}"/>
              </a:ext>
            </a:extLst>
          </p:cNvPr>
          <p:cNvPicPr>
            <a:picLocks noChangeAspect="1"/>
          </p:cNvPicPr>
          <p:nvPr userDrawn="1"/>
        </p:nvPicPr>
        <p:blipFill rotWithShape="1">
          <a:blip r:embed="rId6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
        <p:nvSpPr>
          <p:cNvPr id="2" name="Title Placeholder 1"/>
          <p:cNvSpPr>
            <a:spLocks noGrp="1"/>
          </p:cNvSpPr>
          <p:nvPr>
            <p:ph type="title"/>
          </p:nvPr>
        </p:nvSpPr>
        <p:spPr>
          <a:xfrm>
            <a:off x="345600" y="342000"/>
            <a:ext cx="9695205" cy="531544"/>
          </a:xfrm>
          <a:prstGeom prst="rect">
            <a:avLst/>
          </a:prstGeom>
        </p:spPr>
        <p:txBody>
          <a:bodyPr vert="horz" lIns="0" tIns="0" rIns="0" bIns="0" rtlCol="0" anchor="t">
            <a:noAutofit/>
          </a:bodyPr>
          <a:lstStyle/>
          <a:p>
            <a:r>
              <a:rPr lang="en-US" noProof="0"/>
              <a:t>Click to edit Master title style</a:t>
            </a:r>
            <a:endParaRPr lang="en-AU" noProof="0" dirty="0"/>
          </a:p>
        </p:txBody>
      </p:sp>
    </p:spTree>
    <p:extLst>
      <p:ext uri="{BB962C8B-B14F-4D97-AF65-F5344CB8AC3E}">
        <p14:creationId xmlns:p14="http://schemas.microsoft.com/office/powerpoint/2010/main" val="206345408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5" r:id="rId3"/>
    <p:sldLayoutId id="2147483724" r:id="rId4"/>
    <p:sldLayoutId id="2147483726" r:id="rId5"/>
    <p:sldLayoutId id="2147483727" r:id="rId6"/>
    <p:sldLayoutId id="2147483728" r:id="rId7"/>
    <p:sldLayoutId id="2147483729" r:id="rId8"/>
    <p:sldLayoutId id="2147483730" r:id="rId9"/>
    <p:sldLayoutId id="2147483731" r:id="rId10"/>
    <p:sldLayoutId id="2147483682" r:id="rId11"/>
    <p:sldLayoutId id="2147483732" r:id="rId12"/>
    <p:sldLayoutId id="2147483733" r:id="rId13"/>
    <p:sldLayoutId id="2147483718" r:id="rId14"/>
    <p:sldLayoutId id="2147483719" r:id="rId15"/>
    <p:sldLayoutId id="2147483721" r:id="rId16"/>
    <p:sldLayoutId id="2147483673" r:id="rId17"/>
    <p:sldLayoutId id="2147483659" r:id="rId18"/>
    <p:sldLayoutId id="2147483720" r:id="rId19"/>
    <p:sldLayoutId id="2147483664" r:id="rId20"/>
    <p:sldLayoutId id="2147483710" r:id="rId21"/>
    <p:sldLayoutId id="2147483711" r:id="rId22"/>
    <p:sldLayoutId id="2147483734" r:id="rId23"/>
    <p:sldLayoutId id="2147483655" r:id="rId24"/>
    <p:sldLayoutId id="2147483742" r:id="rId25"/>
    <p:sldLayoutId id="2147483736" r:id="rId26"/>
    <p:sldLayoutId id="2147483738" r:id="rId27"/>
    <p:sldLayoutId id="2147483739" r:id="rId28"/>
    <p:sldLayoutId id="2147483740"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 id="2147483771" r:id="rId58"/>
    <p:sldLayoutId id="2147483772" r:id="rId59"/>
    <p:sldLayoutId id="2147483654" r:id="rId60"/>
  </p:sldLayoutIdLst>
  <p:hf hdr="0" dt="0"/>
  <p:txStyles>
    <p:title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p:titleStyle>
    <p:body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p:bodyStyle>
    <p:otherStyle>
      <a:defPPr>
        <a:defRPr lang="en-US"/>
      </a:defPPr>
      <a:lvl1pPr marL="0" algn="l" defTabSz="1218804" rtl="0" eaLnBrk="1" latinLnBrk="0" hangingPunct="1">
        <a:defRPr sz="1200" kern="1200">
          <a:solidFill>
            <a:schemeClr val="tx1"/>
          </a:solidFill>
          <a:latin typeface="+mn-lt"/>
          <a:ea typeface="+mn-ea"/>
          <a:cs typeface="+mn-cs"/>
        </a:defRPr>
      </a:lvl1pPr>
      <a:lvl2pPr marL="609402" algn="l" defTabSz="1218804" rtl="0" eaLnBrk="1" latinLnBrk="0" hangingPunct="1">
        <a:defRPr sz="1200" kern="1200">
          <a:solidFill>
            <a:schemeClr val="tx1"/>
          </a:solidFill>
          <a:latin typeface="+mn-lt"/>
          <a:ea typeface="+mn-ea"/>
          <a:cs typeface="+mn-cs"/>
        </a:defRPr>
      </a:lvl2pPr>
      <a:lvl3pPr marL="1218804" algn="l" defTabSz="1218804" rtl="0" eaLnBrk="1" latinLnBrk="0" hangingPunct="1">
        <a:defRPr sz="1200" kern="1200">
          <a:solidFill>
            <a:schemeClr val="tx1"/>
          </a:solidFill>
          <a:latin typeface="+mn-lt"/>
          <a:ea typeface="+mn-ea"/>
          <a:cs typeface="+mn-cs"/>
        </a:defRPr>
      </a:lvl3pPr>
      <a:lvl4pPr marL="1828206" algn="l" defTabSz="1218804" rtl="0" eaLnBrk="1" latinLnBrk="0" hangingPunct="1">
        <a:defRPr sz="1200" kern="1200">
          <a:solidFill>
            <a:schemeClr val="tx1"/>
          </a:solidFill>
          <a:latin typeface="+mn-lt"/>
          <a:ea typeface="+mn-ea"/>
          <a:cs typeface="+mn-cs"/>
        </a:defRPr>
      </a:lvl4pPr>
      <a:lvl5pPr marL="2437608" algn="l" defTabSz="1218804" rtl="0" eaLnBrk="1" latinLnBrk="0" hangingPunct="1">
        <a:defRPr sz="1200" kern="1200">
          <a:solidFill>
            <a:schemeClr val="tx1"/>
          </a:solidFill>
          <a:latin typeface="+mn-lt"/>
          <a:ea typeface="+mn-ea"/>
          <a:cs typeface="+mn-cs"/>
        </a:defRPr>
      </a:lvl5pPr>
      <a:lvl6pPr marL="3047009" algn="l" defTabSz="1218804" rtl="0" eaLnBrk="1" latinLnBrk="0" hangingPunct="1">
        <a:defRPr sz="1200" kern="1200">
          <a:solidFill>
            <a:schemeClr val="tx1"/>
          </a:solidFill>
          <a:latin typeface="+mn-lt"/>
          <a:ea typeface="+mn-ea"/>
          <a:cs typeface="+mn-cs"/>
        </a:defRPr>
      </a:lvl6pPr>
      <a:lvl7pPr marL="3656411" algn="l" defTabSz="1218804" rtl="0" eaLnBrk="1" latinLnBrk="0" hangingPunct="1">
        <a:defRPr sz="1200" kern="1200">
          <a:solidFill>
            <a:schemeClr val="tx1"/>
          </a:solidFill>
          <a:latin typeface="+mn-lt"/>
          <a:ea typeface="+mn-ea"/>
          <a:cs typeface="+mn-cs"/>
        </a:defRPr>
      </a:lvl7pPr>
      <a:lvl8pPr marL="4265813" algn="l" defTabSz="1218804" rtl="0" eaLnBrk="1" latinLnBrk="0" hangingPunct="1">
        <a:defRPr sz="1200" kern="1200">
          <a:solidFill>
            <a:schemeClr val="tx1"/>
          </a:solidFill>
          <a:latin typeface="+mn-lt"/>
          <a:ea typeface="+mn-ea"/>
          <a:cs typeface="+mn-cs"/>
        </a:defRPr>
      </a:lvl8pPr>
      <a:lvl9pPr marL="4875215" algn="l" defTabSz="1218804"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2" userDrawn="1">
          <p15:clr>
            <a:srgbClr val="F26B43"/>
          </p15:clr>
        </p15:guide>
        <p15:guide id="2" pos="21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0319C9-5088-0D4D-07BB-014860B3693D}"/>
              </a:ext>
            </a:extLst>
          </p:cNvPr>
          <p:cNvSpPr>
            <a:spLocks noGrp="1"/>
          </p:cNvSpPr>
          <p:nvPr>
            <p:ph type="title"/>
          </p:nvPr>
        </p:nvSpPr>
        <p:spPr>
          <a:xfrm>
            <a:off x="345600" y="1916832"/>
            <a:ext cx="9001001" cy="2726013"/>
          </a:xfrm>
        </p:spPr>
        <p:txBody>
          <a:bodyPr/>
          <a:lstStyle/>
          <a:p>
            <a:r>
              <a:rPr lang="en-US" altLang="zh-CN" sz="4000" dirty="0"/>
              <a:t>Data Quality of Generative Images for Object Detection</a:t>
            </a:r>
            <a:endParaRPr lang="en-AU" sz="4000" dirty="0"/>
          </a:p>
        </p:txBody>
      </p:sp>
      <p:sp>
        <p:nvSpPr>
          <p:cNvPr id="5" name="Title 1">
            <a:extLst>
              <a:ext uri="{FF2B5EF4-FFF2-40B4-BE49-F238E27FC236}">
                <a16:creationId xmlns:a16="http://schemas.microsoft.com/office/drawing/2014/main" id="{2CFF9A49-10B0-47C1-8CC1-55BA14A84DEF}"/>
              </a:ext>
            </a:extLst>
          </p:cNvPr>
          <p:cNvSpPr txBox="1">
            <a:spLocks/>
          </p:cNvSpPr>
          <p:nvPr/>
        </p:nvSpPr>
        <p:spPr>
          <a:xfrm>
            <a:off x="345600" y="4221088"/>
            <a:ext cx="9695205" cy="531544"/>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AU" sz="2000" dirty="0"/>
              <a:t>Presenter: </a:t>
            </a:r>
            <a:r>
              <a:rPr lang="en-AU" sz="2000" dirty="0" err="1"/>
              <a:t>Jingcheng</a:t>
            </a:r>
            <a:r>
              <a:rPr lang="en-AU" sz="2000" dirty="0"/>
              <a:t> Qian 1640690</a:t>
            </a:r>
          </a:p>
        </p:txBody>
      </p:sp>
    </p:spTree>
    <p:extLst>
      <p:ext uri="{BB962C8B-B14F-4D97-AF65-F5344CB8AC3E}">
        <p14:creationId xmlns:p14="http://schemas.microsoft.com/office/powerpoint/2010/main" val="3366627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US" altLang="zh-CN" sz="3200" dirty="0"/>
              <a:t>Real-time AI at Your Fingertips</a:t>
            </a:r>
            <a:endParaRPr lang="en-AU" sz="3200" dirty="0"/>
          </a:p>
        </p:txBody>
      </p:sp>
      <p:pic>
        <p:nvPicPr>
          <p:cNvPr id="7" name="图片 6">
            <a:extLst>
              <a:ext uri="{FF2B5EF4-FFF2-40B4-BE49-F238E27FC236}">
                <a16:creationId xmlns:a16="http://schemas.microsoft.com/office/drawing/2014/main" id="{F0B5467A-E3C2-4473-A2D0-3E2E109525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0400" y="995291"/>
            <a:ext cx="6120680" cy="5148164"/>
          </a:xfrm>
          <a:prstGeom prst="rect">
            <a:avLst/>
          </a:prstGeom>
        </p:spPr>
      </p:pic>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665636"/>
            <a:ext cx="3878191" cy="1702761"/>
          </a:xfrm>
        </p:spPr>
        <p:txBody>
          <a:bodyPr/>
          <a:lstStyle/>
          <a:p>
            <a:pPr lvl="2"/>
            <a:r>
              <a:rPr lang="en-US" altLang="zh-CN" sz="2000" dirty="0">
                <a:latin typeface="+mn-ea"/>
              </a:rPr>
              <a:t>Live Caption</a:t>
            </a:r>
          </a:p>
          <a:p>
            <a:pPr lvl="3"/>
            <a:r>
              <a:rPr lang="en-US" altLang="zh-CN" sz="2000" dirty="0">
                <a:latin typeface="+mn-ea"/>
              </a:rPr>
              <a:t>On-device Deep Learning</a:t>
            </a:r>
            <a:endParaRPr lang="en-AU" altLang="zh-CN" sz="2000" dirty="0">
              <a:latin typeface="+mn-ea"/>
            </a:endParaRPr>
          </a:p>
          <a:p>
            <a:pPr lvl="4"/>
            <a:r>
              <a:rPr lang="en-US" altLang="zh-CN" sz="2000" dirty="0">
                <a:latin typeface="+mn-ea"/>
              </a:rPr>
              <a:t>TensorFlow Lite</a:t>
            </a:r>
          </a:p>
          <a:p>
            <a:pPr lvl="4"/>
            <a:r>
              <a:rPr lang="en-US" altLang="zh-CN" sz="2000" dirty="0">
                <a:latin typeface="+mn-ea"/>
              </a:rPr>
              <a:t>Real-time, low latency</a:t>
            </a:r>
          </a:p>
          <a:p>
            <a:pPr lvl="4"/>
            <a:r>
              <a:rPr lang="en-US" sz="2000" dirty="0">
                <a:latin typeface="+mn-ea"/>
              </a:rPr>
              <a:t>All</a:t>
            </a:r>
            <a:r>
              <a:rPr lang="zh-CN" altLang="en-US" sz="2000" dirty="0">
                <a:latin typeface="+mn-ea"/>
              </a:rPr>
              <a:t> </a:t>
            </a:r>
            <a:r>
              <a:rPr lang="en-US" altLang="zh-CN" sz="2000" dirty="0">
                <a:latin typeface="+mn-ea"/>
              </a:rPr>
              <a:t>data in device</a:t>
            </a:r>
            <a:endParaRPr lang="en-AU" sz="2000" dirty="0">
              <a:latin typeface="+mn-ea"/>
            </a:endParaRPr>
          </a:p>
        </p:txBody>
      </p:sp>
      <p:sp>
        <p:nvSpPr>
          <p:cNvPr id="5" name="矩形 4">
            <a:extLst>
              <a:ext uri="{FF2B5EF4-FFF2-40B4-BE49-F238E27FC236}">
                <a16:creationId xmlns:a16="http://schemas.microsoft.com/office/drawing/2014/main" id="{17DD346B-DB47-4549-A01D-F9E2904E52A2}"/>
              </a:ext>
            </a:extLst>
          </p:cNvPr>
          <p:cNvSpPr/>
          <p:nvPr/>
        </p:nvSpPr>
        <p:spPr>
          <a:xfrm>
            <a:off x="4223790" y="6208223"/>
            <a:ext cx="6591430" cy="307777"/>
          </a:xfrm>
          <a:prstGeom prst="rect">
            <a:avLst/>
          </a:prstGeom>
        </p:spPr>
        <p:txBody>
          <a:bodyPr wrap="square">
            <a:spAutoFit/>
          </a:bodyPr>
          <a:lstStyle/>
          <a:p>
            <a:pPr lvl="2"/>
            <a:r>
              <a:rPr lang="en-US" altLang="zh-CN" sz="1400" dirty="0"/>
              <a:t>Figure1: on-device-captioning-with-live-caption</a:t>
            </a:r>
            <a:endParaRPr lang="en-US" altLang="zh-CN" sz="1400" dirty="0">
              <a:latin typeface="+mn-ea"/>
            </a:endParaRPr>
          </a:p>
        </p:txBody>
      </p:sp>
    </p:spTree>
    <p:extLst>
      <p:ext uri="{BB962C8B-B14F-4D97-AF65-F5344CB8AC3E}">
        <p14:creationId xmlns:p14="http://schemas.microsoft.com/office/powerpoint/2010/main" val="1480651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US" altLang="zh-CN" sz="3200" dirty="0">
                <a:solidFill>
                  <a:schemeClr val="tx1">
                    <a:lumMod val="50000"/>
                    <a:lumOff val="50000"/>
                  </a:schemeClr>
                </a:solidFill>
              </a:rPr>
              <a:t>Real-time AI at Your Fingertips</a:t>
            </a:r>
            <a:endParaRPr lang="en-AU" sz="3200" dirty="0">
              <a:solidFill>
                <a:schemeClr val="tx1">
                  <a:lumMod val="50000"/>
                  <a:lumOff val="50000"/>
                </a:schemeClr>
              </a:solidFill>
            </a:endParaRPr>
          </a:p>
        </p:txBody>
      </p:sp>
      <p:pic>
        <p:nvPicPr>
          <p:cNvPr id="7" name="图片 6">
            <a:extLst>
              <a:ext uri="{FF2B5EF4-FFF2-40B4-BE49-F238E27FC236}">
                <a16:creationId xmlns:a16="http://schemas.microsoft.com/office/drawing/2014/main" id="{F0B5467A-E3C2-4473-A2D0-3E2E109525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0400" y="995291"/>
            <a:ext cx="6120680" cy="5148164"/>
          </a:xfrm>
          <a:prstGeom prst="rect">
            <a:avLst/>
          </a:prstGeom>
        </p:spPr>
      </p:pic>
      <p:sp>
        <p:nvSpPr>
          <p:cNvPr id="9" name="Title 1">
            <a:extLst>
              <a:ext uri="{FF2B5EF4-FFF2-40B4-BE49-F238E27FC236}">
                <a16:creationId xmlns:a16="http://schemas.microsoft.com/office/drawing/2014/main" id="{BCE4373D-0ED1-4508-9FD5-D670EF087284}"/>
              </a:ext>
            </a:extLst>
          </p:cNvPr>
          <p:cNvSpPr txBox="1">
            <a:spLocks/>
          </p:cNvSpPr>
          <p:nvPr/>
        </p:nvSpPr>
        <p:spPr>
          <a:xfrm>
            <a:off x="356110" y="840355"/>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3200" dirty="0"/>
              <a:t>—But at What Cost?</a:t>
            </a:r>
            <a:endParaRPr lang="en-AU" sz="3200" dirty="0"/>
          </a:p>
        </p:txBody>
      </p:sp>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597" y="1661498"/>
            <a:ext cx="3878191" cy="1702761"/>
          </a:xfrm>
        </p:spPr>
        <p:txBody>
          <a:bodyPr/>
          <a:lstStyle/>
          <a:p>
            <a:pPr lvl="2"/>
            <a:r>
              <a:rPr lang="en-US" altLang="zh-CN" sz="2000" dirty="0">
                <a:solidFill>
                  <a:schemeClr val="tx1">
                    <a:lumMod val="50000"/>
                    <a:lumOff val="50000"/>
                  </a:schemeClr>
                </a:solidFill>
                <a:latin typeface="+mn-ea"/>
              </a:rPr>
              <a:t>Live Caption</a:t>
            </a:r>
          </a:p>
          <a:p>
            <a:pPr lvl="3"/>
            <a:r>
              <a:rPr lang="en-US" altLang="zh-CN" sz="2000" dirty="0">
                <a:solidFill>
                  <a:schemeClr val="tx1">
                    <a:lumMod val="50000"/>
                    <a:lumOff val="50000"/>
                  </a:schemeClr>
                </a:solidFill>
                <a:latin typeface="+mn-ea"/>
              </a:rPr>
              <a:t>On-device Deep Learning</a:t>
            </a:r>
            <a:endParaRPr lang="en-AU" altLang="zh-CN" sz="2000" dirty="0">
              <a:solidFill>
                <a:schemeClr val="tx1">
                  <a:lumMod val="50000"/>
                  <a:lumOff val="50000"/>
                </a:schemeClr>
              </a:solidFill>
              <a:latin typeface="+mn-ea"/>
            </a:endParaRPr>
          </a:p>
          <a:p>
            <a:pPr lvl="4"/>
            <a:r>
              <a:rPr lang="en-US" altLang="zh-CN" sz="2000" dirty="0">
                <a:solidFill>
                  <a:schemeClr val="tx1">
                    <a:lumMod val="50000"/>
                    <a:lumOff val="50000"/>
                  </a:schemeClr>
                </a:solidFill>
                <a:latin typeface="+mn-ea"/>
              </a:rPr>
              <a:t>TensorFlow Lite</a:t>
            </a:r>
          </a:p>
          <a:p>
            <a:pPr lvl="4"/>
            <a:r>
              <a:rPr lang="en-US" altLang="zh-CN" sz="2000" dirty="0">
                <a:solidFill>
                  <a:schemeClr val="tx1">
                    <a:lumMod val="50000"/>
                    <a:lumOff val="50000"/>
                  </a:schemeClr>
                </a:solidFill>
                <a:latin typeface="+mn-ea"/>
              </a:rPr>
              <a:t>Real-time, low latency</a:t>
            </a:r>
          </a:p>
          <a:p>
            <a:pPr lvl="4"/>
            <a:r>
              <a:rPr lang="en-US" sz="2000" dirty="0">
                <a:solidFill>
                  <a:schemeClr val="tx1">
                    <a:lumMod val="50000"/>
                    <a:lumOff val="50000"/>
                  </a:schemeClr>
                </a:solidFill>
                <a:latin typeface="+mn-ea"/>
              </a:rPr>
              <a:t>All</a:t>
            </a:r>
            <a:r>
              <a:rPr lang="zh-CN" altLang="en-US" sz="2000" dirty="0">
                <a:solidFill>
                  <a:schemeClr val="tx1">
                    <a:lumMod val="50000"/>
                    <a:lumOff val="50000"/>
                  </a:schemeClr>
                </a:solidFill>
                <a:latin typeface="+mn-ea"/>
              </a:rPr>
              <a:t> </a:t>
            </a:r>
            <a:r>
              <a:rPr lang="en-US" altLang="zh-CN" sz="2000" dirty="0">
                <a:solidFill>
                  <a:schemeClr val="tx1">
                    <a:lumMod val="50000"/>
                    <a:lumOff val="50000"/>
                  </a:schemeClr>
                </a:solidFill>
                <a:latin typeface="+mn-ea"/>
              </a:rPr>
              <a:t>data in device</a:t>
            </a:r>
            <a:endParaRPr lang="en-AU" sz="2000" dirty="0">
              <a:solidFill>
                <a:schemeClr val="tx1">
                  <a:lumMod val="50000"/>
                  <a:lumOff val="50000"/>
                </a:schemeClr>
              </a:solidFill>
              <a:latin typeface="+mn-ea"/>
            </a:endParaRPr>
          </a:p>
        </p:txBody>
      </p:sp>
      <p:sp>
        <p:nvSpPr>
          <p:cNvPr id="10" name="Content Placeholder 2">
            <a:extLst>
              <a:ext uri="{FF2B5EF4-FFF2-40B4-BE49-F238E27FC236}">
                <a16:creationId xmlns:a16="http://schemas.microsoft.com/office/drawing/2014/main" id="{CF7C1CC7-9406-46D8-A8EA-247056ED518A}"/>
              </a:ext>
            </a:extLst>
          </p:cNvPr>
          <p:cNvSpPr txBox="1">
            <a:spLocks/>
          </p:cNvSpPr>
          <p:nvPr/>
        </p:nvSpPr>
        <p:spPr>
          <a:xfrm>
            <a:off x="345596" y="3569373"/>
            <a:ext cx="3878191" cy="2088232"/>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pPr lvl="2"/>
            <a:r>
              <a:rPr lang="en-US" altLang="zh-CN" sz="2000" dirty="0">
                <a:latin typeface="+mn-ea"/>
              </a:rPr>
              <a:t>Trade-off</a:t>
            </a:r>
          </a:p>
          <a:p>
            <a:pPr lvl="3"/>
            <a:r>
              <a:rPr lang="en-US" altLang="zh-CN" sz="2000" dirty="0">
                <a:latin typeface="+mn-ea"/>
              </a:rPr>
              <a:t>Vulnerable Local Model</a:t>
            </a:r>
          </a:p>
          <a:p>
            <a:pPr lvl="4"/>
            <a:r>
              <a:rPr lang="en-US" altLang="zh-CN" sz="2000" dirty="0">
                <a:latin typeface="+mn-ea"/>
              </a:rPr>
              <a:t>Extracted</a:t>
            </a:r>
          </a:p>
          <a:p>
            <a:pPr lvl="4"/>
            <a:r>
              <a:rPr lang="en-US" altLang="zh-CN" sz="2000" dirty="0">
                <a:latin typeface="+mn-ea"/>
              </a:rPr>
              <a:t>Reverse-engineered</a:t>
            </a:r>
          </a:p>
          <a:p>
            <a:pPr lvl="4"/>
            <a:r>
              <a:rPr lang="en-US" altLang="zh-CN" sz="2000" dirty="0">
                <a:latin typeface="+mn-ea"/>
              </a:rPr>
              <a:t>Manipulated</a:t>
            </a:r>
            <a:endParaRPr lang="en-AU" sz="2000" dirty="0">
              <a:latin typeface="+mn-ea"/>
            </a:endParaRPr>
          </a:p>
        </p:txBody>
      </p:sp>
      <p:sp>
        <p:nvSpPr>
          <p:cNvPr id="8" name="矩形 7">
            <a:extLst>
              <a:ext uri="{FF2B5EF4-FFF2-40B4-BE49-F238E27FC236}">
                <a16:creationId xmlns:a16="http://schemas.microsoft.com/office/drawing/2014/main" id="{7F5354AF-CA63-4A34-86FD-F27A6E3A7C74}"/>
              </a:ext>
            </a:extLst>
          </p:cNvPr>
          <p:cNvSpPr/>
          <p:nvPr/>
        </p:nvSpPr>
        <p:spPr>
          <a:xfrm>
            <a:off x="4223790" y="6208223"/>
            <a:ext cx="6591430" cy="307777"/>
          </a:xfrm>
          <a:prstGeom prst="rect">
            <a:avLst/>
          </a:prstGeom>
        </p:spPr>
        <p:txBody>
          <a:bodyPr wrap="square">
            <a:spAutoFit/>
          </a:bodyPr>
          <a:lstStyle/>
          <a:p>
            <a:pPr lvl="2"/>
            <a:r>
              <a:rPr lang="en-US" altLang="zh-CN" sz="1400" dirty="0"/>
              <a:t>Figure1: on-device-captioning-with-live-caption</a:t>
            </a:r>
            <a:endParaRPr lang="en-US" altLang="zh-CN" sz="1400" dirty="0">
              <a:latin typeface="+mn-ea"/>
            </a:endParaRPr>
          </a:p>
        </p:txBody>
      </p:sp>
    </p:spTree>
    <p:extLst>
      <p:ext uri="{BB962C8B-B14F-4D97-AF65-F5344CB8AC3E}">
        <p14:creationId xmlns:p14="http://schemas.microsoft.com/office/powerpoint/2010/main" val="2037842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a:xfrm>
            <a:off x="345600" y="342000"/>
            <a:ext cx="9695205" cy="531544"/>
          </a:xfrm>
        </p:spPr>
        <p:txBody>
          <a:bodyPr/>
          <a:lstStyle/>
          <a:p>
            <a:r>
              <a:rPr lang="en-US" altLang="zh-CN" sz="3200" dirty="0"/>
              <a:t>Background</a:t>
            </a:r>
            <a:endParaRPr lang="en-AU" sz="3200" dirty="0"/>
          </a:p>
        </p:txBody>
      </p:sp>
      <p:sp>
        <p:nvSpPr>
          <p:cNvPr id="8" name="矩形 7">
            <a:extLst>
              <a:ext uri="{FF2B5EF4-FFF2-40B4-BE49-F238E27FC236}">
                <a16:creationId xmlns:a16="http://schemas.microsoft.com/office/drawing/2014/main" id="{A2292301-67E1-40BC-8A63-0621646E48D0}"/>
              </a:ext>
            </a:extLst>
          </p:cNvPr>
          <p:cNvSpPr/>
          <p:nvPr/>
        </p:nvSpPr>
        <p:spPr>
          <a:xfrm>
            <a:off x="4223792" y="5076772"/>
            <a:ext cx="6591430" cy="307777"/>
          </a:xfrm>
          <a:prstGeom prst="rect">
            <a:avLst/>
          </a:prstGeom>
        </p:spPr>
        <p:txBody>
          <a:bodyPr wrap="square">
            <a:spAutoFit/>
          </a:bodyPr>
          <a:lstStyle/>
          <a:p>
            <a:pPr lvl="2"/>
            <a:r>
              <a:rPr lang="en-US" altLang="zh-CN" sz="1400" dirty="0"/>
              <a:t>Figure2: Security Status of Embedded ML Models in Android Apps</a:t>
            </a:r>
            <a:endParaRPr lang="en-US" altLang="zh-CN" sz="1400" dirty="0">
              <a:latin typeface="+mn-ea"/>
            </a:endParaRPr>
          </a:p>
        </p:txBody>
      </p:sp>
      <p:sp>
        <p:nvSpPr>
          <p:cNvPr id="11" name="AutoShape 3" descr="https://www.ndss-symposium.org/ndss-paper/asgard-protecting-on-device-deep-neural-networks-with-virtualization-based-trusted-execution-environments/">
            <a:extLst>
              <a:ext uri="{FF2B5EF4-FFF2-40B4-BE49-F238E27FC236}">
                <a16:creationId xmlns:a16="http://schemas.microsoft.com/office/drawing/2014/main" id="{BC021D7C-8363-461A-A986-02AFA321EA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0" name="图片 19">
            <a:extLst>
              <a:ext uri="{FF2B5EF4-FFF2-40B4-BE49-F238E27FC236}">
                <a16:creationId xmlns:a16="http://schemas.microsoft.com/office/drawing/2014/main" id="{4D836F03-B9EA-4A45-ACA4-27824F23BD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5840" y="1025972"/>
            <a:ext cx="7315215" cy="4050800"/>
          </a:xfrm>
          <a:prstGeom prst="rect">
            <a:avLst/>
          </a:prstGeom>
        </p:spPr>
      </p:pic>
      <p:sp>
        <p:nvSpPr>
          <p:cNvPr id="22" name="Content Placeholder 2">
            <a:extLst>
              <a:ext uri="{FF2B5EF4-FFF2-40B4-BE49-F238E27FC236}">
                <a16:creationId xmlns:a16="http://schemas.microsoft.com/office/drawing/2014/main" id="{9A0F6328-09D9-47E5-941F-7B692B125195}"/>
              </a:ext>
            </a:extLst>
          </p:cNvPr>
          <p:cNvSpPr>
            <a:spLocks noGrp="1"/>
          </p:cNvSpPr>
          <p:nvPr>
            <p:ph sz="quarter" idx="14"/>
          </p:nvPr>
        </p:nvSpPr>
        <p:spPr>
          <a:xfrm>
            <a:off x="345599" y="1256682"/>
            <a:ext cx="5102329" cy="3972517"/>
          </a:xfrm>
        </p:spPr>
        <p:txBody>
          <a:bodyPr/>
          <a:lstStyle/>
          <a:p>
            <a:pPr lvl="3"/>
            <a:r>
              <a:rPr lang="en-US" altLang="zh-CN" sz="2000" dirty="0">
                <a:latin typeface="+mn-ea"/>
              </a:rPr>
              <a:t>On-Device Deep Learning</a:t>
            </a:r>
          </a:p>
          <a:p>
            <a:pPr lvl="4"/>
            <a:r>
              <a:rPr lang="en-US" altLang="zh-CN" sz="2000" dirty="0">
                <a:latin typeface="+mn-ea"/>
              </a:rPr>
              <a:t>instead of the cloud</a:t>
            </a:r>
          </a:p>
          <a:p>
            <a:pPr lvl="3"/>
            <a:r>
              <a:rPr lang="en-US" altLang="zh-CN" sz="2000" dirty="0">
                <a:latin typeface="+mn-ea"/>
              </a:rPr>
              <a:t>Rising Adoption</a:t>
            </a:r>
          </a:p>
          <a:p>
            <a:pPr lvl="4"/>
            <a:r>
              <a:rPr lang="en-US" altLang="zh-CN" sz="2000" dirty="0">
                <a:latin typeface="+mn-ea"/>
              </a:rPr>
              <a:t>mobile GPU development</a:t>
            </a:r>
          </a:p>
          <a:p>
            <a:pPr lvl="3"/>
            <a:r>
              <a:rPr lang="en-US" altLang="zh-CN" sz="2000" dirty="0">
                <a:latin typeface="+mn-ea"/>
              </a:rPr>
              <a:t>Benefits</a:t>
            </a:r>
          </a:p>
          <a:p>
            <a:pPr lvl="4"/>
            <a:r>
              <a:rPr lang="en-US" altLang="zh-CN" sz="2000" dirty="0">
                <a:latin typeface="+mn-ea"/>
              </a:rPr>
              <a:t>privacy and low latency</a:t>
            </a:r>
          </a:p>
          <a:p>
            <a:pPr lvl="3"/>
            <a:endParaRPr lang="en-US" altLang="zh-CN" sz="2000" dirty="0">
              <a:latin typeface="+mn-ea"/>
            </a:endParaRPr>
          </a:p>
          <a:p>
            <a:pPr marL="480078" lvl="4" indent="0">
              <a:buNone/>
            </a:pPr>
            <a:endParaRPr lang="en-US" altLang="zh-CN" sz="2000" dirty="0">
              <a:latin typeface="+mn-ea"/>
            </a:endParaRPr>
          </a:p>
          <a:p>
            <a:pPr lvl="3"/>
            <a:r>
              <a:rPr lang="en-US" altLang="zh-CN" sz="2000" dirty="0">
                <a:latin typeface="+mn-ea"/>
              </a:rPr>
              <a:t>Real-World Vulnerabilities</a:t>
            </a:r>
          </a:p>
          <a:p>
            <a:pPr lvl="3"/>
            <a:endParaRPr lang="en-US" altLang="zh-CN" sz="2000" dirty="0"/>
          </a:p>
          <a:p>
            <a:pPr marL="238878" lvl="3" indent="0">
              <a:buNone/>
            </a:pPr>
            <a:endParaRPr lang="en-US" altLang="zh-CN" sz="2000" dirty="0"/>
          </a:p>
        </p:txBody>
      </p:sp>
    </p:spTree>
    <p:extLst>
      <p:ext uri="{BB962C8B-B14F-4D97-AF65-F5344CB8AC3E}">
        <p14:creationId xmlns:p14="http://schemas.microsoft.com/office/powerpoint/2010/main" val="3066373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US" altLang="zh-CN" sz="3200" dirty="0"/>
              <a:t>Problem &amp; Motivation</a:t>
            </a:r>
            <a:endParaRPr lang="en-AU" sz="3200" dirty="0"/>
          </a:p>
        </p:txBody>
      </p:sp>
      <p:pic>
        <p:nvPicPr>
          <p:cNvPr id="7" name="图片 6">
            <a:extLst>
              <a:ext uri="{FF2B5EF4-FFF2-40B4-BE49-F238E27FC236}">
                <a16:creationId xmlns:a16="http://schemas.microsoft.com/office/drawing/2014/main" id="{F0B5467A-E3C2-4473-A2D0-3E2E109525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6294" y="995291"/>
            <a:ext cx="5666629" cy="5025997"/>
          </a:xfrm>
          <a:prstGeom prst="rect">
            <a:avLst/>
          </a:prstGeom>
        </p:spPr>
      </p:pic>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599" y="1268760"/>
            <a:ext cx="4814297" cy="3635572"/>
          </a:xfrm>
        </p:spPr>
        <p:txBody>
          <a:bodyPr/>
          <a:lstStyle/>
          <a:p>
            <a:pPr lvl="3"/>
            <a:r>
              <a:rPr lang="en-US" altLang="zh-CN" sz="2000" dirty="0">
                <a:latin typeface="+mn-ea"/>
              </a:rPr>
              <a:t>Model Exposure</a:t>
            </a:r>
          </a:p>
          <a:p>
            <a:pPr lvl="4"/>
            <a:r>
              <a:rPr lang="en-US" altLang="zh-CN" sz="2000" dirty="0">
                <a:latin typeface="+mn-ea"/>
              </a:rPr>
              <a:t>extracted, reverse-engineered</a:t>
            </a:r>
          </a:p>
          <a:p>
            <a:pPr lvl="3"/>
            <a:r>
              <a:rPr lang="en-US" altLang="zh-CN" sz="2000" dirty="0">
                <a:latin typeface="+mn-ea"/>
              </a:rPr>
              <a:t>Adversarial Attacks</a:t>
            </a:r>
          </a:p>
          <a:p>
            <a:pPr lvl="4"/>
            <a:r>
              <a:rPr lang="en-US" altLang="zh-CN" sz="2000" dirty="0">
                <a:latin typeface="+mn-ea"/>
              </a:rPr>
              <a:t>Manipulated</a:t>
            </a:r>
          </a:p>
          <a:p>
            <a:pPr lvl="4"/>
            <a:endParaRPr lang="en-US" altLang="zh-CN" sz="2000" dirty="0">
              <a:latin typeface="+mn-ea"/>
            </a:endParaRPr>
          </a:p>
          <a:p>
            <a:pPr lvl="3"/>
            <a:r>
              <a:rPr lang="en-US" altLang="zh-CN" sz="2000" dirty="0"/>
              <a:t>High-Stakes Apps</a:t>
            </a:r>
          </a:p>
          <a:p>
            <a:pPr lvl="4"/>
            <a:r>
              <a:rPr lang="en-US" altLang="zh-CN" sz="2000" dirty="0"/>
              <a:t>health, finance, driver assistance…</a:t>
            </a:r>
          </a:p>
          <a:p>
            <a:pPr lvl="4"/>
            <a:endParaRPr lang="en-US" altLang="zh-CN" sz="2000" dirty="0"/>
          </a:p>
          <a:p>
            <a:pPr lvl="3"/>
            <a:r>
              <a:rPr lang="en-US" altLang="zh-CN" sz="2000" dirty="0"/>
              <a:t>Current Protection Strategy</a:t>
            </a:r>
          </a:p>
          <a:p>
            <a:pPr lvl="4"/>
            <a:r>
              <a:rPr lang="en-US" altLang="zh-CN" sz="2000" dirty="0"/>
              <a:t>accuracy trade-offs</a:t>
            </a:r>
          </a:p>
          <a:p>
            <a:pPr lvl="4"/>
            <a:r>
              <a:rPr lang="en-US" altLang="zh-CN" sz="2000" dirty="0"/>
              <a:t>performance overhead</a:t>
            </a:r>
          </a:p>
          <a:p>
            <a:pPr lvl="4"/>
            <a:r>
              <a:rPr lang="en-US" altLang="zh-CN" sz="2000" dirty="0"/>
              <a:t>integration complexity</a:t>
            </a:r>
            <a:endParaRPr lang="en-US" altLang="zh-CN" sz="2000" dirty="0">
              <a:latin typeface="+mn-ea"/>
            </a:endParaRPr>
          </a:p>
          <a:p>
            <a:pPr lvl="3"/>
            <a:endParaRPr lang="en-US" altLang="zh-CN" sz="2000" dirty="0">
              <a:latin typeface="+mn-ea"/>
            </a:endParaRPr>
          </a:p>
        </p:txBody>
      </p:sp>
      <p:sp>
        <p:nvSpPr>
          <p:cNvPr id="8" name="矩形 7">
            <a:extLst>
              <a:ext uri="{FF2B5EF4-FFF2-40B4-BE49-F238E27FC236}">
                <a16:creationId xmlns:a16="http://schemas.microsoft.com/office/drawing/2014/main" id="{A2292301-67E1-40BC-8A63-0621646E48D0}"/>
              </a:ext>
            </a:extLst>
          </p:cNvPr>
          <p:cNvSpPr/>
          <p:nvPr/>
        </p:nvSpPr>
        <p:spPr>
          <a:xfrm>
            <a:off x="4568412" y="6265202"/>
            <a:ext cx="5904656" cy="307777"/>
          </a:xfrm>
          <a:prstGeom prst="rect">
            <a:avLst/>
          </a:prstGeom>
        </p:spPr>
        <p:txBody>
          <a:bodyPr wrap="square">
            <a:spAutoFit/>
          </a:bodyPr>
          <a:lstStyle/>
          <a:p>
            <a:pPr lvl="2"/>
            <a:r>
              <a:rPr lang="en-US" altLang="zh-CN" sz="1400" dirty="0"/>
              <a:t>Figure3: The common scenario of model stealing</a:t>
            </a:r>
            <a:endParaRPr lang="en-US" altLang="zh-CN" sz="1400" dirty="0">
              <a:latin typeface="+mn-ea"/>
            </a:endParaRPr>
          </a:p>
        </p:txBody>
      </p:sp>
    </p:spTree>
    <p:extLst>
      <p:ext uri="{BB962C8B-B14F-4D97-AF65-F5344CB8AC3E}">
        <p14:creationId xmlns:p14="http://schemas.microsoft.com/office/powerpoint/2010/main" val="2284607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US" altLang="zh-CN" sz="3200" dirty="0"/>
              <a:t>Investigation Method</a:t>
            </a:r>
            <a:endParaRPr lang="en-AU" sz="3200" dirty="0"/>
          </a:p>
        </p:txBody>
      </p:sp>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268760"/>
            <a:ext cx="4535082" cy="3528392"/>
          </a:xfrm>
        </p:spPr>
        <p:txBody>
          <a:bodyPr/>
          <a:lstStyle/>
          <a:p>
            <a:pPr lvl="2"/>
            <a:r>
              <a:rPr lang="en-US" altLang="zh-CN" sz="2000" b="1" dirty="0">
                <a:latin typeface="+mn-ea"/>
              </a:rPr>
              <a:t>Approach Overview:</a:t>
            </a:r>
          </a:p>
          <a:p>
            <a:pPr lvl="3"/>
            <a:r>
              <a:rPr lang="en-US" altLang="zh-CN" sz="1800" dirty="0">
                <a:latin typeface="+mn-ea"/>
              </a:rPr>
              <a:t>Threat Analysis &amp; Goals</a:t>
            </a:r>
            <a:endParaRPr lang="en-AU" altLang="zh-CN" sz="1800" dirty="0">
              <a:latin typeface="+mn-ea"/>
            </a:endParaRPr>
          </a:p>
          <a:p>
            <a:pPr lvl="3"/>
            <a:r>
              <a:rPr lang="en-US" altLang="zh-CN" sz="1800" dirty="0">
                <a:latin typeface="+mn-ea"/>
              </a:rPr>
              <a:t>Attack Simulation</a:t>
            </a:r>
          </a:p>
          <a:p>
            <a:pPr lvl="3"/>
            <a:r>
              <a:rPr lang="en-US" altLang="zh-CN" sz="1800" dirty="0">
                <a:latin typeface="+mn-ea"/>
              </a:rPr>
              <a:t>Defense Design</a:t>
            </a:r>
          </a:p>
          <a:p>
            <a:pPr lvl="4"/>
            <a:r>
              <a:rPr lang="en-US" altLang="zh-CN" sz="1800" dirty="0">
                <a:latin typeface="+mn-ea"/>
              </a:rPr>
              <a:t>Model encryption, Obfuscation, Watermarking, …</a:t>
            </a:r>
          </a:p>
          <a:p>
            <a:pPr lvl="3"/>
            <a:r>
              <a:rPr lang="en-US" altLang="zh-CN" sz="1800" dirty="0">
                <a:latin typeface="+mn-ea"/>
              </a:rPr>
              <a:t>Performance &amp; Trade-off Measurement</a:t>
            </a:r>
          </a:p>
          <a:p>
            <a:pPr lvl="3"/>
            <a:endParaRPr lang="en-US" altLang="zh-CN" sz="1800" b="1" dirty="0">
              <a:latin typeface="+mn-ea"/>
            </a:endParaRPr>
          </a:p>
        </p:txBody>
      </p:sp>
      <p:sp>
        <p:nvSpPr>
          <p:cNvPr id="4" name="Content Placeholder 2">
            <a:extLst>
              <a:ext uri="{FF2B5EF4-FFF2-40B4-BE49-F238E27FC236}">
                <a16:creationId xmlns:a16="http://schemas.microsoft.com/office/drawing/2014/main" id="{D5FE25D9-8FE1-4137-9D5F-C60E43BD3BC5}"/>
              </a:ext>
            </a:extLst>
          </p:cNvPr>
          <p:cNvSpPr txBox="1">
            <a:spLocks/>
          </p:cNvSpPr>
          <p:nvPr/>
        </p:nvSpPr>
        <p:spPr>
          <a:xfrm>
            <a:off x="5591944" y="1268760"/>
            <a:ext cx="4022209" cy="3168352"/>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pPr lvl="2"/>
            <a:r>
              <a:rPr lang="en-US" altLang="zh-CN" sz="2000" b="1" dirty="0"/>
              <a:t>Evaluation Metrics</a:t>
            </a:r>
            <a:r>
              <a:rPr lang="en-US" altLang="zh-CN" sz="1800" b="1" dirty="0"/>
              <a:t>:</a:t>
            </a:r>
            <a:r>
              <a:rPr lang="en-US" altLang="zh-CN" sz="1800" dirty="0"/>
              <a:t> </a:t>
            </a:r>
          </a:p>
          <a:p>
            <a:pPr lvl="3"/>
            <a:r>
              <a:rPr lang="en-US" altLang="zh-CN" sz="1800" dirty="0"/>
              <a:t>Security:</a:t>
            </a:r>
          </a:p>
          <a:p>
            <a:pPr lvl="4"/>
            <a:r>
              <a:rPr lang="en-US" altLang="zh-CN" sz="1800" dirty="0"/>
              <a:t>Model leakage rate</a:t>
            </a:r>
          </a:p>
          <a:p>
            <a:pPr lvl="4"/>
            <a:r>
              <a:rPr lang="en-US" altLang="zh-CN" sz="1800" dirty="0"/>
              <a:t>Attack success rate</a:t>
            </a:r>
          </a:p>
          <a:p>
            <a:pPr lvl="3"/>
            <a:r>
              <a:rPr lang="en-US" altLang="zh-CN" sz="1800" dirty="0"/>
              <a:t>Performance:</a:t>
            </a:r>
          </a:p>
          <a:p>
            <a:pPr lvl="4"/>
            <a:r>
              <a:rPr lang="en-US" altLang="zh-CN" sz="1800" dirty="0"/>
              <a:t>Accuracy drop</a:t>
            </a:r>
          </a:p>
          <a:p>
            <a:pPr lvl="4"/>
            <a:r>
              <a:rPr lang="en-US" altLang="zh-CN" sz="1800" dirty="0"/>
              <a:t>Inference latency</a:t>
            </a:r>
          </a:p>
          <a:p>
            <a:pPr lvl="4"/>
            <a:r>
              <a:rPr lang="en-US" altLang="zh-CN" sz="1800" dirty="0"/>
              <a:t>Compute overhead</a:t>
            </a:r>
            <a:endParaRPr lang="en-US" altLang="zh-CN" sz="1800" b="1" dirty="0"/>
          </a:p>
        </p:txBody>
      </p:sp>
    </p:spTree>
    <p:extLst>
      <p:ext uri="{BB962C8B-B14F-4D97-AF65-F5344CB8AC3E}">
        <p14:creationId xmlns:p14="http://schemas.microsoft.com/office/powerpoint/2010/main" val="2466218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a:xfrm>
            <a:off x="345600" y="342000"/>
            <a:ext cx="9695205" cy="531544"/>
          </a:xfrm>
        </p:spPr>
        <p:txBody>
          <a:bodyPr/>
          <a:lstStyle/>
          <a:p>
            <a:r>
              <a:rPr lang="en-US" altLang="zh-CN" sz="3200" dirty="0"/>
              <a:t>Expected Impact</a:t>
            </a:r>
            <a:endParaRPr lang="en-AU" sz="3200" dirty="0"/>
          </a:p>
        </p:txBody>
      </p:sp>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192857"/>
            <a:ext cx="7334577" cy="2843484"/>
          </a:xfrm>
        </p:spPr>
        <p:txBody>
          <a:bodyPr/>
          <a:lstStyle/>
          <a:p>
            <a:pPr lvl="3"/>
            <a:r>
              <a:rPr lang="en-US" altLang="zh-CN" sz="2000" dirty="0"/>
              <a:t>Stronger Security for Mobile ML Model</a:t>
            </a:r>
          </a:p>
          <a:p>
            <a:pPr lvl="3"/>
            <a:endParaRPr lang="en-US" altLang="zh-CN" sz="2000" dirty="0"/>
          </a:p>
          <a:p>
            <a:pPr lvl="3"/>
            <a:r>
              <a:rPr lang="en-US" altLang="zh-CN" sz="2000" dirty="0"/>
              <a:t>Protection of Intellectual Property and Privacy</a:t>
            </a:r>
          </a:p>
          <a:p>
            <a:pPr lvl="3"/>
            <a:endParaRPr lang="en-US" altLang="zh-CN" sz="2000" dirty="0">
              <a:latin typeface="+mn-ea"/>
            </a:endParaRPr>
          </a:p>
          <a:p>
            <a:pPr lvl="3"/>
            <a:r>
              <a:rPr lang="en-US" altLang="zh-CN" sz="2000" dirty="0"/>
              <a:t>Performance-Conscious Solution</a:t>
            </a:r>
          </a:p>
          <a:p>
            <a:pPr lvl="3"/>
            <a:endParaRPr lang="en-AU" sz="2000" dirty="0">
              <a:latin typeface="+mn-ea"/>
            </a:endParaRPr>
          </a:p>
        </p:txBody>
      </p:sp>
    </p:spTree>
    <p:extLst>
      <p:ext uri="{BB962C8B-B14F-4D97-AF65-F5344CB8AC3E}">
        <p14:creationId xmlns:p14="http://schemas.microsoft.com/office/powerpoint/2010/main" val="543929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US" altLang="zh-CN" sz="3200" dirty="0"/>
              <a:t>Reference</a:t>
            </a:r>
            <a:endParaRPr lang="en-AU" sz="3200" dirty="0"/>
          </a:p>
        </p:txBody>
      </p:sp>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599" y="1665636"/>
            <a:ext cx="10430921" cy="3275532"/>
          </a:xfrm>
        </p:spPr>
        <p:txBody>
          <a:bodyPr/>
          <a:lstStyle/>
          <a:p>
            <a:pPr marL="457200" lvl="2" indent="-457200">
              <a:buFont typeface="+mj-lt"/>
              <a:buAutoNum type="arabicPeriod"/>
            </a:pPr>
            <a:endParaRPr lang="en-US" altLang="zh-CN" sz="1800" dirty="0">
              <a:solidFill>
                <a:schemeClr val="tx1"/>
              </a:solidFill>
            </a:endParaRPr>
          </a:p>
        </p:txBody>
      </p:sp>
    </p:spTree>
    <p:extLst>
      <p:ext uri="{BB962C8B-B14F-4D97-AF65-F5344CB8AC3E}">
        <p14:creationId xmlns:p14="http://schemas.microsoft.com/office/powerpoint/2010/main" val="608756948"/>
      </p:ext>
    </p:extLst>
  </p:cSld>
  <p:clrMapOvr>
    <a:masterClrMapping/>
  </p:clrMapOvr>
</p:sld>
</file>

<file path=ppt/theme/theme1.xml><?xml version="1.0" encoding="utf-8"?>
<a:theme xmlns:a="http://schemas.openxmlformats.org/drawingml/2006/main" name="University of Melbourne">
  <a:themeElements>
    <a:clrScheme name="UOM Option2 Colours">
      <a:dk1>
        <a:sysClr val="windowText" lastClr="000000"/>
      </a:dk1>
      <a:lt1>
        <a:sysClr val="window" lastClr="FFFFFF"/>
      </a:lt1>
      <a:dk2>
        <a:srgbClr val="000000"/>
      </a:dk2>
      <a:lt2>
        <a:srgbClr val="000F46"/>
      </a:lt2>
      <a:accent1>
        <a:srgbClr val="000000"/>
      </a:accent1>
      <a:accent2>
        <a:srgbClr val="46C8F0"/>
      </a:accent2>
      <a:accent3>
        <a:srgbClr val="FF2D3C"/>
      </a:accent3>
      <a:accent4>
        <a:srgbClr val="885771"/>
      </a:accent4>
      <a:accent5>
        <a:srgbClr val="9FB825"/>
      </a:accent5>
      <a:accent6>
        <a:srgbClr val="003C55"/>
      </a:accent6>
      <a:hlink>
        <a:srgbClr val="000F46"/>
      </a:hlink>
      <a:folHlink>
        <a:srgbClr val="000F46"/>
      </a:folHlink>
    </a:clrScheme>
    <a:fontScheme name="University of Melbourn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Black Sheoak (Dark)">
      <a:srgbClr val="78000D"/>
    </a:custClr>
    <a:custClr name="Possum (Dark)">
      <a:srgbClr val="73234B"/>
    </a:custClr>
    <a:custClr name="Possum (Light)">
      <a:srgbClr val="EB7BBE"/>
    </a:custClr>
    <a:custClr name="Yam Daisy (Dark)">
      <a:srgbClr val="A84500"/>
    </a:custClr>
    <a:custClr name="Yam Daisy (Light)">
      <a:srgbClr val="FFD629"/>
    </a:custClr>
    <a:custClr name="Magpie (Light)">
      <a:srgbClr val="C8C8C8"/>
    </a:custClr>
    <a:custClr name="Mt William Greenstone (Light)">
      <a:srgbClr val="ABC1A7"/>
    </a:custClr>
    <a:custClr name="River Red Gum (Dark)">
      <a:srgbClr val="2C421D"/>
    </a:custClr>
    <a:custClr name="Magpie (Dark)">
      <a:srgbClr val="2D2D2D"/>
    </a:custClr>
    <a:custClr name="Mt William Greenstone (Dark)">
      <a:srgbClr val="444A40"/>
    </a:custClr>
  </a:custClrLst>
  <a:extLst>
    <a:ext uri="{05A4C25C-085E-4340-85A3-A5531E510DB2}">
      <thm15:themeFamily xmlns:thm15="http://schemas.microsoft.com/office/thememl/2012/main" name="Master_University of Melbourne.potx" id="{EEF8E8C5-136A-4328-9120-DC238DB23620}" vid="{3C59B156-C13B-4CA4-AD0B-4F3716D70D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UI/customUI.xml><?xml version="1.0" encoding="utf-8"?>
<customUI xmlns="http://schemas.microsoft.com/office/2006/01/customui">
  <ribbon startFromScratch="false">
    <tabs>
      <tab id="CustomTab" label="University of Melbourne" insertBeforeMso="TabHome" keytip="Q">
        <group idMso="GroupSlides"/>
        <group id="Group1" label="Change Bullet Styles">
          <button idMso="IndentDecrease" visible="true" label="Decrease List Level" size="large"/>
          <button idMso="IndentIncrease" visible="true" label="Increase List Level" size="large"/>
        </group>
        <group id="Group2" label=" ">
          <checkBox idMso="GuidesShowHide" label="Guides"/>
          <splitButton id="groupsplitbutton" size="normal">
            <button idMso="ObjectsGroup"/>
            <menu id="groupsplitmenu" itemSize="large">
              <button idMso="ObjectsUngroup" description="Un-group selected objects" screentip="Un-group selected objects"/>
              <button idMso="ObjectsRegroup" description="Combine and re-Group selected objects" screentip="Combine and re-Group selected objects"/>
            </menu>
          </splitButton>
          <splitButton id="Cropping" size="normal">
            <toggleButton idMso="PictureCrop" label="Crop Tools"/>
            <menu id="CropMenu" itemSize="large">
              <button idMso="PictureFitCrop" description="Resize picture to fit the placeholder proportionally"/>
              <menuSeparator id="croppingmenu2"/>
              <menu idMso="PictureCropAspectRatioMenu" description="Crop image to selected aspect ratio"/>
              <gallery idMso="PictureShapeGallery" description="Crop image to selected shape"/>
            </menu>
          </splitButton>
          <separator id="sep1"/>
          <button idMso="ZoomFitToWindow" size="large" label="Fit to Window"/>
        </group>
        <group id="customGroup3" label="Accessibility Tools">
          <splitButton idMso="MenuAccessibility" visible="true" size="large"/>
          <separator id="Acc"/>
          <toggleButton idMso="AltTextPaneRibbon" visible="true" size="large"/>
          <separator id="sep3"/>
          <toggleButton idMso="SelectionPane" label="Selection Pane" size="large"/>
          <separator id="sep2"/>
          <splitButton id="sendbacksplitbutton" size="large">
            <button idMso="ObjectSendToBack" label="Send to Back"/>
            <menu id="sendbacksplitmenu" itemSize="large">
              <button idMso="ObjectBringToFront" label="Bring to Front"/>
            </menu>
          </splitButton>
        </group>
        <group id="group3" label=" ">
          <button idMso="PictureInsertFromFilePowerPoint" visible="true" size="large" label="Insert Symbols and Patterns" imageMso="InsertPictures"/>
          <button idMso="HeaderFooterInsert" size="large"/>
          <button idMso="PasteTextOnly" size="large" imageMso="Paste" label="Paste Unformatted"/>
        </group>
      </tab>
    </tabs>
  </ribbon>
</customUI>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1b4f495-11b8-43f2-b0a6-bd3e9198cf0b">
      <Terms xmlns="http://schemas.microsoft.com/office/infopath/2007/PartnerControls"/>
    </lcf76f155ced4ddcb4097134ff3c332f>
    <TaxCatchAll xmlns="ae8ede3d-ca04-40de-a521-e5739ec48b5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A11C620F3B436428A25057898027FE7" ma:contentTypeVersion="13" ma:contentTypeDescription="Create a new document." ma:contentTypeScope="" ma:versionID="e75af887571335a19ecb0f2c01abbd63">
  <xsd:schema xmlns:xsd="http://www.w3.org/2001/XMLSchema" xmlns:xs="http://www.w3.org/2001/XMLSchema" xmlns:p="http://schemas.microsoft.com/office/2006/metadata/properties" xmlns:ns2="11b4f495-11b8-43f2-b0a6-bd3e9198cf0b" xmlns:ns3="ae8ede3d-ca04-40de-a521-e5739ec48b5f" targetNamespace="http://schemas.microsoft.com/office/2006/metadata/properties" ma:root="true" ma:fieldsID="5a5d3d7acb5601e93c2cbac012439d32" ns2:_="" ns3:_="">
    <xsd:import namespace="11b4f495-11b8-43f2-b0a6-bd3e9198cf0b"/>
    <xsd:import namespace="ae8ede3d-ca04-40de-a521-e5739ec48b5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b4f495-11b8-43f2-b0a6-bd3e9198cf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66921fe-4017-451f-be36-692af8ba859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e8ede3d-ca04-40de-a521-e5739ec48b5f"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eebe2cbe-a4cc-4daf-9365-b3e719dfc505}" ma:internalName="TaxCatchAll" ma:showField="CatchAllData" ma:web="ae8ede3d-ca04-40de-a521-e5739ec48b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8FFBB9-4FB3-4A1F-8381-B3FA72337E91}">
  <ds:schemaRefs>
    <ds:schemaRef ds:uri="http://purl.org/dc/dcmitype/"/>
    <ds:schemaRef ds:uri="http://schemas.microsoft.com/office/2006/documentManagement/types"/>
    <ds:schemaRef ds:uri="http://schemas.openxmlformats.org/package/2006/metadata/core-properties"/>
    <ds:schemaRef ds:uri="http://purl.org/dc/elements/1.1/"/>
    <ds:schemaRef ds:uri="http://purl.org/dc/terms/"/>
    <ds:schemaRef ds:uri="http://schemas.microsoft.com/office/2006/metadata/properties"/>
    <ds:schemaRef ds:uri="ae8ede3d-ca04-40de-a521-e5739ec48b5f"/>
    <ds:schemaRef ds:uri="http://schemas.microsoft.com/office/infopath/2007/PartnerControls"/>
    <ds:schemaRef ds:uri="11b4f495-11b8-43f2-b0a6-bd3e9198cf0b"/>
    <ds:schemaRef ds:uri="http://www.w3.org/XML/1998/namespace"/>
  </ds:schemaRefs>
</ds:datastoreItem>
</file>

<file path=customXml/itemProps2.xml><?xml version="1.0" encoding="utf-8"?>
<ds:datastoreItem xmlns:ds="http://schemas.openxmlformats.org/officeDocument/2006/customXml" ds:itemID="{42C75387-93F6-4D93-B300-D671EFAD96D4}">
  <ds:schemaRefs>
    <ds:schemaRef ds:uri="http://schemas.microsoft.com/sharepoint/v3/contenttype/forms"/>
  </ds:schemaRefs>
</ds:datastoreItem>
</file>

<file path=customXml/itemProps3.xml><?xml version="1.0" encoding="utf-8"?>
<ds:datastoreItem xmlns:ds="http://schemas.openxmlformats.org/officeDocument/2006/customXml" ds:itemID="{FDBE7C61-A3B0-4286-8062-81097C40FC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b4f495-11b8-43f2-b0a6-bd3e9198cf0b"/>
    <ds:schemaRef ds:uri="ae8ede3d-ca04-40de-a521-e5739ec48b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Master_University-of-Melbourne</Template>
  <TotalTime>1853</TotalTime>
  <Words>903</Words>
  <Application>Microsoft Office PowerPoint</Application>
  <PresentationFormat>宽屏</PresentationFormat>
  <Paragraphs>108</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University of Melbourne</vt:lpstr>
      <vt:lpstr>Data Quality of Generative Images for Object Detection</vt:lpstr>
      <vt:lpstr>Real-time AI at Your Fingertips</vt:lpstr>
      <vt:lpstr>Real-time AI at Your Fingertips</vt:lpstr>
      <vt:lpstr>Background</vt:lpstr>
      <vt:lpstr>Problem &amp; Motivation</vt:lpstr>
      <vt:lpstr>Investigation Method</vt:lpstr>
      <vt:lpstr>Expected Impact</vt:lpstr>
      <vt:lpstr>Reference</vt:lpstr>
    </vt:vector>
  </TitlesOfParts>
  <Company>The University of Melbourne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 Microsoft PowerPoint</dc:title>
  <dc:creator>Susannah Woodward</dc:creator>
  <cp:lastModifiedBy>景成 钱</cp:lastModifiedBy>
  <cp:revision>32</cp:revision>
  <dcterms:created xsi:type="dcterms:W3CDTF">2024-08-22T01:42:58Z</dcterms:created>
  <dcterms:modified xsi:type="dcterms:W3CDTF">2025-10-11T14:30:12Z</dcterms:modified>
  <cp:category>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0x0101001A11C620F3B436428A25057898027FE7</vt:lpwstr>
  </property>
</Properties>
</file>