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ppm"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41130059ae474ffa" Type="http://schemas.microsoft.com/office/2006/relationships/ui/extensibility" Target="customUI/customUI.xml"/><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handoutMasterIdLst>
    <p:handoutMasterId r:id="rId24"/>
  </p:handoutMasterIdLst>
  <p:sldIdLst>
    <p:sldId id="370" r:id="rId5"/>
    <p:sldId id="456" r:id="rId6"/>
    <p:sldId id="469" r:id="rId7"/>
    <p:sldId id="466" r:id="rId8"/>
    <p:sldId id="471" r:id="rId9"/>
    <p:sldId id="472" r:id="rId10"/>
    <p:sldId id="473" r:id="rId11"/>
    <p:sldId id="474" r:id="rId12"/>
    <p:sldId id="476" r:id="rId13"/>
    <p:sldId id="468" r:id="rId14"/>
    <p:sldId id="461" r:id="rId15"/>
    <p:sldId id="458" r:id="rId16"/>
    <p:sldId id="465" r:id="rId17"/>
    <p:sldId id="462" r:id="rId18"/>
    <p:sldId id="459" r:id="rId19"/>
    <p:sldId id="460" r:id="rId20"/>
    <p:sldId id="475" r:id="rId21"/>
    <p:sldId id="463" r:id="rId22"/>
  </p:sldIdLst>
  <p:sldSz cx="12192000" cy="6858000"/>
  <p:notesSz cx="6858000" cy="9144000"/>
  <p:defaultTex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defaultTextStyle>
  <p:extLst>
    <p:ext uri="{521415D9-36F7-43E2-AB2F-B90AF26B5E84}">
      <p14:sectionLst xmlns:p14="http://schemas.microsoft.com/office/powerpoint/2010/main">
        <p14:section name="Right Click for Option" id="{4FDA67CD-A15C-4C29-8948-D1BF91269A83}">
          <p14:sldIdLst>
            <p14:sldId id="370"/>
            <p14:sldId id="456"/>
            <p14:sldId id="469"/>
            <p14:sldId id="466"/>
            <p14:sldId id="471"/>
            <p14:sldId id="472"/>
            <p14:sldId id="473"/>
            <p14:sldId id="474"/>
            <p14:sldId id="476"/>
            <p14:sldId id="468"/>
            <p14:sldId id="461"/>
            <p14:sldId id="458"/>
            <p14:sldId id="465"/>
            <p14:sldId id="462"/>
            <p14:sldId id="459"/>
            <p14:sldId id="460"/>
            <p14:sldId id="475"/>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hay" initials="" lastIdx="0" clrIdx="0"/>
  <p:cmAuthor id="1" name="Shay" initials="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F46"/>
    <a:srgbClr val="F2B8D8"/>
    <a:srgbClr val="EB7BBE"/>
    <a:srgbClr val="FFD629"/>
    <a:srgbClr val="EBEBEB"/>
    <a:srgbClr val="4F4C37"/>
    <a:srgbClr val="1E497D"/>
    <a:srgbClr val="8F999E"/>
    <a:srgbClr val="FF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186E7CC-E9CA-4A81-9595-9A8B10420DC1}">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75" autoAdjust="0"/>
    <p:restoredTop sz="82223" autoAdjust="0"/>
  </p:normalViewPr>
  <p:slideViewPr>
    <p:cSldViewPr snapToObjects="1">
      <p:cViewPr>
        <p:scale>
          <a:sx n="100" d="100"/>
          <a:sy n="100" d="100"/>
        </p:scale>
        <p:origin x="2476" y="7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72" d="100"/>
        <a:sy n="172" d="100"/>
      </p:scale>
      <p:origin x="0" y="-9864"/>
    </p:cViewPr>
  </p:sorterViewPr>
  <p:notesViewPr>
    <p:cSldViewPr snapToObjects="1" showGuides="1">
      <p:cViewPr varScale="1">
        <p:scale>
          <a:sx n="84" d="100"/>
          <a:sy n="84" d="100"/>
        </p:scale>
        <p:origin x="297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7200"/>
          </a:xfrm>
          <a:prstGeom prst="rect">
            <a:avLst/>
          </a:prstGeom>
        </p:spPr>
        <p:txBody>
          <a:bodyPr vert="horz" lIns="72000" tIns="72000" rIns="72000" bIns="72000" rtlCol="0" anchor="t" anchorCtr="0"/>
          <a:lstStyle/>
          <a:p>
            <a:endParaRPr lang="en-AU" sz="1000" dirty="0">
              <a:cs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72000" tIns="72000" rIns="72000" bIns="72000" rtlCol="0"/>
          <a:lstStyle>
            <a:lvl1pPr algn="r">
              <a:defRPr sz="1200"/>
            </a:lvl1pPr>
          </a:lstStyle>
          <a:p>
            <a:fld id="{4E50C307-5AD1-4F8C-91A0-1FC7219EFB34}" type="datetimeFigureOut">
              <a:rPr lang="en-AU" sz="1000" smtClean="0">
                <a:cs typeface="Arial" pitchFamily="34" charset="0"/>
              </a:rPr>
              <a:t>20/10/2025</a:t>
            </a:fld>
            <a:endParaRPr lang="en-AU" sz="1000" dirty="0">
              <a:cs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72000" tIns="72000" rIns="72000" bIns="72000" rtlCol="0" anchor="b"/>
          <a:lstStyle>
            <a:lvl1pPr algn="l">
              <a:defRPr sz="1200"/>
            </a:lvl1pPr>
          </a:lstStyle>
          <a:p>
            <a:endParaRPr lang="en-AU" sz="1000" dirty="0">
              <a:cs typeface="Arial" pitchFamily="34" charset="0"/>
            </a:endParaRPr>
          </a:p>
        </p:txBody>
      </p:sp>
      <p:sp>
        <p:nvSpPr>
          <p:cNvPr id="5" name="Slide Number Placeholder 4"/>
          <p:cNvSpPr>
            <a:spLocks noGrp="1"/>
          </p:cNvSpPr>
          <p:nvPr>
            <p:ph type="sldNum" sz="quarter" idx="3"/>
          </p:nvPr>
        </p:nvSpPr>
        <p:spPr>
          <a:xfrm>
            <a:off x="5769261" y="8685213"/>
            <a:ext cx="1087153" cy="457200"/>
          </a:xfrm>
          <a:prstGeom prst="rect">
            <a:avLst/>
          </a:prstGeom>
        </p:spPr>
        <p:txBody>
          <a:bodyPr vert="horz" lIns="0" tIns="36000" rIns="91440" bIns="36000" rtlCol="0" anchor="b"/>
          <a:lstStyle>
            <a:lvl1pPr algn="r">
              <a:defRPr sz="1200"/>
            </a:lvl1pPr>
          </a:lstStyle>
          <a:p>
            <a:fld id="{AF84CFB5-B6E9-4915-957C-05CFA717E28F}" type="slidenum">
              <a:rPr lang="en-AU" sz="1000" smtClean="0">
                <a:cs typeface="Arial" pitchFamily="34" charset="0"/>
              </a:rPr>
              <a:t>‹#›</a:t>
            </a:fld>
            <a:endParaRPr lang="en-AU" sz="1000" dirty="0">
              <a:cs typeface="Arial" pitchFamily="34" charset="0"/>
            </a:endParaRPr>
          </a:p>
        </p:txBody>
      </p:sp>
    </p:spTree>
    <p:extLst>
      <p:ext uri="{BB962C8B-B14F-4D97-AF65-F5344CB8AC3E}">
        <p14:creationId xmlns:p14="http://schemas.microsoft.com/office/powerpoint/2010/main" val="26682905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6200" y="76200"/>
            <a:ext cx="5017985" cy="381000"/>
          </a:xfrm>
          <a:prstGeom prst="rect">
            <a:avLst/>
          </a:prstGeom>
        </p:spPr>
        <p:txBody>
          <a:bodyPr vert="horz" lIns="0" tIns="0" rIns="0" bIns="0" rtlCol="0"/>
          <a:lstStyle>
            <a:lvl1pPr algn="l">
              <a:defRPr sz="1200">
                <a:latin typeface="+mn-lt"/>
              </a:defRPr>
            </a:lvl1pPr>
          </a:lstStyle>
          <a:p>
            <a:endParaRPr lang="en-AU" dirty="0"/>
          </a:p>
        </p:txBody>
      </p:sp>
      <p:sp>
        <p:nvSpPr>
          <p:cNvPr id="3" name="Date Placeholder 2"/>
          <p:cNvSpPr>
            <a:spLocks noGrp="1"/>
          </p:cNvSpPr>
          <p:nvPr>
            <p:ph type="dt" idx="1"/>
          </p:nvPr>
        </p:nvSpPr>
        <p:spPr>
          <a:xfrm>
            <a:off x="5398770" y="64770"/>
            <a:ext cx="1417320" cy="381000"/>
          </a:xfrm>
          <a:prstGeom prst="rect">
            <a:avLst/>
          </a:prstGeom>
        </p:spPr>
        <p:txBody>
          <a:bodyPr vert="horz" lIns="0" tIns="0" rIns="0" bIns="0" rtlCol="0"/>
          <a:lstStyle>
            <a:lvl1pPr algn="r">
              <a:defRPr sz="1200">
                <a:latin typeface="+mn-lt"/>
              </a:defRPr>
            </a:lvl1pPr>
          </a:lstStyle>
          <a:p>
            <a:fld id="{9BB1C32A-CF46-409D-8B8D-587A7E3A4DCC}" type="datetimeFigureOut">
              <a:rPr lang="en-AU" smtClean="0"/>
              <a:pPr/>
              <a:t>19/10/2025</a:t>
            </a:fld>
            <a:endParaRPr lang="en-AU" dirty="0"/>
          </a:p>
        </p:txBody>
      </p:sp>
      <p:sp>
        <p:nvSpPr>
          <p:cNvPr id="4" name="Slide Image Placeholder 3"/>
          <p:cNvSpPr>
            <a:spLocks noGrp="1" noRot="1" noChangeAspect="1"/>
          </p:cNvSpPr>
          <p:nvPr>
            <p:ph type="sldImg" idx="2"/>
          </p:nvPr>
        </p:nvSpPr>
        <p:spPr>
          <a:xfrm>
            <a:off x="-246063" y="542925"/>
            <a:ext cx="7342188" cy="4130675"/>
          </a:xfrm>
          <a:prstGeom prst="rect">
            <a:avLst/>
          </a:prstGeom>
          <a:noFill/>
          <a:ln w="3175">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72264" y="4977044"/>
            <a:ext cx="5505891" cy="3481155"/>
          </a:xfrm>
          <a:prstGeom prst="rect">
            <a:avLst/>
          </a:prstGeom>
        </p:spPr>
        <p:txBody>
          <a:bodyPr vert="horz" lIns="0" tIns="0" rIns="0" bIns="0" rtlCol="0">
            <a:normAutofit/>
          </a:bodyPr>
          <a:lstStyle/>
          <a:p>
            <a:pPr lvl="0"/>
            <a:r>
              <a:rPr lang="en-AU" noProof="0" dirty="0"/>
              <a:t>Click to edit Master text styles</a:t>
            </a:r>
          </a:p>
          <a:p>
            <a:pPr marL="0" lvl="1"/>
            <a:r>
              <a:rPr lang="en-AU" noProof="0" dirty="0"/>
              <a:t>Second level</a:t>
            </a:r>
          </a:p>
          <a:p>
            <a:pPr marL="144000" lvl="2" indent="-144000">
              <a:buFont typeface="Arial" pitchFamily="34" charset="0"/>
              <a:buChar char="•"/>
            </a:pPr>
            <a:r>
              <a:rPr lang="en-AU" noProof="0" dirty="0"/>
              <a:t>Third level</a:t>
            </a:r>
          </a:p>
          <a:p>
            <a:pPr marL="288000" lvl="3" indent="-144000">
              <a:buFont typeface="Arial" pitchFamily="34" charset="0"/>
              <a:buChar char="•"/>
            </a:pPr>
            <a:r>
              <a:rPr lang="en-AU" noProof="0" dirty="0"/>
              <a:t>Fourth level</a:t>
            </a:r>
          </a:p>
        </p:txBody>
      </p:sp>
      <p:sp>
        <p:nvSpPr>
          <p:cNvPr id="6" name="Footer Placeholder 5"/>
          <p:cNvSpPr>
            <a:spLocks noGrp="1"/>
          </p:cNvSpPr>
          <p:nvPr>
            <p:ph type="ftr" sz="quarter" idx="4"/>
          </p:nvPr>
        </p:nvSpPr>
        <p:spPr>
          <a:xfrm>
            <a:off x="76200" y="8685213"/>
            <a:ext cx="4800600" cy="360000"/>
          </a:xfrm>
          <a:prstGeom prst="rect">
            <a:avLst/>
          </a:prstGeom>
        </p:spPr>
        <p:txBody>
          <a:bodyPr vert="horz" lIns="91440" tIns="45720" rIns="91440" bIns="45720" rtlCol="0" anchor="b"/>
          <a:lstStyle>
            <a:lvl1pPr algn="l">
              <a:defRPr sz="1200">
                <a:latin typeface="+mn-lt"/>
                <a:cs typeface="Arial" pitchFamily="34" charset="0"/>
              </a:defRPr>
            </a:lvl1pPr>
          </a:lstStyle>
          <a:p>
            <a:endParaRPr lang="en-AU" dirty="0"/>
          </a:p>
        </p:txBody>
      </p:sp>
      <p:sp>
        <p:nvSpPr>
          <p:cNvPr id="7" name="Slide Number Placeholder 6"/>
          <p:cNvSpPr>
            <a:spLocks noGrp="1"/>
          </p:cNvSpPr>
          <p:nvPr>
            <p:ph type="sldNum" sz="quarter" idx="5"/>
          </p:nvPr>
        </p:nvSpPr>
        <p:spPr>
          <a:xfrm>
            <a:off x="5855969" y="8685213"/>
            <a:ext cx="989013" cy="360000"/>
          </a:xfrm>
          <a:prstGeom prst="rect">
            <a:avLst/>
          </a:prstGeom>
        </p:spPr>
        <p:txBody>
          <a:bodyPr vert="horz" lIns="91440" tIns="45720" rIns="91440" bIns="45720" rtlCol="0" anchor="b"/>
          <a:lstStyle>
            <a:lvl1pPr algn="r">
              <a:defRPr sz="1200">
                <a:latin typeface="+mn-lt"/>
              </a:defRPr>
            </a:lvl1pPr>
          </a:lstStyle>
          <a:p>
            <a:fld id="{D5A593CC-2149-4E6C-BC3C-0044C280ECB2}" type="slidenum">
              <a:rPr lang="en-AU" smtClean="0"/>
              <a:pPr/>
              <a:t>‹#›</a:t>
            </a:fld>
            <a:endParaRPr lang="en-AU"/>
          </a:p>
        </p:txBody>
      </p:sp>
    </p:spTree>
    <p:extLst>
      <p:ext uri="{BB962C8B-B14F-4D97-AF65-F5344CB8AC3E}">
        <p14:creationId xmlns:p14="http://schemas.microsoft.com/office/powerpoint/2010/main" val="3772576877"/>
      </p:ext>
    </p:extLst>
  </p:cSld>
  <p:clrMap bg1="lt1" tx1="dk1" bg2="lt2" tx2="dk2" accent1="accent1" accent2="accent2" accent3="accent3" accent4="accent4" accent5="accent5" accent6="accent6" hlink="hlink" folHlink="folHlink"/>
  <p:notesStyle>
    <a:lvl1pPr marL="0" algn="l" defTabSz="1218895" rtl="0" eaLnBrk="1" latinLnBrk="0" hangingPunct="1">
      <a:defRPr lang="en-US" sz="1600" b="1" kern="1200" dirty="0" smtClean="0">
        <a:solidFill>
          <a:schemeClr val="tx1"/>
        </a:solidFill>
        <a:latin typeface="+mn-lt"/>
        <a:ea typeface="+mn-ea"/>
        <a:cs typeface="Arial" pitchFamily="34" charset="0"/>
      </a:defRPr>
    </a:lvl1pPr>
    <a:lvl2pPr marL="609448" algn="l" defTabSz="1218895" rtl="0" eaLnBrk="1" latinLnBrk="0" hangingPunct="1">
      <a:defRPr lang="en-US" sz="1600" kern="1200" dirty="0" smtClean="0">
        <a:solidFill>
          <a:schemeClr val="tx1"/>
        </a:solidFill>
        <a:latin typeface="Arial" pitchFamily="34" charset="0"/>
        <a:ea typeface="+mn-ea"/>
        <a:cs typeface="Arial" pitchFamily="34" charset="0"/>
      </a:defRPr>
    </a:lvl2pPr>
    <a:lvl3pPr marL="1218895" algn="l" defTabSz="1218895" rtl="0" eaLnBrk="1" latinLnBrk="0" hangingPunct="1">
      <a:defRPr lang="en-US" sz="1600" kern="1200" dirty="0" smtClean="0">
        <a:solidFill>
          <a:schemeClr val="tx1"/>
        </a:solidFill>
        <a:latin typeface="Arial" pitchFamily="34" charset="0"/>
        <a:ea typeface="+mn-ea"/>
        <a:cs typeface="Arial" pitchFamily="34" charset="0"/>
      </a:defRPr>
    </a:lvl3pPr>
    <a:lvl4pPr marL="1828343" algn="l" defTabSz="1218895" rtl="0" eaLnBrk="1" latinLnBrk="0" hangingPunct="1">
      <a:defRPr lang="en-US" sz="1600" kern="1200" dirty="0" smtClean="0">
        <a:solidFill>
          <a:schemeClr val="tx1"/>
        </a:solidFill>
        <a:latin typeface="Arial" pitchFamily="34" charset="0"/>
        <a:ea typeface="+mn-ea"/>
        <a:cs typeface="Arial" pitchFamily="34" charset="0"/>
      </a:defRPr>
    </a:lvl4pPr>
    <a:lvl5pPr marL="2437790" algn="l" defTabSz="1218895" rtl="0" eaLnBrk="1" latinLnBrk="0" hangingPunct="1">
      <a:defRPr lang="en-AU" sz="1600" kern="1200" baseline="0" dirty="0">
        <a:solidFill>
          <a:schemeClr val="tx1"/>
        </a:solidFill>
        <a:latin typeface="Arial" pitchFamily="34" charset="0"/>
        <a:ea typeface="+mn-ea"/>
        <a:cs typeface="Arial" pitchFamily="34" charset="0"/>
      </a:defRPr>
    </a:lvl5pPr>
    <a:lvl6pPr marL="3047238" algn="l" defTabSz="1218895" rtl="0" eaLnBrk="1" latinLnBrk="0" hangingPunct="1">
      <a:defRPr sz="1600" kern="1200">
        <a:solidFill>
          <a:schemeClr val="tx1"/>
        </a:solidFill>
        <a:latin typeface="+mn-lt"/>
        <a:ea typeface="+mn-ea"/>
        <a:cs typeface="+mn-cs"/>
      </a:defRPr>
    </a:lvl6pPr>
    <a:lvl7pPr marL="3656686" algn="l" defTabSz="1218895" rtl="0" eaLnBrk="1" latinLnBrk="0" hangingPunct="1">
      <a:defRPr sz="1600" kern="1200">
        <a:solidFill>
          <a:schemeClr val="tx1"/>
        </a:solidFill>
        <a:latin typeface="+mn-lt"/>
        <a:ea typeface="+mn-ea"/>
        <a:cs typeface="+mn-cs"/>
      </a:defRPr>
    </a:lvl7pPr>
    <a:lvl8pPr marL="4266133" algn="l" defTabSz="1218895" rtl="0" eaLnBrk="1" latinLnBrk="0" hangingPunct="1">
      <a:defRPr sz="1600" kern="1200">
        <a:solidFill>
          <a:schemeClr val="tx1"/>
        </a:solidFill>
        <a:latin typeface="+mn-lt"/>
        <a:ea typeface="+mn-ea"/>
        <a:cs typeface="+mn-cs"/>
      </a:defRPr>
    </a:lvl8pPr>
    <a:lvl9pPr marL="4875581" algn="l" defTabSz="121889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Hello everyone! I'm </a:t>
            </a:r>
            <a:r>
              <a:rPr lang="en-US" altLang="zh-CN" dirty="0" err="1"/>
              <a:t>Jingcheng</a:t>
            </a:r>
            <a:r>
              <a:rPr lang="en-US" altLang="zh-CN" dirty="0"/>
              <a:t> Qian. Today, I’m excited to talk about my research on </a:t>
            </a:r>
            <a:r>
              <a:rPr lang="en-US" altLang="zh-CN" sz="1600" dirty="0"/>
              <a:t>Data Quality of Generative Images for Object Detection</a:t>
            </a:r>
            <a:r>
              <a:rPr lang="en-US" altLang="zh-CN" dirty="0"/>
              <a:t>. </a:t>
            </a:r>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a:t>
            </a:fld>
            <a:endParaRPr lang="en-AU"/>
          </a:p>
        </p:txBody>
      </p:sp>
    </p:spTree>
    <p:extLst>
      <p:ext uri="{BB962C8B-B14F-4D97-AF65-F5344CB8AC3E}">
        <p14:creationId xmlns:p14="http://schemas.microsoft.com/office/powerpoint/2010/main" val="21101914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2</a:t>
            </a:fld>
            <a:endParaRPr lang="en-AU"/>
          </a:p>
        </p:txBody>
      </p:sp>
    </p:spTree>
    <p:extLst>
      <p:ext uri="{BB962C8B-B14F-4D97-AF65-F5344CB8AC3E}">
        <p14:creationId xmlns:p14="http://schemas.microsoft.com/office/powerpoint/2010/main" val="572901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3</a:t>
            </a:fld>
            <a:endParaRPr lang="en-AU"/>
          </a:p>
        </p:txBody>
      </p:sp>
    </p:spTree>
    <p:extLst>
      <p:ext uri="{BB962C8B-B14F-4D97-AF65-F5344CB8AC3E}">
        <p14:creationId xmlns:p14="http://schemas.microsoft.com/office/powerpoint/2010/main" val="189890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4</a:t>
            </a:fld>
            <a:endParaRPr lang="en-AU"/>
          </a:p>
        </p:txBody>
      </p:sp>
    </p:spTree>
    <p:extLst>
      <p:ext uri="{BB962C8B-B14F-4D97-AF65-F5344CB8AC3E}">
        <p14:creationId xmlns:p14="http://schemas.microsoft.com/office/powerpoint/2010/main" val="11586178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5</a:t>
            </a:fld>
            <a:endParaRPr lang="en-AU"/>
          </a:p>
        </p:txBody>
      </p:sp>
    </p:spTree>
    <p:extLst>
      <p:ext uri="{BB962C8B-B14F-4D97-AF65-F5344CB8AC3E}">
        <p14:creationId xmlns:p14="http://schemas.microsoft.com/office/powerpoint/2010/main" val="8140643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6</a:t>
            </a:fld>
            <a:endParaRPr lang="en-AU"/>
          </a:p>
        </p:txBody>
      </p:sp>
    </p:spTree>
    <p:extLst>
      <p:ext uri="{BB962C8B-B14F-4D97-AF65-F5344CB8AC3E}">
        <p14:creationId xmlns:p14="http://schemas.microsoft.com/office/powerpoint/2010/main" val="3923017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7</a:t>
            </a:fld>
            <a:endParaRPr lang="en-AU"/>
          </a:p>
        </p:txBody>
      </p:sp>
    </p:spTree>
    <p:extLst>
      <p:ext uri="{BB962C8B-B14F-4D97-AF65-F5344CB8AC3E}">
        <p14:creationId xmlns:p14="http://schemas.microsoft.com/office/powerpoint/2010/main" val="514276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8</a:t>
            </a:fld>
            <a:endParaRPr lang="en-AU"/>
          </a:p>
        </p:txBody>
      </p:sp>
    </p:spTree>
    <p:extLst>
      <p:ext uri="{BB962C8B-B14F-4D97-AF65-F5344CB8AC3E}">
        <p14:creationId xmlns:p14="http://schemas.microsoft.com/office/powerpoint/2010/main" val="2139929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9</a:t>
            </a:fld>
            <a:endParaRPr lang="en-AU"/>
          </a:p>
        </p:txBody>
      </p:sp>
    </p:spTree>
    <p:extLst>
      <p:ext uri="{BB962C8B-B14F-4D97-AF65-F5344CB8AC3E}">
        <p14:creationId xmlns:p14="http://schemas.microsoft.com/office/powerpoint/2010/main" val="33365957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10</a:t>
            </a:fld>
            <a:endParaRPr lang="en-AU"/>
          </a:p>
        </p:txBody>
      </p:sp>
    </p:spTree>
    <p:extLst>
      <p:ext uri="{BB962C8B-B14F-4D97-AF65-F5344CB8AC3E}">
        <p14:creationId xmlns:p14="http://schemas.microsoft.com/office/powerpoint/2010/main" val="33932638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11</a:t>
            </a:fld>
            <a:endParaRPr lang="en-AU"/>
          </a:p>
        </p:txBody>
      </p:sp>
    </p:spTree>
    <p:extLst>
      <p:ext uri="{BB962C8B-B14F-4D97-AF65-F5344CB8AC3E}">
        <p14:creationId xmlns:p14="http://schemas.microsoft.com/office/powerpoint/2010/main" val="20564401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12</a:t>
            </a:fld>
            <a:endParaRPr lang="en-AU"/>
          </a:p>
        </p:txBody>
      </p:sp>
    </p:spTree>
    <p:extLst>
      <p:ext uri="{BB962C8B-B14F-4D97-AF65-F5344CB8AC3E}">
        <p14:creationId xmlns:p14="http://schemas.microsoft.com/office/powerpoint/2010/main" val="27081873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13</a:t>
            </a:fld>
            <a:endParaRPr lang="en-AU"/>
          </a:p>
        </p:txBody>
      </p:sp>
    </p:spTree>
    <p:extLst>
      <p:ext uri="{BB962C8B-B14F-4D97-AF65-F5344CB8AC3E}">
        <p14:creationId xmlns:p14="http://schemas.microsoft.com/office/powerpoint/2010/main" val="28764547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14</a:t>
            </a:fld>
            <a:endParaRPr lang="en-AU"/>
          </a:p>
        </p:txBody>
      </p:sp>
    </p:spTree>
    <p:extLst>
      <p:ext uri="{BB962C8B-B14F-4D97-AF65-F5344CB8AC3E}">
        <p14:creationId xmlns:p14="http://schemas.microsoft.com/office/powerpoint/2010/main" val="2605077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15</a:t>
            </a:fld>
            <a:endParaRPr lang="en-AU"/>
          </a:p>
        </p:txBody>
      </p:sp>
    </p:spTree>
    <p:extLst>
      <p:ext uri="{BB962C8B-B14F-4D97-AF65-F5344CB8AC3E}">
        <p14:creationId xmlns:p14="http://schemas.microsoft.com/office/powerpoint/2010/main" val="224808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16</a:t>
            </a:fld>
            <a:endParaRPr lang="en-AU"/>
          </a:p>
        </p:txBody>
      </p:sp>
    </p:spTree>
    <p:extLst>
      <p:ext uri="{BB962C8B-B14F-4D97-AF65-F5344CB8AC3E}">
        <p14:creationId xmlns:p14="http://schemas.microsoft.com/office/powerpoint/2010/main" val="3153244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17</a:t>
            </a:fld>
            <a:endParaRPr lang="en-AU"/>
          </a:p>
        </p:txBody>
      </p:sp>
    </p:spTree>
    <p:extLst>
      <p:ext uri="{BB962C8B-B14F-4D97-AF65-F5344CB8AC3E}">
        <p14:creationId xmlns:p14="http://schemas.microsoft.com/office/powerpoint/2010/main" val="34569507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5A593CC-2149-4E6C-BC3C-0044C280ECB2}" type="slidenum">
              <a:rPr lang="en-AU" smtClean="0"/>
              <a:pPr/>
              <a:t>18</a:t>
            </a:fld>
            <a:endParaRPr lang="en-AU"/>
          </a:p>
        </p:txBody>
      </p:sp>
    </p:spTree>
    <p:extLst>
      <p:ext uri="{BB962C8B-B14F-4D97-AF65-F5344CB8AC3E}">
        <p14:creationId xmlns:p14="http://schemas.microsoft.com/office/powerpoint/2010/main" val="31201204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hyperlink" Target="mailto:copyright-office@unimelb.edu.au" TargetMode="External"/><Relationship Id="rId2" Type="http://schemas.openxmlformats.org/officeDocument/2006/relationships/hyperlink" Target="https://academicintegrity.unimelb.edu.au/" TargetMode="External"/><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1.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knowledgement of Country">
    <p:bg>
      <p:bgPr>
        <a:solidFill>
          <a:schemeClr val="bg2"/>
        </a:solidFill>
        <a:effectLst/>
      </p:bgPr>
    </p:bg>
    <p:spTree>
      <p:nvGrpSpPr>
        <p:cNvPr id="1" name=""/>
        <p:cNvGrpSpPr/>
        <p:nvPr/>
      </p:nvGrpSpPr>
      <p:grpSpPr>
        <a:xfrm>
          <a:off x="0" y="0"/>
          <a:ext cx="0" cy="0"/>
          <a:chOff x="0" y="0"/>
          <a:chExt cx="0" cy="0"/>
        </a:xfrm>
      </p:grpSpPr>
      <p:pic>
        <p:nvPicPr>
          <p:cNvPr id="5" name="Picture 4" descr="A tree in a park&#10;&#10;Description automatically generated">
            <a:extLst>
              <a:ext uri="{FF2B5EF4-FFF2-40B4-BE49-F238E27FC236}">
                <a16:creationId xmlns:a16="http://schemas.microsoft.com/office/drawing/2014/main" id="{22B7B5EB-409D-C364-0E66-735E92752C91}"/>
              </a:ext>
            </a:extLst>
          </p:cNvPr>
          <p:cNvPicPr>
            <a:picLocks noGrp="1" noRot="1" noChangeAspect="1" noMove="1" noResize="1" noEditPoints="1" noAdjustHandles="1" noChangeArrowheads="1" noChangeShapeType="1" noCrop="1"/>
          </p:cNvPicPr>
          <p:nvPr userDrawn="1"/>
        </p:nvPicPr>
        <p:blipFill rotWithShape="1">
          <a:blip r:embed="rId2">
            <a:alphaModFix amt="17000"/>
            <a:extLst>
              <a:ext uri="{28A0092B-C50C-407E-A947-70E740481C1C}">
                <a14:useLocalDpi xmlns:a14="http://schemas.microsoft.com/office/drawing/2010/main"/>
              </a:ext>
            </a:extLst>
          </a:blip>
          <a:srcRect/>
          <a:stretch/>
        </p:blipFill>
        <p:spPr>
          <a:xfrm>
            <a:off x="0" y="14928"/>
            <a:ext cx="12199058" cy="6852171"/>
          </a:xfrm>
          <a:prstGeom prst="rect">
            <a:avLst/>
          </a:prstGeom>
        </p:spPr>
      </p:pic>
      <p:sp>
        <p:nvSpPr>
          <p:cNvPr id="9" name="TextBox 3">
            <a:extLst>
              <a:ext uri="{FF2B5EF4-FFF2-40B4-BE49-F238E27FC236}">
                <a16:creationId xmlns:a16="http://schemas.microsoft.com/office/drawing/2014/main" id="{CBB971FD-D847-BF4C-933A-802E03ED89A8}"/>
              </a:ext>
            </a:extLst>
          </p:cNvPr>
          <p:cNvSpPr txBox="1">
            <a:spLocks noGrp="1" noRot="1" noMove="1" noResize="1" noEditPoints="1" noAdjustHandles="1" noChangeArrowheads="1" noChangeShapeType="1"/>
          </p:cNvSpPr>
          <p:nvPr userDrawn="1"/>
        </p:nvSpPr>
        <p:spPr>
          <a:xfrm>
            <a:off x="875420" y="1628800"/>
            <a:ext cx="10441160" cy="4478149"/>
          </a:xfrm>
          <a:prstGeom prst="rect">
            <a:avLst/>
          </a:prstGeom>
          <a:solidFill>
            <a:schemeClr val="accent1">
              <a:alpha val="0"/>
            </a:schemeClr>
          </a:solidFill>
        </p:spPr>
        <p:txBody>
          <a:bodyPr wrap="square" rtlCol="0">
            <a:spAutoFit/>
          </a:bodyPr>
          <a:ls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a:lstStyle>
          <a:p>
            <a:pPr algn="l" fontAlgn="base">
              <a:spcBef>
                <a:spcPts val="1200"/>
              </a:spcBef>
            </a:pPr>
            <a:endParaRPr lang="en-AU" sz="1100" b="0" i="0" dirty="0">
              <a:solidFill>
                <a:schemeClr val="bg1"/>
              </a:solidFill>
              <a:effectLst/>
              <a:latin typeface="+mj-lt"/>
            </a:endParaRPr>
          </a:p>
          <a:p>
            <a:pPr algn="l">
              <a:spcBef>
                <a:spcPts val="1200"/>
              </a:spcBef>
            </a:pPr>
            <a:r>
              <a:rPr lang="en-AU" sz="1600" b="0" i="0" dirty="0">
                <a:solidFill>
                  <a:schemeClr val="bg1"/>
                </a:solidFill>
                <a:effectLst/>
                <a:latin typeface="+mj-lt"/>
              </a:rPr>
              <a:t>The University of Melbourne acknowledges the Traditional Owners of the unceded land on which we work, learn and live: the Wurundjeri Woi-wurrung and Bunurong peoples (Burnley, Fishermans Bend, Parkville, Southbank and Werribee campuses), the Yorta Yorta Nation (Dookie and Shepparton campuses), and the Dja Dja Wurrung people (Creswick campus).</a:t>
            </a:r>
          </a:p>
          <a:p>
            <a:pPr algn="l">
              <a:spcBef>
                <a:spcPts val="1200"/>
              </a:spcBef>
            </a:pPr>
            <a:r>
              <a:rPr lang="en-AU" sz="1600" b="0" i="0" dirty="0">
                <a:solidFill>
                  <a:schemeClr val="bg1"/>
                </a:solidFill>
                <a:effectLst/>
                <a:latin typeface="+mj-lt"/>
              </a:rPr>
              <a:t>The University also acknowledges and is grateful to the Traditional Owners, Elders and Knowledge Holders of all Indigenous nations and clans who have been instrumental in our reconciliation journey.</a:t>
            </a:r>
          </a:p>
          <a:p>
            <a:pPr algn="l">
              <a:spcBef>
                <a:spcPts val="1200"/>
              </a:spcBef>
            </a:pPr>
            <a:r>
              <a:rPr lang="en-AU" sz="1600" b="0" i="0" dirty="0">
                <a:solidFill>
                  <a:schemeClr val="bg1"/>
                </a:solidFill>
                <a:effectLst/>
                <a:latin typeface="+mj-lt"/>
              </a:rPr>
              <a:t>We recognise the unique place held by Aboriginal and Torres Strait Islander peoples as the original owners and custodians of the lands and waterways across the Australian continent, with histories of continuous connection dating back more than 60,000 years. We also acknowledge their enduring cultural practices of caring for Country.</a:t>
            </a:r>
          </a:p>
          <a:p>
            <a:pPr algn="l">
              <a:spcBef>
                <a:spcPts val="1200"/>
              </a:spcBef>
            </a:pPr>
            <a:r>
              <a:rPr lang="en-AU" sz="1600" b="0" i="0" dirty="0">
                <a:solidFill>
                  <a:schemeClr val="bg1"/>
                </a:solidFill>
                <a:effectLst/>
                <a:latin typeface="+mj-lt"/>
              </a:rPr>
              <a:t>We pay respect to Elders past, present and future, and acknowledge the importance of Indigenous knowledge in the Academy. As a community of researchers, teachers, professional staff and students we are privileged to work and learn every day with Indigenous colleagues and partners.</a:t>
            </a:r>
          </a:p>
          <a:p>
            <a:pPr algn="l">
              <a:spcBef>
                <a:spcPts val="1200"/>
              </a:spcBef>
            </a:pPr>
            <a:r>
              <a:rPr lang="en-AU" sz="1600" b="0" i="0" dirty="0">
                <a:solidFill>
                  <a:schemeClr val="bg1"/>
                </a:solidFill>
                <a:effectLst/>
                <a:latin typeface="+mj-lt"/>
              </a:rPr>
              <a:t>In making this Acknowledgment of Country we commit to respectful and responsible conduct towards all others according to the Traditional lores of this land, particularly at times of formal ceremony.</a:t>
            </a:r>
            <a:endParaRPr lang="en-AU" sz="1600" dirty="0">
              <a:solidFill>
                <a:schemeClr val="bg1"/>
              </a:solidFill>
              <a:latin typeface="+mj-lt"/>
            </a:endParaRPr>
          </a:p>
        </p:txBody>
      </p:sp>
      <p:pic>
        <p:nvPicPr>
          <p:cNvPr id="6" name="Picture Placeholder 10" descr="Logo&#10;&#10;Description automatically generated">
            <a:extLst>
              <a:ext uri="{FF2B5EF4-FFF2-40B4-BE49-F238E27FC236}">
                <a16:creationId xmlns:a16="http://schemas.microsoft.com/office/drawing/2014/main" id="{72FB4B94-D733-663C-1E58-FF1318E71F5A}"/>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2239070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notice">
    <p:bg>
      <p:bgPr>
        <a:solidFill>
          <a:schemeClr val="bg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5BE21A-3472-BF8A-EB42-E260FAD81CC6}"/>
              </a:ext>
            </a:extLst>
          </p:cNvPr>
          <p:cNvSpPr txBox="1"/>
          <p:nvPr userDrawn="1"/>
        </p:nvSpPr>
        <p:spPr>
          <a:xfrm>
            <a:off x="1835696" y="1899350"/>
            <a:ext cx="8520608" cy="3305520"/>
          </a:xfrm>
          <a:prstGeom prst="rect">
            <a:avLst/>
          </a:prstGeom>
          <a:noFill/>
          <a:ln w="15875">
            <a:solidFill>
              <a:schemeClr val="bg1"/>
            </a:solidFill>
          </a:ln>
        </p:spPr>
        <p:txBody>
          <a:bodyPr wrap="square">
            <a:spAutoFit/>
          </a:bodyPr>
          <a:lstStyle/>
          <a:p>
            <a:pPr algn="ctr"/>
            <a:endPar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WARNING</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This material has been reproduced and communicated to you by or on behalf of the University of Melbourne in accordance with section 113P of the </a:t>
            </a:r>
            <a:r>
              <a:rPr lang="en-GB" sz="1600" i="1" dirty="0">
                <a:solidFill>
                  <a:schemeClr val="bg1"/>
                </a:solidFill>
                <a:effectLst/>
                <a:latin typeface="Arial" panose="020B0604020202020204" pitchFamily="34" charset="0"/>
                <a:ea typeface="Calibri" panose="020F0502020204030204" pitchFamily="34" charset="0"/>
                <a:cs typeface="Arial" panose="020B0604020202020204" pitchFamily="34" charset="0"/>
              </a:rPr>
              <a:t>Copyright Act 1968</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Act</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The material in this communication may be subject to copyright under the Act.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Any further reproduction or communication of this material by you may be the subject of copyright protection under the Act.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Do not remove this notice</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r>
              <a:rPr lang="en-AU" sz="1800" dirty="0">
                <a:effectLst/>
                <a:latin typeface="Calibri" panose="020F0502020204030204" pitchFamily="34" charset="0"/>
                <a:ea typeface="Calibri" panose="020F0502020204030204" pitchFamily="34" charset="0"/>
                <a:cs typeface="Times New Roman" panose="02020603050405020304" pitchFamily="18" charset="0"/>
              </a:rPr>
              <a:t> </a:t>
            </a:r>
            <a:endParaRPr lang="en-AU" dirty="0"/>
          </a:p>
        </p:txBody>
      </p:sp>
    </p:spTree>
    <p:extLst>
      <p:ext uri="{BB962C8B-B14F-4D97-AF65-F5344CB8AC3E}">
        <p14:creationId xmlns:p14="http://schemas.microsoft.com/office/powerpoint/2010/main" val="715983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_style1">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dirty="0"/>
              <a:t>[Insert Identifier] | [Insert Report Title]</a:t>
            </a:r>
          </a:p>
        </p:txBody>
      </p:sp>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12" name="Picture Placeholder 10" descr="Logo&#10;&#10;Description automatically generated">
            <a:extLst>
              <a:ext uri="{FF2B5EF4-FFF2-40B4-BE49-F238E27FC236}">
                <a16:creationId xmlns:a16="http://schemas.microsoft.com/office/drawing/2014/main" id="{B9E60202-450E-CF2C-601B-7D1A7C9B3DF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1914734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_with image_style1">
    <p:bg>
      <p:bgPr>
        <a:solidFill>
          <a:schemeClr val="bg2"/>
        </a:solidFill>
        <a:effectLst/>
      </p:bgPr>
    </p:bg>
    <p:spTree>
      <p:nvGrpSpPr>
        <p:cNvPr id="1" name=""/>
        <p:cNvGrpSpPr/>
        <p:nvPr/>
      </p:nvGrpSpPr>
      <p:grpSpPr>
        <a:xfrm>
          <a:off x="0" y="0"/>
          <a:ext cx="0" cy="0"/>
          <a:chOff x="0" y="0"/>
          <a:chExt cx="0" cy="0"/>
        </a:xfrm>
      </p:grpSpPr>
      <p:sp>
        <p:nvSpPr>
          <p:cNvPr id="10" name="Text Placeholder 10">
            <a:extLst>
              <a:ext uri="{FF2B5EF4-FFF2-40B4-BE49-F238E27FC236}">
                <a16:creationId xmlns:a16="http://schemas.microsoft.com/office/drawing/2014/main" id="{E3D3FA08-3353-A72F-AD1D-5DBF1C9647FE}"/>
              </a:ext>
            </a:extLst>
          </p:cNvPr>
          <p:cNvSpPr>
            <a:spLocks noGrp="1"/>
          </p:cNvSpPr>
          <p:nvPr>
            <p:ph type="body" sz="quarter" idx="18"/>
          </p:nvPr>
        </p:nvSpPr>
        <p:spPr>
          <a:xfrm>
            <a:off x="8966079" y="6437192"/>
            <a:ext cx="2880320"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400">
                <a:solidFill>
                  <a:schemeClr val="bg1"/>
                </a:solidFill>
              </a:defRPr>
            </a:lvl3pPr>
            <a:lvl4pPr marL="0" indent="0" algn="r">
              <a:lnSpc>
                <a:spcPct val="100000"/>
              </a:lnSpc>
              <a:spcAft>
                <a:spcPts val="0"/>
              </a:spcAft>
              <a:buFontTx/>
              <a:buNone/>
              <a:defRPr sz="1400">
                <a:solidFill>
                  <a:schemeClr val="bg1"/>
                </a:solidFill>
              </a:defRPr>
            </a:lvl4pPr>
            <a:lvl5pPr marL="0" indent="0" algn="r">
              <a:lnSpc>
                <a:spcPct val="100000"/>
              </a:lnSpc>
              <a:spcAft>
                <a:spcPts val="0"/>
              </a:spcAft>
              <a:buFontTx/>
              <a:buNone/>
              <a:defRPr sz="1400">
                <a:solidFill>
                  <a:schemeClr val="bg1"/>
                </a:solidFill>
              </a:defRPr>
            </a:lvl5pPr>
            <a:lvl6pPr marL="0" indent="0" algn="r">
              <a:lnSpc>
                <a:spcPct val="100000"/>
              </a:lnSpc>
              <a:spcAft>
                <a:spcPts val="0"/>
              </a:spcAft>
              <a:buFontTx/>
              <a:buNone/>
              <a:defRPr sz="1400">
                <a:solidFill>
                  <a:schemeClr val="bg1"/>
                </a:solidFill>
              </a:defRPr>
            </a:lvl6pPr>
            <a:lvl7pPr marL="0" indent="0" algn="r">
              <a:lnSpc>
                <a:spcPct val="100000"/>
              </a:lnSpc>
              <a:spcAft>
                <a:spcPts val="0"/>
              </a:spcAft>
              <a:buFontTx/>
              <a:buNone/>
              <a:defRPr sz="1400">
                <a:solidFill>
                  <a:schemeClr val="bg1"/>
                </a:solidFill>
              </a:defRPr>
            </a:lvl7pPr>
            <a:lvl8pPr marL="0" indent="0" algn="r">
              <a:lnSpc>
                <a:spcPct val="100000"/>
              </a:lnSpc>
              <a:spcAft>
                <a:spcPts val="0"/>
              </a:spcAft>
              <a:buFontTx/>
              <a:buNone/>
              <a:defRPr sz="1400">
                <a:solidFill>
                  <a:schemeClr val="bg1"/>
                </a:solidFill>
              </a:defRPr>
            </a:lvl8pPr>
            <a:lvl9pPr marL="0" indent="0" algn="r">
              <a:lnSpc>
                <a:spcPct val="100000"/>
              </a:lnSpc>
              <a:spcAft>
                <a:spcPts val="0"/>
              </a:spcAft>
              <a:buFontTx/>
              <a:buNone/>
              <a:defRPr sz="1400">
                <a:solidFill>
                  <a:schemeClr val="bg1"/>
                </a:solidFill>
              </a:defRPr>
            </a:lvl9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p>
        </p:txBody>
      </p:sp>
      <p:pic>
        <p:nvPicPr>
          <p:cNvPr id="6" name="Picture 5" descr="A building with a clock tower&#10;&#10;Description automatically generated">
            <a:extLst>
              <a:ext uri="{FF2B5EF4-FFF2-40B4-BE49-F238E27FC236}">
                <a16:creationId xmlns:a16="http://schemas.microsoft.com/office/drawing/2014/main" id="{539DE1A1-49DF-E58A-6C88-61C3401E0A41}"/>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322875" y="342000"/>
            <a:ext cx="11534887" cy="5791668"/>
          </a:xfrm>
          <a:prstGeom prst="rect">
            <a:avLst/>
          </a:prstGeom>
        </p:spPr>
      </p:pic>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5" name="Picture Placeholder 10" descr="Logo&#10;&#10;Description automatically generated">
            <a:extLst>
              <a:ext uri="{FF2B5EF4-FFF2-40B4-BE49-F238E27FC236}">
                <a16:creationId xmlns:a16="http://schemas.microsoft.com/office/drawing/2014/main" id="{30E4AA47-6A18-5856-8B55-31A2F24D6B0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557912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slide_style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2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4" name="Picture Placeholder 10" descr="Logo&#10;&#10;Description automatically generated">
            <a:extLst>
              <a:ext uri="{FF2B5EF4-FFF2-40B4-BE49-F238E27FC236}">
                <a16:creationId xmlns:a16="http://schemas.microsoft.com/office/drawing/2014/main" id="{F44244A3-AF35-00C5-3FA8-D6B57DDB2ED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72713808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1">
    <p:spTree>
      <p:nvGrpSpPr>
        <p:cNvPr id="1" name=""/>
        <p:cNvGrpSpPr/>
        <p:nvPr/>
      </p:nvGrpSpPr>
      <p:grpSpPr>
        <a:xfrm>
          <a:off x="0" y="0"/>
          <a:ext cx="0" cy="0"/>
          <a:chOff x="0" y="0"/>
          <a:chExt cx="0" cy="0"/>
        </a:xfrm>
      </p:grpSpPr>
      <p:pic>
        <p:nvPicPr>
          <p:cNvPr id="4" name="Picture 3" descr="A train on the street&#10;&#10;Description automatically generated">
            <a:extLst>
              <a:ext uri="{FF2B5EF4-FFF2-40B4-BE49-F238E27FC236}">
                <a16:creationId xmlns:a16="http://schemas.microsoft.com/office/drawing/2014/main" id="{C21B4368-12D9-57AE-3A1D-DAE6674AE8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800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72152403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1">
    <p:spTree>
      <p:nvGrpSpPr>
        <p:cNvPr id="1" name=""/>
        <p:cNvGrpSpPr/>
        <p:nvPr/>
      </p:nvGrpSpPr>
      <p:grpSpPr>
        <a:xfrm>
          <a:off x="0" y="0"/>
          <a:ext cx="0" cy="0"/>
          <a:chOff x="0" y="0"/>
          <a:chExt cx="0" cy="0"/>
        </a:xfrm>
      </p:grpSpPr>
      <p:pic>
        <p:nvPicPr>
          <p:cNvPr id="3" name="Picture 2" descr="A close-up of a building&#10;&#10;Description automatically generated">
            <a:extLst>
              <a:ext uri="{FF2B5EF4-FFF2-40B4-BE49-F238E27FC236}">
                <a16:creationId xmlns:a16="http://schemas.microsoft.com/office/drawing/2014/main" id="{B81EDBD4-C9CF-59CC-461E-DB98C187D3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907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4EF8F4E9-FAE8-C7F7-EED9-30CA77676534}"/>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21F14F64-41A3-A64C-2463-CAC1DD1F1635}"/>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CB4A80DB-38E0-359B-9518-DCF2692A96B0}"/>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88052055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1">
    <p:spTree>
      <p:nvGrpSpPr>
        <p:cNvPr id="1" name=""/>
        <p:cNvGrpSpPr/>
        <p:nvPr/>
      </p:nvGrpSpPr>
      <p:grpSpPr>
        <a:xfrm>
          <a:off x="0" y="0"/>
          <a:ext cx="0" cy="0"/>
          <a:chOff x="0" y="0"/>
          <a:chExt cx="0" cy="0"/>
        </a:xfrm>
      </p:grpSpPr>
      <p:pic>
        <p:nvPicPr>
          <p:cNvPr id="3" name="Picture 2" descr="A group of people walking outside of a building&#10;&#10;Description automatically generated">
            <a:extLst>
              <a:ext uri="{FF2B5EF4-FFF2-40B4-BE49-F238E27FC236}">
                <a16:creationId xmlns:a16="http://schemas.microsoft.com/office/drawing/2014/main" id="{FED4D6B5-F526-F625-9177-15B300C8FC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392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315C606B-DBD6-6B98-FCEE-3981CBD7676E}"/>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934572BE-6DBB-223D-542C-91D71528A179}"/>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D22CA810-7F8C-3D8D-59E6-41512FFA280C}"/>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0638221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_with image4_style1">
    <p:spTree>
      <p:nvGrpSpPr>
        <p:cNvPr id="1" name=""/>
        <p:cNvGrpSpPr/>
        <p:nvPr/>
      </p:nvGrpSpPr>
      <p:grpSpPr>
        <a:xfrm>
          <a:off x="0" y="0"/>
          <a:ext cx="0" cy="0"/>
          <a:chOff x="0" y="0"/>
          <a:chExt cx="0" cy="0"/>
        </a:xfrm>
      </p:grpSpPr>
      <p:pic>
        <p:nvPicPr>
          <p:cNvPr id="3" name="Picture 2" descr="A building with many windows&#10;&#10;Description automatically generated">
            <a:extLst>
              <a:ext uri="{FF2B5EF4-FFF2-40B4-BE49-F238E27FC236}">
                <a16:creationId xmlns:a16="http://schemas.microsoft.com/office/drawing/2014/main" id="{4ACB552C-63F8-E9C0-06FA-7DB1F7430E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7508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20000"/>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B961782D-5772-54A1-DB84-FE91617DDF6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7" name="Picture Placeholder 10" descr="Logo&#10;&#10;Description automatically generated">
            <a:extLst>
              <a:ext uri="{FF2B5EF4-FFF2-40B4-BE49-F238E27FC236}">
                <a16:creationId xmlns:a16="http://schemas.microsoft.com/office/drawing/2014/main" id="{337175A6-6452-322F-7BD0-EAA975A86561}"/>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19FE526D-CA42-9B67-5F7E-8E810C8A8C49}"/>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36321361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ivider_with image5_style1">
    <p:spTree>
      <p:nvGrpSpPr>
        <p:cNvPr id="1" name=""/>
        <p:cNvGrpSpPr/>
        <p:nvPr/>
      </p:nvGrpSpPr>
      <p:grpSpPr>
        <a:xfrm>
          <a:off x="0" y="0"/>
          <a:ext cx="0" cy="0"/>
          <a:chOff x="0" y="0"/>
          <a:chExt cx="0" cy="0"/>
        </a:xfrm>
      </p:grpSpPr>
      <p:pic>
        <p:nvPicPr>
          <p:cNvPr id="3" name="Picture 2" descr="A large auditorium with blue lights&#10;&#10;Description automatically generated">
            <a:extLst>
              <a:ext uri="{FF2B5EF4-FFF2-40B4-BE49-F238E27FC236}">
                <a16:creationId xmlns:a16="http://schemas.microsoft.com/office/drawing/2014/main" id="{E4A9FC45-DD09-38AB-3B34-9EF99267BFC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851691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4" name="Rectangle 3">
            <a:extLst>
              <a:ext uri="{FF2B5EF4-FFF2-40B4-BE49-F238E27FC236}">
                <a16:creationId xmlns:a16="http://schemas.microsoft.com/office/drawing/2014/main" id="{D3569B04-81DF-2285-6290-6A1B9AE81DFD}"/>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10" name="Picture Placeholder 10" descr="Logo&#10;&#10;Description automatically generated">
            <a:extLst>
              <a:ext uri="{FF2B5EF4-FFF2-40B4-BE49-F238E27FC236}">
                <a16:creationId xmlns:a16="http://schemas.microsoft.com/office/drawing/2014/main" id="{560B8F70-2D74-855E-E3DD-E1442F6A7DAB}"/>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14" name="Text Placeholder 11">
            <a:extLst>
              <a:ext uri="{FF2B5EF4-FFF2-40B4-BE49-F238E27FC236}">
                <a16:creationId xmlns:a16="http://schemas.microsoft.com/office/drawing/2014/main" id="{2C42A733-BC01-7351-0C78-CD744DE94C58}"/>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321238552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_Dark Mode">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1"/>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AU"/>
          </a:p>
        </p:txBody>
      </p:sp>
    </p:spTree>
    <p:extLst>
      <p:ext uri="{BB962C8B-B14F-4D97-AF65-F5344CB8AC3E}">
        <p14:creationId xmlns:p14="http://schemas.microsoft.com/office/powerpoint/2010/main" val="1392457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deo and Present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a:xfrm>
            <a:off x="345600" y="6437192"/>
            <a:ext cx="4114800" cy="216000"/>
          </a:xfrm>
        </p:spPr>
        <p:txBody>
          <a:bodyPr/>
          <a:lstStyle>
            <a:lvl1pPr>
              <a:defRPr>
                <a:solidFill>
                  <a:schemeClr val="bg2"/>
                </a:solidFill>
              </a:defRPr>
            </a:lvl1pPr>
          </a:lstStyle>
          <a:p>
            <a:r>
              <a:rPr lang="en-AU" dirty="0"/>
              <a:t>[Insert Identifier] | [Insert Report Title]</a:t>
            </a:r>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673806"/>
            <a:ext cx="7405200" cy="44676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
        <p:nvSpPr>
          <p:cNvPr id="4" name="Picture Placeholder 7">
            <a:extLst>
              <a:ext uri="{FF2B5EF4-FFF2-40B4-BE49-F238E27FC236}">
                <a16:creationId xmlns:a16="http://schemas.microsoft.com/office/drawing/2014/main" id="{7C6DB685-726F-A1FB-C9B0-00C92EC7F117}"/>
              </a:ext>
            </a:extLst>
          </p:cNvPr>
          <p:cNvSpPr>
            <a:spLocks noGrp="1"/>
          </p:cNvSpPr>
          <p:nvPr>
            <p:ph type="pic" sz="quarter" idx="16" hasCustomPrompt="1"/>
          </p:nvPr>
        </p:nvSpPr>
        <p:spPr>
          <a:xfrm>
            <a:off x="8040217" y="1673806"/>
            <a:ext cx="3806182" cy="4467794"/>
          </a:xfrm>
          <a:blipFill>
            <a:blip r:embed="rId2" cstate="print">
              <a:extLst>
                <a:ext uri="{28A0092B-C50C-407E-A947-70E740481C1C}">
                  <a14:useLocalDpi xmlns:a14="http://schemas.microsoft.com/office/drawing/2010/main" val="0"/>
                </a:ext>
              </a:extLst>
            </a:blip>
            <a:stretch>
              <a:fillRect l="-12818" t="-6998" r="-14598" b="-250"/>
            </a:stretch>
          </a:blipFill>
        </p:spPr>
        <p:txBody>
          <a:bodyPr anchor="ctr" anchorCtr="0"/>
          <a:lstStyle>
            <a:lvl1pPr algn="ctr">
              <a:defRPr/>
            </a:lvl1pPr>
          </a:lstStyle>
          <a:p>
            <a:r>
              <a:rPr lang="en-AU" dirty="0"/>
              <a:t>Click icon to add Image of presenter</a:t>
            </a:r>
          </a:p>
        </p:txBody>
      </p:sp>
      <p:sp>
        <p:nvSpPr>
          <p:cNvPr id="5" name="TextBox 4">
            <a:extLst>
              <a:ext uri="{FF2B5EF4-FFF2-40B4-BE49-F238E27FC236}">
                <a16:creationId xmlns:a16="http://schemas.microsoft.com/office/drawing/2014/main" id="{8D5EAD7E-7B06-ABC7-F34C-50EDEAFC6D52}"/>
              </a:ext>
            </a:extLst>
          </p:cNvPr>
          <p:cNvSpPr txBox="1"/>
          <p:nvPr userDrawn="1"/>
        </p:nvSpPr>
        <p:spPr>
          <a:xfrm>
            <a:off x="4700845" y="6499304"/>
            <a:ext cx="7145554" cy="153888"/>
          </a:xfrm>
          <a:prstGeom prst="rect">
            <a:avLst/>
          </a:prstGeom>
          <a:noFill/>
        </p:spPr>
        <p:txBody>
          <a:bodyPr wrap="square" lIns="0" tIns="0" rIns="0" bIns="0" rtlCol="0">
            <a:spAutoFit/>
          </a:bodyPr>
          <a:lstStyle/>
          <a:p>
            <a:pPr algn="r">
              <a:lnSpc>
                <a:spcPts val="1200"/>
              </a:lnSpc>
            </a:pPr>
            <a:r>
              <a:rPr lang="en-AU" sz="1000" dirty="0"/>
              <a:t>(c) The University of Melbourne &lt;insert year&gt; This content is protected and may not be shared, uploaded, or distributed.</a:t>
            </a:r>
          </a:p>
        </p:txBody>
      </p:sp>
    </p:spTree>
    <p:extLst>
      <p:ext uri="{BB962C8B-B14F-4D97-AF65-F5344CB8AC3E}">
        <p14:creationId xmlns:p14="http://schemas.microsoft.com/office/powerpoint/2010/main" val="3915543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2"/>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2"/>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Tree>
    <p:extLst>
      <p:ext uri="{BB962C8B-B14F-4D97-AF65-F5344CB8AC3E}">
        <p14:creationId xmlns:p14="http://schemas.microsoft.com/office/powerpoint/2010/main" val="326753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704266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wo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6219599"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51513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Image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6" name="Picture Placeholder 5">
            <a:extLst>
              <a:ext uri="{FF2B5EF4-FFF2-40B4-BE49-F238E27FC236}">
                <a16:creationId xmlns:a16="http://schemas.microsoft.com/office/drawing/2014/main" id="{FC2A53D8-7CC9-C8A8-3494-5EBD660356B9}"/>
              </a:ext>
            </a:extLst>
          </p:cNvPr>
          <p:cNvSpPr>
            <a:spLocks noGrp="1"/>
          </p:cNvSpPr>
          <p:nvPr>
            <p:ph type="pic" sz="quarter" idx="16" hasCustomPrompt="1"/>
          </p:nvPr>
        </p:nvSpPr>
        <p:spPr>
          <a:xfrm>
            <a:off x="6219599" y="1870075"/>
            <a:ext cx="5626800" cy="4273200"/>
          </a:xfrm>
        </p:spPr>
        <p:txBody>
          <a:bodyPr anchor="ctr" anchorCtr="0"/>
          <a:lstStyle>
            <a:lvl1pPr algn="ctr">
              <a:lnSpc>
                <a:spcPts val="1400"/>
              </a:lnSpc>
              <a:defRPr sz="1200"/>
            </a:lvl1pPr>
          </a:lstStyle>
          <a:p>
            <a:r>
              <a:rPr lang="en-AU" dirty="0"/>
              <a:t>Click icon to insert image</a:t>
            </a:r>
          </a:p>
        </p:txBody>
      </p:sp>
    </p:spTree>
    <p:extLst>
      <p:ext uri="{BB962C8B-B14F-4D97-AF65-F5344CB8AC3E}">
        <p14:creationId xmlns:p14="http://schemas.microsoft.com/office/powerpoint/2010/main" val="3118280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wo Chart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3875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4" cy="3886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6" name="Chart Placeholder 5">
            <a:extLst>
              <a:ext uri="{FF2B5EF4-FFF2-40B4-BE49-F238E27FC236}">
                <a16:creationId xmlns:a16="http://schemas.microsoft.com/office/drawing/2014/main" id="{83A92489-4F48-E651-8308-E8A1BEAEF4BD}"/>
              </a:ext>
            </a:extLst>
          </p:cNvPr>
          <p:cNvSpPr>
            <a:spLocks noGrp="1"/>
          </p:cNvSpPr>
          <p:nvPr>
            <p:ph type="chart" sz="quarter" idx="17" hasCustomPrompt="1"/>
          </p:nvPr>
        </p:nvSpPr>
        <p:spPr>
          <a:xfrm>
            <a:off x="345600" y="2573905"/>
            <a:ext cx="5626575" cy="2880320"/>
          </a:xfrm>
        </p:spPr>
        <p:txBody>
          <a:bodyPr anchor="ctr" anchorCtr="0"/>
          <a:lstStyle>
            <a:lvl1pPr algn="ctr">
              <a:defRPr/>
            </a:lvl1pPr>
          </a:lstStyle>
          <a:p>
            <a:r>
              <a:rPr lang="en-AU" dirty="0"/>
              <a:t>Click icon to insert Chart</a:t>
            </a:r>
          </a:p>
        </p:txBody>
      </p:sp>
      <p:sp>
        <p:nvSpPr>
          <p:cNvPr id="9" name="Chart Placeholder 5">
            <a:extLst>
              <a:ext uri="{FF2B5EF4-FFF2-40B4-BE49-F238E27FC236}">
                <a16:creationId xmlns:a16="http://schemas.microsoft.com/office/drawing/2014/main" id="{9D4C9335-8F56-5714-572A-14E7E23CC1AB}"/>
              </a:ext>
            </a:extLst>
          </p:cNvPr>
          <p:cNvSpPr>
            <a:spLocks noGrp="1"/>
          </p:cNvSpPr>
          <p:nvPr>
            <p:ph type="chart" sz="quarter" idx="18" hasCustomPrompt="1"/>
          </p:nvPr>
        </p:nvSpPr>
        <p:spPr>
          <a:xfrm>
            <a:off x="6223381" y="2573905"/>
            <a:ext cx="5623018" cy="2880320"/>
          </a:xfrm>
        </p:spPr>
        <p:txBody>
          <a:bodyPr anchor="ctr" anchorCtr="0"/>
          <a:lstStyle>
            <a:lvl1pPr algn="ctr">
              <a:defRPr/>
            </a:lvl1pPr>
          </a:lstStyle>
          <a:p>
            <a:r>
              <a:rPr lang="en-AU" dirty="0"/>
              <a:t>Click icon to insert Chart</a:t>
            </a:r>
          </a:p>
        </p:txBody>
      </p:sp>
      <p:sp>
        <p:nvSpPr>
          <p:cNvPr id="4" name="Title 3">
            <a:extLst>
              <a:ext uri="{FF2B5EF4-FFF2-40B4-BE49-F238E27FC236}">
                <a16:creationId xmlns:a16="http://schemas.microsoft.com/office/drawing/2014/main" id="{0C4277FC-2AB5-CB23-BC94-BEF3C9536350}"/>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40610180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3"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4" name="Title 3">
            <a:extLst>
              <a:ext uri="{FF2B5EF4-FFF2-40B4-BE49-F238E27FC236}">
                <a16:creationId xmlns:a16="http://schemas.microsoft.com/office/drawing/2014/main" id="{4863FD07-110D-DEB8-85AE-92CD33C072C4}"/>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14218476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hree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dirty="0"/>
              <a:t>Page [</a:t>
            </a:r>
            <a:fld id="{29D5CE74-914C-4689-99FC-1AEF49CE2B47}" type="slidenum">
              <a:rPr smtClean="0"/>
              <a:pPr/>
              <a:t>‹#›</a:t>
            </a:fld>
            <a:r>
              <a:rPr dirty="0"/>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dirty="0"/>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4296000"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Content Placeholder 6">
            <a:extLst>
              <a:ext uri="{FF2B5EF4-FFF2-40B4-BE49-F238E27FC236}">
                <a16:creationId xmlns:a16="http://schemas.microsoft.com/office/drawing/2014/main" id="{A14B56AF-59AC-1DD7-A515-93236D9D5034}"/>
              </a:ext>
            </a:extLst>
          </p:cNvPr>
          <p:cNvSpPr>
            <a:spLocks noGrp="1"/>
          </p:cNvSpPr>
          <p:nvPr>
            <p:ph sz="quarter" idx="17"/>
          </p:nvPr>
        </p:nvSpPr>
        <p:spPr>
          <a:xfrm>
            <a:off x="8246399"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503064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42959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4" name="Content Placeholder 6">
            <a:extLst>
              <a:ext uri="{FF2B5EF4-FFF2-40B4-BE49-F238E27FC236}">
                <a16:creationId xmlns:a16="http://schemas.microsoft.com/office/drawing/2014/main" id="{12B8F049-B051-C3CF-84AF-76D0419ECC4D}"/>
              </a:ext>
            </a:extLst>
          </p:cNvPr>
          <p:cNvSpPr>
            <a:spLocks noGrp="1"/>
          </p:cNvSpPr>
          <p:nvPr>
            <p:ph sz="quarter" idx="16"/>
          </p:nvPr>
        </p:nvSpPr>
        <p:spPr>
          <a:xfrm>
            <a:off x="82463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Slide Number Placeholder 5">
            <a:extLst>
              <a:ext uri="{FF2B5EF4-FFF2-40B4-BE49-F238E27FC236}">
                <a16:creationId xmlns:a16="http://schemas.microsoft.com/office/drawing/2014/main" id="{CA6341BC-444F-9260-2F29-DB09F5C10802}"/>
              </a:ext>
            </a:extLst>
          </p:cNvPr>
          <p:cNvSpPr>
            <a:spLocks noGrp="1"/>
          </p:cNvSpPr>
          <p:nvPr>
            <p:ph type="sldNum" sz="quarter" idx="17"/>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8" name="Title 7">
            <a:extLst>
              <a:ext uri="{FF2B5EF4-FFF2-40B4-BE49-F238E27FC236}">
                <a16:creationId xmlns:a16="http://schemas.microsoft.com/office/drawing/2014/main" id="{B997EF1D-2BE4-A99C-D98C-B233628816F3}"/>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2628763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hank you_1">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1577134" y="1133745"/>
            <a:ext cx="9001001"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6023122"/>
            <a:ext cx="5490611" cy="630070"/>
          </a:xfrm>
        </p:spPr>
        <p:txBody>
          <a:bodyPr anchor="b" anchorCtr="0"/>
          <a:lstStyle>
            <a:lvl1pPr marL="0" algn="l">
              <a:lnSpc>
                <a:spcPct val="100000"/>
              </a:lnSpc>
              <a:spcAft>
                <a:spcPts val="0"/>
              </a:spcAft>
              <a:buFontTx/>
              <a:buNone/>
              <a:defRPr sz="1400" b="0">
                <a:solidFill>
                  <a:schemeClr val="bg1"/>
                </a:solidFill>
              </a:defRPr>
            </a:lvl1pPr>
            <a:lvl2pPr marL="0" algn="l">
              <a:lnSpc>
                <a:spcPct val="100000"/>
              </a:lnSpc>
              <a:spcAft>
                <a:spcPts val="0"/>
              </a:spcAft>
              <a:buFontTx/>
              <a:buNone/>
              <a:defRPr sz="1400" b="0">
                <a:solidFill>
                  <a:schemeClr val="bg1"/>
                </a:solidFill>
              </a:defRPr>
            </a:lvl2pPr>
            <a:lvl3pPr marL="0" indent="0" algn="l">
              <a:lnSpc>
                <a:spcPct val="100000"/>
              </a:lnSpc>
              <a:spcAft>
                <a:spcPts val="0"/>
              </a:spcAft>
              <a:buFontTx/>
              <a:buNone/>
              <a:defRPr sz="1400" b="0">
                <a:solidFill>
                  <a:schemeClr val="bg1"/>
                </a:solidFill>
              </a:defRPr>
            </a:lvl3pPr>
            <a:lvl4pPr marL="0" indent="0" algn="l">
              <a:lnSpc>
                <a:spcPct val="100000"/>
              </a:lnSpc>
              <a:spcAft>
                <a:spcPts val="0"/>
              </a:spcAft>
              <a:buFontTx/>
              <a:buNone/>
              <a:defRPr sz="1400" b="0">
                <a:solidFill>
                  <a:schemeClr val="bg1"/>
                </a:solidFill>
              </a:defRPr>
            </a:lvl4pPr>
            <a:lvl5pPr marL="0" indent="0" algn="l">
              <a:lnSpc>
                <a:spcPct val="100000"/>
              </a:lnSpc>
              <a:spcAft>
                <a:spcPts val="0"/>
              </a:spcAft>
              <a:buFontTx/>
              <a:buNone/>
              <a:defRPr sz="1400" b="0">
                <a:solidFill>
                  <a:schemeClr val="bg1"/>
                </a:solidFill>
              </a:defRPr>
            </a:lvl5pPr>
            <a:lvl6pPr marL="0" indent="0" algn="l">
              <a:lnSpc>
                <a:spcPct val="100000"/>
              </a:lnSpc>
              <a:spcAft>
                <a:spcPts val="0"/>
              </a:spcAft>
              <a:buFontTx/>
              <a:buNone/>
              <a:defRPr sz="1400" b="0">
                <a:solidFill>
                  <a:schemeClr val="bg1"/>
                </a:solidFill>
              </a:defRPr>
            </a:lvl6pPr>
            <a:lvl7pPr marL="0" indent="0" algn="l">
              <a:lnSpc>
                <a:spcPct val="100000"/>
              </a:lnSpc>
              <a:spcAft>
                <a:spcPts val="0"/>
              </a:spcAft>
              <a:buFontTx/>
              <a:buNone/>
              <a:defRPr sz="1400" b="0">
                <a:solidFill>
                  <a:schemeClr val="bg1"/>
                </a:solidFill>
              </a:defRPr>
            </a:lvl7pPr>
            <a:lvl8pPr marL="0" indent="0" algn="l">
              <a:lnSpc>
                <a:spcPct val="100000"/>
              </a:lnSpc>
              <a:spcAft>
                <a:spcPts val="0"/>
              </a:spcAft>
              <a:buFontTx/>
              <a:buNone/>
              <a:defRPr sz="1400" b="0">
                <a:solidFill>
                  <a:schemeClr val="bg1"/>
                </a:solidFill>
              </a:defRPr>
            </a:lvl8pPr>
            <a:lvl9pPr marL="0" indent="0" algn="l">
              <a:lnSpc>
                <a:spcPct val="100000"/>
              </a:lnSpc>
              <a:spcAft>
                <a:spcPts val="0"/>
              </a:spcAft>
              <a:buFontTx/>
              <a:buNone/>
              <a:defRPr sz="1400" b="0">
                <a:solidFill>
                  <a:schemeClr val="bg1"/>
                </a:solidFill>
              </a:defRPr>
            </a:lvl9pPr>
          </a:lstStyle>
          <a:p>
            <a:pPr lvl="0"/>
            <a:r>
              <a:rPr lang="en-US" dirty="0"/>
              <a:t>[Collaborator/partner relationship disclaimer]</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9" name="Text Placeholder 10">
            <a:extLst>
              <a:ext uri="{FF2B5EF4-FFF2-40B4-BE49-F238E27FC236}">
                <a16:creationId xmlns:a16="http://schemas.microsoft.com/office/drawing/2014/main" id="{E98D57ED-F6FA-0853-C0FA-554B2313321E}"/>
              </a:ext>
            </a:extLst>
          </p:cNvPr>
          <p:cNvSpPr>
            <a:spLocks noGrp="1"/>
          </p:cNvSpPr>
          <p:nvPr>
            <p:ph type="body" sz="quarter" idx="18" hasCustomPrompt="1"/>
          </p:nvPr>
        </p:nvSpPr>
        <p:spPr>
          <a:xfrm>
            <a:off x="6231015" y="6437192"/>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pic>
        <p:nvPicPr>
          <p:cNvPr id="2" name="Picture Placeholder 6" descr="Logo&#10;&#10;Description automatically generated">
            <a:extLst>
              <a:ext uri="{FF2B5EF4-FFF2-40B4-BE49-F238E27FC236}">
                <a16:creationId xmlns:a16="http://schemas.microsoft.com/office/drawing/2014/main" id="{54D6F5F3-83EC-7C59-7764-F0BA609CE28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4870378" y="2315284"/>
            <a:ext cx="2385265" cy="2373856"/>
          </a:xfrm>
          <a:prstGeom prst="rect">
            <a:avLst/>
          </a:prstGeom>
        </p:spPr>
      </p:pic>
    </p:spTree>
    <p:extLst>
      <p:ext uri="{BB962C8B-B14F-4D97-AF65-F5344CB8AC3E}">
        <p14:creationId xmlns:p14="http://schemas.microsoft.com/office/powerpoint/2010/main" val="2569138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_2">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345599" y="489679"/>
            <a:ext cx="11500799"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5850353"/>
            <a:ext cx="5265585" cy="365012"/>
          </a:xfrm>
        </p:spPr>
        <p:txBody>
          <a:bodyPr anchor="t" anchorCtr="0"/>
          <a:lstStyle>
            <a:lvl1pPr marL="0" algn="l">
              <a:lnSpc>
                <a:spcPct val="100000"/>
              </a:lnSpc>
              <a:spcAft>
                <a:spcPts val="0"/>
              </a:spcAft>
              <a:buFontTx/>
              <a:buNone/>
              <a:defRPr sz="2000" b="0">
                <a:solidFill>
                  <a:schemeClr val="bg1"/>
                </a:solidFill>
              </a:defRPr>
            </a:lvl1pPr>
            <a:lvl2pPr marL="0" algn="l">
              <a:lnSpc>
                <a:spcPct val="100000"/>
              </a:lnSpc>
              <a:spcAft>
                <a:spcPts val="0"/>
              </a:spcAft>
              <a:buFontTx/>
              <a:buNone/>
              <a:defRPr sz="2000" b="0">
                <a:solidFill>
                  <a:schemeClr val="bg1"/>
                </a:solidFill>
              </a:defRPr>
            </a:lvl2pPr>
            <a:lvl3pPr marL="0" indent="0" algn="l">
              <a:lnSpc>
                <a:spcPct val="100000"/>
              </a:lnSpc>
              <a:spcAft>
                <a:spcPts val="0"/>
              </a:spcAft>
              <a:buFontTx/>
              <a:buNone/>
              <a:defRPr sz="2000" b="0">
                <a:solidFill>
                  <a:schemeClr val="bg1"/>
                </a:solidFill>
              </a:defRPr>
            </a:lvl3pPr>
            <a:lvl4pPr marL="0" indent="0" algn="l">
              <a:lnSpc>
                <a:spcPct val="100000"/>
              </a:lnSpc>
              <a:spcAft>
                <a:spcPts val="0"/>
              </a:spcAft>
              <a:buFontTx/>
              <a:buNone/>
              <a:defRPr sz="2000" b="0">
                <a:solidFill>
                  <a:schemeClr val="bg1"/>
                </a:solidFill>
              </a:defRPr>
            </a:lvl4pPr>
            <a:lvl5pPr marL="0" indent="0" algn="l">
              <a:lnSpc>
                <a:spcPct val="100000"/>
              </a:lnSpc>
              <a:spcAft>
                <a:spcPts val="0"/>
              </a:spcAft>
              <a:buFontTx/>
              <a:buNone/>
              <a:defRPr sz="2000" b="0">
                <a:solidFill>
                  <a:schemeClr val="bg1"/>
                </a:solidFill>
              </a:defRPr>
            </a:lvl5pPr>
            <a:lvl6pPr marL="0" indent="0" algn="l">
              <a:lnSpc>
                <a:spcPct val="100000"/>
              </a:lnSpc>
              <a:spcAft>
                <a:spcPts val="0"/>
              </a:spcAft>
              <a:buFontTx/>
              <a:buNone/>
              <a:defRPr sz="2000" b="0">
                <a:solidFill>
                  <a:schemeClr val="bg1"/>
                </a:solidFill>
              </a:defRPr>
            </a:lvl6pPr>
            <a:lvl7pPr marL="0" indent="0" algn="l">
              <a:lnSpc>
                <a:spcPct val="100000"/>
              </a:lnSpc>
              <a:spcAft>
                <a:spcPts val="0"/>
              </a:spcAft>
              <a:buFontTx/>
              <a:buNone/>
              <a:defRPr sz="2000" b="0">
                <a:solidFill>
                  <a:schemeClr val="bg1"/>
                </a:solidFill>
              </a:defRPr>
            </a:lvl7pPr>
            <a:lvl8pPr marL="0" indent="0" algn="l">
              <a:lnSpc>
                <a:spcPct val="100000"/>
              </a:lnSpc>
              <a:spcAft>
                <a:spcPts val="0"/>
              </a:spcAft>
              <a:buFontTx/>
              <a:buNone/>
              <a:defRPr sz="2000" b="0">
                <a:solidFill>
                  <a:schemeClr val="bg1"/>
                </a:solidFill>
              </a:defRPr>
            </a:lvl8pPr>
            <a:lvl9pPr marL="0" indent="0" algn="l">
              <a:lnSpc>
                <a:spcPct val="100000"/>
              </a:lnSpc>
              <a:spcAft>
                <a:spcPts val="0"/>
              </a:spcAft>
              <a:buFontTx/>
              <a:buNone/>
              <a:defRPr sz="2000" b="0">
                <a:solidFill>
                  <a:schemeClr val="bg1"/>
                </a:solidFill>
              </a:defRPr>
            </a:lvl9pPr>
          </a:lstStyle>
          <a:p>
            <a:pPr lvl="0"/>
            <a:r>
              <a:rPr lang="en-AU" dirty="0"/>
              <a:t>[Copyright, CTA or other information/notices]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2" name="Content Placeholder 7">
            <a:extLst>
              <a:ext uri="{FF2B5EF4-FFF2-40B4-BE49-F238E27FC236}">
                <a16:creationId xmlns:a16="http://schemas.microsoft.com/office/drawing/2014/main" id="{BBF3D5F6-94BD-ACED-7F35-959B5B93BD76}"/>
              </a:ext>
            </a:extLst>
          </p:cNvPr>
          <p:cNvSpPr>
            <a:spLocks noGrp="1"/>
          </p:cNvSpPr>
          <p:nvPr>
            <p:ph sz="quarter" idx="20"/>
          </p:nvPr>
        </p:nvSpPr>
        <p:spPr>
          <a:xfrm>
            <a:off x="4678967" y="2266086"/>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5" name="Picture Placeholder 6" descr="Logo&#10;&#10;Description automatically generated">
            <a:extLst>
              <a:ext uri="{FF2B5EF4-FFF2-40B4-BE49-F238E27FC236}">
                <a16:creationId xmlns:a16="http://schemas.microsoft.com/office/drawing/2014/main" id="{E3F816A6-DD62-1263-EF40-8DEE9FBC629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1315442" y="2266086"/>
            <a:ext cx="2385265" cy="2373856"/>
          </a:xfrm>
          <a:prstGeom prst="rect">
            <a:avLst/>
          </a:prstGeom>
        </p:spPr>
      </p:pic>
      <p:sp>
        <p:nvSpPr>
          <p:cNvPr id="7" name="Content Placeholder 7">
            <a:extLst>
              <a:ext uri="{FF2B5EF4-FFF2-40B4-BE49-F238E27FC236}">
                <a16:creationId xmlns:a16="http://schemas.microsoft.com/office/drawing/2014/main" id="{BCABDFB2-774F-9F26-0537-DFF1E88D8406}"/>
              </a:ext>
            </a:extLst>
          </p:cNvPr>
          <p:cNvSpPr>
            <a:spLocks noGrp="1"/>
          </p:cNvSpPr>
          <p:nvPr>
            <p:ph sz="quarter" idx="21"/>
          </p:nvPr>
        </p:nvSpPr>
        <p:spPr>
          <a:xfrm>
            <a:off x="8040216" y="2262385"/>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10">
            <a:extLst>
              <a:ext uri="{FF2B5EF4-FFF2-40B4-BE49-F238E27FC236}">
                <a16:creationId xmlns:a16="http://schemas.microsoft.com/office/drawing/2014/main" id="{F892BB12-1705-BD7B-229D-BF067F242181}"/>
              </a:ext>
            </a:extLst>
          </p:cNvPr>
          <p:cNvSpPr>
            <a:spLocks noGrp="1"/>
          </p:cNvSpPr>
          <p:nvPr>
            <p:ph type="body" sz="quarter" idx="18" hasCustomPrompt="1"/>
          </p:nvPr>
        </p:nvSpPr>
        <p:spPr>
          <a:xfrm>
            <a:off x="6231015" y="5999365"/>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6107219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pyright notice 2">
    <p:bg>
      <p:bgPr>
        <a:solidFill>
          <a:schemeClr val="bg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574486-8652-716C-61C2-985D79E5DEEF}"/>
              </a:ext>
            </a:extLst>
          </p:cNvPr>
          <p:cNvSpPr txBox="1"/>
          <p:nvPr userDrawn="1"/>
        </p:nvSpPr>
        <p:spPr>
          <a:xfrm>
            <a:off x="345600" y="4183343"/>
            <a:ext cx="2310675" cy="200055"/>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(c) The University of Melbourne</a:t>
            </a:r>
            <a:endParaRPr lang="en-AU" sz="1300" dirty="0">
              <a:latin typeface="+mn-lt"/>
            </a:endParaRPr>
          </a:p>
        </p:txBody>
      </p:sp>
      <p:sp>
        <p:nvSpPr>
          <p:cNvPr id="6" name="Text Placeholder 5">
            <a:extLst>
              <a:ext uri="{FF2B5EF4-FFF2-40B4-BE49-F238E27FC236}">
                <a16:creationId xmlns:a16="http://schemas.microsoft.com/office/drawing/2014/main" id="{9AB091FC-4E25-7936-CC06-27124E717614}"/>
              </a:ext>
            </a:extLst>
          </p:cNvPr>
          <p:cNvSpPr>
            <a:spLocks noGrp="1"/>
          </p:cNvSpPr>
          <p:nvPr>
            <p:ph type="body" sz="quarter" idx="19" hasCustomPrompt="1"/>
          </p:nvPr>
        </p:nvSpPr>
        <p:spPr>
          <a:xfrm>
            <a:off x="2699196" y="4182849"/>
            <a:ext cx="1192703" cy="216000"/>
          </a:xfrm>
        </p:spPr>
        <p:txBody>
          <a:bodyPr/>
          <a:lstStyle>
            <a:lvl1pPr marL="0">
              <a:lnSpc>
                <a:spcPct val="100000"/>
              </a:lnSpc>
              <a:spcAft>
                <a:spcPts val="0"/>
              </a:spcAft>
              <a:buFontTx/>
              <a:buNone/>
              <a:defRPr sz="1300" b="0">
                <a:solidFill>
                  <a:schemeClr val="bg1"/>
                </a:solidFill>
              </a:defRPr>
            </a:lvl1pPr>
            <a:lvl2pPr marL="0">
              <a:lnSpc>
                <a:spcPct val="100000"/>
              </a:lnSpc>
              <a:spcAft>
                <a:spcPts val="0"/>
              </a:spcAft>
              <a:buFontTx/>
              <a:buNone/>
              <a:defRPr sz="1300" b="0">
                <a:solidFill>
                  <a:schemeClr val="bg1"/>
                </a:solidFill>
              </a:defRPr>
            </a:lvl2pPr>
            <a:lvl3pPr marL="0" indent="0">
              <a:lnSpc>
                <a:spcPct val="100000"/>
              </a:lnSpc>
              <a:spcAft>
                <a:spcPts val="0"/>
              </a:spcAft>
              <a:buFontTx/>
              <a:buNone/>
              <a:defRPr sz="1300" b="0">
                <a:solidFill>
                  <a:schemeClr val="bg1"/>
                </a:solidFill>
              </a:defRPr>
            </a:lvl3pPr>
            <a:lvl4pPr marL="0" indent="0">
              <a:lnSpc>
                <a:spcPct val="100000"/>
              </a:lnSpc>
              <a:spcAft>
                <a:spcPts val="0"/>
              </a:spcAft>
              <a:buFontTx/>
              <a:buNone/>
              <a:defRPr sz="1300" b="0">
                <a:solidFill>
                  <a:schemeClr val="bg1"/>
                </a:solidFill>
              </a:defRPr>
            </a:lvl4pPr>
            <a:lvl5pPr marL="0" indent="0">
              <a:lnSpc>
                <a:spcPct val="100000"/>
              </a:lnSpc>
              <a:spcAft>
                <a:spcPts val="0"/>
              </a:spcAft>
              <a:buFontTx/>
              <a:buNone/>
              <a:defRPr sz="1300" b="0">
                <a:solidFill>
                  <a:schemeClr val="bg1"/>
                </a:solidFill>
              </a:defRPr>
            </a:lvl5pPr>
            <a:lvl6pPr marL="0" indent="0">
              <a:lnSpc>
                <a:spcPct val="100000"/>
              </a:lnSpc>
              <a:spcAft>
                <a:spcPts val="0"/>
              </a:spcAft>
              <a:buFontTx/>
              <a:buNone/>
              <a:defRPr sz="1300" b="0">
                <a:solidFill>
                  <a:schemeClr val="bg1"/>
                </a:solidFill>
              </a:defRPr>
            </a:lvl6pPr>
            <a:lvl7pPr marL="0" indent="0">
              <a:lnSpc>
                <a:spcPct val="100000"/>
              </a:lnSpc>
              <a:spcAft>
                <a:spcPts val="0"/>
              </a:spcAft>
              <a:buFontTx/>
              <a:buNone/>
              <a:defRPr sz="1300" b="0">
                <a:solidFill>
                  <a:schemeClr val="bg1"/>
                </a:solidFill>
              </a:defRPr>
            </a:lvl7pPr>
            <a:lvl8pPr marL="0" indent="0">
              <a:lnSpc>
                <a:spcPct val="100000"/>
              </a:lnSpc>
              <a:spcAft>
                <a:spcPts val="0"/>
              </a:spcAft>
              <a:buFontTx/>
              <a:buNone/>
              <a:defRPr sz="1300" b="0">
                <a:solidFill>
                  <a:schemeClr val="bg1"/>
                </a:solidFill>
              </a:defRPr>
            </a:lvl8pPr>
            <a:lvl9pPr marL="0" indent="0">
              <a:lnSpc>
                <a:spcPct val="100000"/>
              </a:lnSpc>
              <a:spcAft>
                <a:spcPts val="0"/>
              </a:spcAft>
              <a:buFontTx/>
              <a:buNone/>
              <a:defRPr sz="1300" b="0">
                <a:solidFill>
                  <a:schemeClr val="bg1"/>
                </a:solidFill>
              </a:defRPr>
            </a:lvl9pPr>
          </a:lstStyle>
          <a:p>
            <a:pPr lvl="0"/>
            <a:r>
              <a:rPr lang="en-US" dirty="0"/>
              <a:t>2023</a:t>
            </a:r>
          </a:p>
        </p:txBody>
      </p:sp>
      <p:sp>
        <p:nvSpPr>
          <p:cNvPr id="5" name="TextBox 4">
            <a:extLst>
              <a:ext uri="{FF2B5EF4-FFF2-40B4-BE49-F238E27FC236}">
                <a16:creationId xmlns:a16="http://schemas.microsoft.com/office/drawing/2014/main" id="{C92EDEFF-E4AC-F752-A7F7-6FDA4F7FAD96}"/>
              </a:ext>
            </a:extLst>
          </p:cNvPr>
          <p:cNvSpPr txBox="1"/>
          <p:nvPr userDrawn="1"/>
        </p:nvSpPr>
        <p:spPr>
          <a:xfrm>
            <a:off x="345600" y="4383609"/>
            <a:ext cx="6740510" cy="1600438"/>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This material is protected by copyright. Unless indicated otherwise, the University of Melbourne owns the copyright subsisting in the work.  Other than for the purposes permitted under the Copyright Act 1968, you are prohibited from downloading, republishing, retransmitting, reproducing or otherwise using any of the materials included in the work as standalone files. Sharing University teaching materials with third-parties, including uploading lecture notes, slides or recordings to websites constitutes academic misconduct and may be subject to penalties.  For more  information: </a:t>
            </a:r>
            <a:r>
              <a:rPr lang="en-AU" sz="1300" u="sng" dirty="0">
                <a:solidFill>
                  <a:schemeClr val="bg1"/>
                </a:solidFill>
                <a:effectLst/>
                <a:latin typeface="+mn-lt"/>
                <a:ea typeface="Times New Roman" panose="02020603050405020304" pitchFamily="18" charset="0"/>
                <a:hlinkClick r:id="rId2" tooltip="https://academicintegrity.unimelb.edu.au/">
                  <a:extLst>
                    <a:ext uri="{A12FA001-AC4F-418D-AE19-62706E023703}">
                      <ahyp:hlinkClr xmlns:ahyp="http://schemas.microsoft.com/office/drawing/2018/hyperlinkcolor" val="tx"/>
                    </a:ext>
                  </a:extLst>
                </a:hlinkClick>
              </a:rPr>
              <a:t>Academic Integrity at the University of Melbourne</a:t>
            </a:r>
            <a:endParaRPr lang="en-AU" sz="1300" dirty="0">
              <a:latin typeface="+mn-lt"/>
            </a:endParaRPr>
          </a:p>
        </p:txBody>
      </p:sp>
      <p:sp>
        <p:nvSpPr>
          <p:cNvPr id="7" name="TextBox 6">
            <a:extLst>
              <a:ext uri="{FF2B5EF4-FFF2-40B4-BE49-F238E27FC236}">
                <a16:creationId xmlns:a16="http://schemas.microsoft.com/office/drawing/2014/main" id="{28028CA4-95B8-600A-C697-0F46636ABD89}"/>
              </a:ext>
            </a:extLst>
          </p:cNvPr>
          <p:cNvSpPr txBox="1"/>
          <p:nvPr userDrawn="1"/>
        </p:nvSpPr>
        <p:spPr>
          <a:xfrm>
            <a:off x="344500" y="5962159"/>
            <a:ext cx="6740510" cy="400110"/>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Requests and enquiries concerning reproduction and rights should be addressed to the University Copyright Office, The University of Melbourne: </a:t>
            </a:r>
            <a:r>
              <a:rPr lang="en-AU" sz="1300" u="sng" dirty="0">
                <a:solidFill>
                  <a:schemeClr val="bg1"/>
                </a:solidFill>
                <a:effectLst/>
                <a:latin typeface="+mn-lt"/>
                <a:ea typeface="Times New Roman" panose="02020603050405020304" pitchFamily="18" charset="0"/>
                <a:hlinkClick r:id="rId3">
                  <a:extLst>
                    <a:ext uri="{A12FA001-AC4F-418D-AE19-62706E023703}">
                      <ahyp:hlinkClr xmlns:ahyp="http://schemas.microsoft.com/office/drawing/2018/hyperlinkcolor" val="tx"/>
                    </a:ext>
                  </a:extLst>
                </a:hlinkClick>
              </a:rPr>
              <a:t>copyright-office@unimelb.edu.au</a:t>
            </a:r>
            <a:endParaRPr lang="en-AU" sz="1300" dirty="0">
              <a:latin typeface="+mn-lt"/>
            </a:endParaRPr>
          </a:p>
        </p:txBody>
      </p:sp>
      <p:sp>
        <p:nvSpPr>
          <p:cNvPr id="3" name="Text Placeholder 10">
            <a:extLst>
              <a:ext uri="{FF2B5EF4-FFF2-40B4-BE49-F238E27FC236}">
                <a16:creationId xmlns:a16="http://schemas.microsoft.com/office/drawing/2014/main" id="{9C45E1F2-EF0D-321D-535C-967DD7ADCCEB}"/>
              </a:ext>
            </a:extLst>
          </p:cNvPr>
          <p:cNvSpPr>
            <a:spLocks noGrp="1"/>
          </p:cNvSpPr>
          <p:nvPr>
            <p:ph type="body" sz="quarter" idx="18" hasCustomPrompt="1"/>
          </p:nvPr>
        </p:nvSpPr>
        <p:spPr>
          <a:xfrm>
            <a:off x="7671175" y="6167945"/>
            <a:ext cx="417522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2732123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7687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_style2">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84500"/>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Tree>
    <p:extLst>
      <p:ext uri="{BB962C8B-B14F-4D97-AF65-F5344CB8AC3E}">
        <p14:creationId xmlns:p14="http://schemas.microsoft.com/office/powerpoint/2010/main" val="41548585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2">
    <p:spTree>
      <p:nvGrpSpPr>
        <p:cNvPr id="1" name=""/>
        <p:cNvGrpSpPr/>
        <p:nvPr/>
      </p:nvGrpSpPr>
      <p:grpSpPr>
        <a:xfrm>
          <a:off x="0" y="0"/>
          <a:ext cx="0" cy="0"/>
          <a:chOff x="0" y="0"/>
          <a:chExt cx="0" cy="0"/>
        </a:xfrm>
      </p:grpSpPr>
      <p:pic>
        <p:nvPicPr>
          <p:cNvPr id="4" name="Picture 3" descr="People walking under a building&#10;&#10;Description automatically generated">
            <a:extLst>
              <a:ext uri="{FF2B5EF4-FFF2-40B4-BE49-F238E27FC236}">
                <a16:creationId xmlns:a16="http://schemas.microsoft.com/office/drawing/2014/main" id="{E7BA957F-097B-72FD-DF04-76077458E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798261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21501597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Divider_with image1_style2">
    <p:spTree>
      <p:nvGrpSpPr>
        <p:cNvPr id="1" name=""/>
        <p:cNvGrpSpPr/>
        <p:nvPr/>
      </p:nvGrpSpPr>
      <p:grpSpPr>
        <a:xfrm>
          <a:off x="0" y="0"/>
          <a:ext cx="0" cy="0"/>
          <a:chOff x="0" y="0"/>
          <a:chExt cx="0" cy="0"/>
        </a:xfrm>
      </p:grpSpPr>
      <p:pic>
        <p:nvPicPr>
          <p:cNvPr id="4" name="Picture 3" descr="A statue of a person&#10;&#10;Description automatically generated">
            <a:extLst>
              <a:ext uri="{FF2B5EF4-FFF2-40B4-BE49-F238E27FC236}">
                <a16:creationId xmlns:a16="http://schemas.microsoft.com/office/drawing/2014/main" id="{64F275E5-53E4-CE84-BFBA-2BC612A005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7361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771786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_Divider_with image1_style2">
    <p:spTree>
      <p:nvGrpSpPr>
        <p:cNvPr id="1" name=""/>
        <p:cNvGrpSpPr/>
        <p:nvPr/>
      </p:nvGrpSpPr>
      <p:grpSpPr>
        <a:xfrm>
          <a:off x="0" y="0"/>
          <a:ext cx="0" cy="0"/>
          <a:chOff x="0" y="0"/>
          <a:chExt cx="0" cy="0"/>
        </a:xfrm>
      </p:grpSpPr>
      <p:pic>
        <p:nvPicPr>
          <p:cNvPr id="9" name="Picture 8" descr="A close-up of a hand pointing at a model&#10;&#10;Description automatically generated">
            <a:extLst>
              <a:ext uri="{FF2B5EF4-FFF2-40B4-BE49-F238E27FC236}">
                <a16:creationId xmlns:a16="http://schemas.microsoft.com/office/drawing/2014/main" id="{BD33C0EC-1329-DF67-CC34-2186429DE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302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569239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791767944"/>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_style3">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2"/>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75549999"/>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3">
    <p:spTree>
      <p:nvGrpSpPr>
        <p:cNvPr id="1" name=""/>
        <p:cNvGrpSpPr/>
        <p:nvPr/>
      </p:nvGrpSpPr>
      <p:grpSpPr>
        <a:xfrm>
          <a:off x="0" y="0"/>
          <a:ext cx="0" cy="0"/>
          <a:chOff x="0" y="0"/>
          <a:chExt cx="0" cy="0"/>
        </a:xfrm>
      </p:grpSpPr>
      <p:pic>
        <p:nvPicPr>
          <p:cNvPr id="13" name="Picture 12" descr="A group of people sitting in a room&#10;&#10;Description automatically generated">
            <a:extLst>
              <a:ext uri="{FF2B5EF4-FFF2-40B4-BE49-F238E27FC236}">
                <a16:creationId xmlns:a16="http://schemas.microsoft.com/office/drawing/2014/main" id="{28BDE54C-00E9-5879-B7AA-CBAEB4B20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833715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7394206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3">
    <p:spTree>
      <p:nvGrpSpPr>
        <p:cNvPr id="1" name=""/>
        <p:cNvGrpSpPr/>
        <p:nvPr/>
      </p:nvGrpSpPr>
      <p:grpSpPr>
        <a:xfrm>
          <a:off x="0" y="0"/>
          <a:ext cx="0" cy="0"/>
          <a:chOff x="0" y="0"/>
          <a:chExt cx="0" cy="0"/>
        </a:xfrm>
      </p:grpSpPr>
      <p:pic>
        <p:nvPicPr>
          <p:cNvPr id="9" name="Picture 8" descr="A building with a curved roof&#10;&#10;Description automatically generated">
            <a:extLst>
              <a:ext uri="{FF2B5EF4-FFF2-40B4-BE49-F238E27FC236}">
                <a16:creationId xmlns:a16="http://schemas.microsoft.com/office/drawing/2014/main" id="{7C32C17A-0B3D-3605-0770-718372FF11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01253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32562100"/>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3">
    <p:spTree>
      <p:nvGrpSpPr>
        <p:cNvPr id="1" name=""/>
        <p:cNvGrpSpPr/>
        <p:nvPr/>
      </p:nvGrpSpPr>
      <p:grpSpPr>
        <a:xfrm>
          <a:off x="0" y="0"/>
          <a:ext cx="0" cy="0"/>
          <a:chOff x="0" y="0"/>
          <a:chExt cx="0" cy="0"/>
        </a:xfrm>
      </p:grpSpPr>
      <p:pic>
        <p:nvPicPr>
          <p:cNvPr id="9" name="Picture 8" descr="A person using a device to connect wires&#10;&#10;Description automatically generated">
            <a:extLst>
              <a:ext uri="{FF2B5EF4-FFF2-40B4-BE49-F238E27FC236}">
                <a16:creationId xmlns:a16="http://schemas.microsoft.com/office/drawing/2014/main" id="{C1287946-82AF-7FA8-19A7-7FCE04906E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4238323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07210404"/>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_style4">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BC1A7"/>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51568747"/>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4">
    <p:spTree>
      <p:nvGrpSpPr>
        <p:cNvPr id="1" name=""/>
        <p:cNvGrpSpPr/>
        <p:nvPr/>
      </p:nvGrpSpPr>
      <p:grpSpPr>
        <a:xfrm>
          <a:off x="0" y="0"/>
          <a:ext cx="0" cy="0"/>
          <a:chOff x="0" y="0"/>
          <a:chExt cx="0" cy="0"/>
        </a:xfrm>
      </p:grpSpPr>
      <p:pic>
        <p:nvPicPr>
          <p:cNvPr id="4" name="Picture 3" descr="A group of people walking in a park&#10;&#10;Description automatically generated">
            <a:extLst>
              <a:ext uri="{FF2B5EF4-FFF2-40B4-BE49-F238E27FC236}">
                <a16:creationId xmlns:a16="http://schemas.microsoft.com/office/drawing/2014/main" id="{09DD1383-E7A4-AA64-8DE9-6E004E157B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077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6669143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4">
    <p:spTree>
      <p:nvGrpSpPr>
        <p:cNvPr id="1" name=""/>
        <p:cNvGrpSpPr/>
        <p:nvPr/>
      </p:nvGrpSpPr>
      <p:grpSpPr>
        <a:xfrm>
          <a:off x="0" y="0"/>
          <a:ext cx="0" cy="0"/>
          <a:chOff x="0" y="0"/>
          <a:chExt cx="0" cy="0"/>
        </a:xfrm>
      </p:grpSpPr>
      <p:pic>
        <p:nvPicPr>
          <p:cNvPr id="4" name="Picture 3" descr="A building under construction with trees&#10;&#10;Description automatically generated">
            <a:extLst>
              <a:ext uri="{FF2B5EF4-FFF2-40B4-BE49-F238E27FC236}">
                <a16:creationId xmlns:a16="http://schemas.microsoft.com/office/drawing/2014/main" id="{51F6BE47-7A2B-FB6B-ED40-B51129631D0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55124"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19196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4">
    <p:spTree>
      <p:nvGrpSpPr>
        <p:cNvPr id="1" name=""/>
        <p:cNvGrpSpPr/>
        <p:nvPr/>
      </p:nvGrpSpPr>
      <p:grpSpPr>
        <a:xfrm>
          <a:off x="0" y="0"/>
          <a:ext cx="0" cy="0"/>
          <a:chOff x="0" y="0"/>
          <a:chExt cx="0" cy="0"/>
        </a:xfrm>
      </p:grpSpPr>
      <p:pic>
        <p:nvPicPr>
          <p:cNvPr id="11" name="Picture 10" descr="A person holding a piece of wood&#10;&#10;Description automatically generated">
            <a:extLst>
              <a:ext uri="{FF2B5EF4-FFF2-40B4-BE49-F238E27FC236}">
                <a16:creationId xmlns:a16="http://schemas.microsoft.com/office/drawing/2014/main" id="{94024269-2550-85C4-BE45-B706209E4BA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8792978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2"/>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88723145"/>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over_style5">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2C421D"/>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732104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5">
    <p:spTree>
      <p:nvGrpSpPr>
        <p:cNvPr id="1" name=""/>
        <p:cNvGrpSpPr/>
        <p:nvPr/>
      </p:nvGrpSpPr>
      <p:grpSpPr>
        <a:xfrm>
          <a:off x="0" y="0"/>
          <a:ext cx="0" cy="0"/>
          <a:chOff x="0" y="0"/>
          <a:chExt cx="0" cy="0"/>
        </a:xfrm>
      </p:grpSpPr>
      <p:pic>
        <p:nvPicPr>
          <p:cNvPr id="11" name="Picture 10" descr="People walking in a park&#10;&#10;Description automatically generated">
            <a:extLst>
              <a:ext uri="{FF2B5EF4-FFF2-40B4-BE49-F238E27FC236}">
                <a16:creationId xmlns:a16="http://schemas.microsoft.com/office/drawing/2014/main" id="{8FBDA43B-799F-3262-242C-5B80658B72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458123"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926217321"/>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5">
    <p:spTree>
      <p:nvGrpSpPr>
        <p:cNvPr id="1" name=""/>
        <p:cNvGrpSpPr/>
        <p:nvPr/>
      </p:nvGrpSpPr>
      <p:grpSpPr>
        <a:xfrm>
          <a:off x="0" y="0"/>
          <a:ext cx="0" cy="0"/>
          <a:chOff x="0" y="0"/>
          <a:chExt cx="0" cy="0"/>
        </a:xfrm>
      </p:grpSpPr>
      <p:pic>
        <p:nvPicPr>
          <p:cNvPr id="8" name="Picture 7" descr="People walking past a building with ivy on the side&#10;&#10;Description automatically generated">
            <a:extLst>
              <a:ext uri="{FF2B5EF4-FFF2-40B4-BE49-F238E27FC236}">
                <a16:creationId xmlns:a16="http://schemas.microsoft.com/office/drawing/2014/main" id="{DCDBF601-CDA9-69BA-756C-E76F557DDD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3495"/>
            <a:ext cx="8937748" cy="6120000"/>
          </a:xfrm>
          <a:prstGeom prst="rect">
            <a:avLst/>
          </a:prstGeom>
        </p:spPr>
      </p:pic>
      <p:sp>
        <p:nvSpPr>
          <p:cNvPr id="3" name="Picture Placeholder 7">
            <a:extLst>
              <a:ext uri="{FF2B5EF4-FFF2-40B4-BE49-F238E27FC236}">
                <a16:creationId xmlns:a16="http://schemas.microsoft.com/office/drawing/2014/main" id="{F974493F-F173-1F00-92AD-843885FB6183}"/>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2386867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5">
    <p:spTree>
      <p:nvGrpSpPr>
        <p:cNvPr id="1" name=""/>
        <p:cNvGrpSpPr/>
        <p:nvPr/>
      </p:nvGrpSpPr>
      <p:grpSpPr>
        <a:xfrm>
          <a:off x="0" y="0"/>
          <a:ext cx="0" cy="0"/>
          <a:chOff x="0" y="0"/>
          <a:chExt cx="0" cy="0"/>
        </a:xfrm>
      </p:grpSpPr>
      <p:pic>
        <p:nvPicPr>
          <p:cNvPr id="4" name="Picture 3" descr="Close-up of hands cutting a plant&#10;&#10;Description automatically generated">
            <a:extLst>
              <a:ext uri="{FF2B5EF4-FFF2-40B4-BE49-F238E27FC236}">
                <a16:creationId xmlns:a16="http://schemas.microsoft.com/office/drawing/2014/main" id="{C8DC821B-C317-1417-9462-5276076292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3496"/>
            <a:ext cx="91162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8410877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5">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288818274"/>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Cover_style6">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823509555"/>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6">
    <p:spTree>
      <p:nvGrpSpPr>
        <p:cNvPr id="1" name=""/>
        <p:cNvGrpSpPr/>
        <p:nvPr/>
      </p:nvGrpSpPr>
      <p:grpSpPr>
        <a:xfrm>
          <a:off x="0" y="0"/>
          <a:ext cx="0" cy="0"/>
          <a:chOff x="0" y="0"/>
          <a:chExt cx="0" cy="0"/>
        </a:xfrm>
      </p:grpSpPr>
      <p:pic>
        <p:nvPicPr>
          <p:cNvPr id="11" name="Picture 10" descr="A building with a large building and a green field&#10;&#10;Description automatically generated with medium confidence">
            <a:extLst>
              <a:ext uri="{FF2B5EF4-FFF2-40B4-BE49-F238E27FC236}">
                <a16:creationId xmlns:a16="http://schemas.microsoft.com/office/drawing/2014/main" id="{77EEB241-B6FD-9EE4-0BB0-B7F11F8418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7446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30538654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6">
    <p:spTree>
      <p:nvGrpSpPr>
        <p:cNvPr id="1" name=""/>
        <p:cNvGrpSpPr/>
        <p:nvPr/>
      </p:nvGrpSpPr>
      <p:grpSpPr>
        <a:xfrm>
          <a:off x="0" y="0"/>
          <a:ext cx="0" cy="0"/>
          <a:chOff x="0" y="0"/>
          <a:chExt cx="0" cy="0"/>
        </a:xfrm>
      </p:grpSpPr>
      <p:pic>
        <p:nvPicPr>
          <p:cNvPr id="9" name="Picture 8" descr="A pencil and a piece of wood&#10;&#10;Description automatically generated">
            <a:extLst>
              <a:ext uri="{FF2B5EF4-FFF2-40B4-BE49-F238E27FC236}">
                <a16:creationId xmlns:a16="http://schemas.microsoft.com/office/drawing/2014/main" id="{65E1F172-EAEE-9E3C-B801-E4B9030BEEF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6744" b="4383"/>
          <a:stretch/>
        </p:blipFill>
        <p:spPr>
          <a:xfrm>
            <a:off x="345599" y="342000"/>
            <a:ext cx="809066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88317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6">
    <p:spTree>
      <p:nvGrpSpPr>
        <p:cNvPr id="1" name=""/>
        <p:cNvGrpSpPr/>
        <p:nvPr/>
      </p:nvGrpSpPr>
      <p:grpSpPr>
        <a:xfrm>
          <a:off x="0" y="0"/>
          <a:ext cx="0" cy="0"/>
          <a:chOff x="0" y="0"/>
          <a:chExt cx="0" cy="0"/>
        </a:xfrm>
      </p:grpSpPr>
      <p:pic>
        <p:nvPicPr>
          <p:cNvPr id="11" name="Picture 10" descr="A close-up of a person holding a pair of hands&#10;&#10;Description automatically generated">
            <a:extLst>
              <a:ext uri="{FF2B5EF4-FFF2-40B4-BE49-F238E27FC236}">
                <a16:creationId xmlns:a16="http://schemas.microsoft.com/office/drawing/2014/main" id="{BE621E20-3B1D-7A47-09A7-7ADB27759E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9245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90000"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57575195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22108170"/>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ver_style7">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73234B"/>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EB7BB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8180457"/>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7">
    <p:spTree>
      <p:nvGrpSpPr>
        <p:cNvPr id="1" name=""/>
        <p:cNvGrpSpPr/>
        <p:nvPr/>
      </p:nvGrpSpPr>
      <p:grpSpPr>
        <a:xfrm>
          <a:off x="0" y="0"/>
          <a:ext cx="0" cy="0"/>
          <a:chOff x="0" y="0"/>
          <a:chExt cx="0" cy="0"/>
        </a:xfrm>
      </p:grpSpPr>
      <p:pic>
        <p:nvPicPr>
          <p:cNvPr id="4" name="Picture 3" descr="A building with trees and grass&#10;&#10;Description automatically generated">
            <a:extLst>
              <a:ext uri="{FF2B5EF4-FFF2-40B4-BE49-F238E27FC236}">
                <a16:creationId xmlns:a16="http://schemas.microsoft.com/office/drawing/2014/main" id="{DBF2D86A-A44D-CDAE-9665-F4BFF676E9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6448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2903895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7">
    <p:spTree>
      <p:nvGrpSpPr>
        <p:cNvPr id="1" name=""/>
        <p:cNvGrpSpPr/>
        <p:nvPr/>
      </p:nvGrpSpPr>
      <p:grpSpPr>
        <a:xfrm>
          <a:off x="0" y="0"/>
          <a:ext cx="0" cy="0"/>
          <a:chOff x="0" y="0"/>
          <a:chExt cx="0" cy="0"/>
        </a:xfrm>
      </p:grpSpPr>
      <p:pic>
        <p:nvPicPr>
          <p:cNvPr id="4" name="Picture 3" descr="A multi-story building with colorful balconies&#10;&#10;Description automatically generated">
            <a:extLst>
              <a:ext uri="{FF2B5EF4-FFF2-40B4-BE49-F238E27FC236}">
                <a16:creationId xmlns:a16="http://schemas.microsoft.com/office/drawing/2014/main" id="{90EADEC2-C4A9-6F30-E874-B83B9B07C3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9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114837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7">
    <p:spTree>
      <p:nvGrpSpPr>
        <p:cNvPr id="1" name=""/>
        <p:cNvGrpSpPr/>
        <p:nvPr/>
      </p:nvGrpSpPr>
      <p:grpSpPr>
        <a:xfrm>
          <a:off x="0" y="0"/>
          <a:ext cx="0" cy="0"/>
          <a:chOff x="0" y="0"/>
          <a:chExt cx="0" cy="0"/>
        </a:xfrm>
      </p:grpSpPr>
      <p:pic>
        <p:nvPicPr>
          <p:cNvPr id="4" name="Picture 3" descr="A person holding a file&#10;&#10;Description automatically generated">
            <a:extLst>
              <a:ext uri="{FF2B5EF4-FFF2-40B4-BE49-F238E27FC236}">
                <a16:creationId xmlns:a16="http://schemas.microsoft.com/office/drawing/2014/main" id="{F3379736-BE03-EE69-3641-E7C70EC45D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634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6450669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7">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92411636"/>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over_style8">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1"/>
          </a:solidFill>
        </p:spPr>
        <p:txBody>
          <a:bodyPr lIns="180000" tIns="144000" rIns="144000" bIns="144000"/>
          <a:lstStyle>
            <a:lvl1pPr marL="0">
              <a:lnSpc>
                <a:spcPts val="1400"/>
              </a:lnSpc>
              <a:spcAft>
                <a:spcPts val="0"/>
              </a:spcAft>
              <a:buFontTx/>
              <a:buNone/>
              <a:defRPr sz="1200" b="1">
                <a:solidFill>
                  <a:schemeClr val="bg1"/>
                </a:solidFill>
              </a:defRPr>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001545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8">
    <p:spTree>
      <p:nvGrpSpPr>
        <p:cNvPr id="1" name=""/>
        <p:cNvGrpSpPr/>
        <p:nvPr/>
      </p:nvGrpSpPr>
      <p:grpSpPr>
        <a:xfrm>
          <a:off x="0" y="0"/>
          <a:ext cx="0" cy="0"/>
          <a:chOff x="0" y="0"/>
          <a:chExt cx="0" cy="0"/>
        </a:xfrm>
      </p:grpSpPr>
      <p:pic>
        <p:nvPicPr>
          <p:cNvPr id="4" name="Picture 3" descr="A person walking past a building&#10;&#10;Description automatically generated">
            <a:extLst>
              <a:ext uri="{FF2B5EF4-FFF2-40B4-BE49-F238E27FC236}">
                <a16:creationId xmlns:a16="http://schemas.microsoft.com/office/drawing/2014/main" id="{D5753130-04CA-4F8F-7BD2-B29CCF71AB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535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076727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8">
    <p:spTree>
      <p:nvGrpSpPr>
        <p:cNvPr id="1" name=""/>
        <p:cNvGrpSpPr/>
        <p:nvPr/>
      </p:nvGrpSpPr>
      <p:grpSpPr>
        <a:xfrm>
          <a:off x="0" y="0"/>
          <a:ext cx="0" cy="0"/>
          <a:chOff x="0" y="0"/>
          <a:chExt cx="0" cy="0"/>
        </a:xfrm>
      </p:grpSpPr>
      <p:pic>
        <p:nvPicPr>
          <p:cNvPr id="9" name="Picture 8" descr="A sculpture outside of a building&#10;&#10;Description automatically generated">
            <a:extLst>
              <a:ext uri="{FF2B5EF4-FFF2-40B4-BE49-F238E27FC236}">
                <a16:creationId xmlns:a16="http://schemas.microsoft.com/office/drawing/2014/main" id="{5BC26AC2-AAA3-E94F-770E-788A91004B3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30393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4246968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8">
    <p:spTree>
      <p:nvGrpSpPr>
        <p:cNvPr id="1" name=""/>
        <p:cNvGrpSpPr/>
        <p:nvPr/>
      </p:nvGrpSpPr>
      <p:grpSpPr>
        <a:xfrm>
          <a:off x="0" y="0"/>
          <a:ext cx="0" cy="0"/>
          <a:chOff x="0" y="0"/>
          <a:chExt cx="0" cy="0"/>
        </a:xfrm>
      </p:grpSpPr>
      <p:pic>
        <p:nvPicPr>
          <p:cNvPr id="4" name="Picture 3" descr="A person cleaning a surface&#10;&#10;Description automatically generated">
            <a:extLst>
              <a:ext uri="{FF2B5EF4-FFF2-40B4-BE49-F238E27FC236}">
                <a16:creationId xmlns:a16="http://schemas.microsoft.com/office/drawing/2014/main" id="{F496D6BF-DBBA-5AEF-EF97-08D170EF1C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023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5645031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8">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3314554331"/>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AF5FD65-719B-D18F-F8E8-E39C71BCBD2F}"/>
              </a:ext>
            </a:extLst>
          </p:cNvPr>
          <p:cNvSpPr>
            <a:spLocks noGrp="1"/>
          </p:cNvSpPr>
          <p:nvPr>
            <p:ph type="title"/>
          </p:nvPr>
        </p:nvSpPr>
        <p:spPr/>
        <p:txBody>
          <a:bodyPr/>
          <a:lstStyle/>
          <a:p>
            <a:r>
              <a:rPr lang="en-US"/>
              <a:t>Click to edit Master title style</a:t>
            </a:r>
            <a:endParaRPr lang="en-AU"/>
          </a:p>
        </p:txBody>
      </p:sp>
      <p:sp>
        <p:nvSpPr>
          <p:cNvPr id="2" name="Footer Placeholder 1">
            <a:extLst>
              <a:ext uri="{FF2B5EF4-FFF2-40B4-BE49-F238E27FC236}">
                <a16:creationId xmlns:a16="http://schemas.microsoft.com/office/drawing/2014/main" id="{AEAC15A5-6D74-A5DE-3613-65783B641150}"/>
              </a:ext>
            </a:extLst>
          </p:cNvPr>
          <p:cNvSpPr>
            <a:spLocks noGrp="1"/>
          </p:cNvSpPr>
          <p:nvPr>
            <p:ph type="ftr" sz="quarter" idx="13"/>
          </p:nvPr>
        </p:nvSpPr>
        <p:spPr/>
        <p:txBody>
          <a:bodyPr/>
          <a:lstStyle/>
          <a:p>
            <a:r>
              <a:rPr lang="en-AU"/>
              <a:t>[Insert Identifier] | [Insert Report Title]</a:t>
            </a:r>
            <a:endParaRPr lang="en-AU" dirty="0"/>
          </a:p>
        </p:txBody>
      </p:sp>
      <p:sp>
        <p:nvSpPr>
          <p:cNvPr id="4" name="Slide Number Placeholder 3">
            <a:extLst>
              <a:ext uri="{FF2B5EF4-FFF2-40B4-BE49-F238E27FC236}">
                <a16:creationId xmlns:a16="http://schemas.microsoft.com/office/drawing/2014/main" id="{435F3ED5-6AAA-3BC2-D5BA-F3F1F1F148E4}"/>
              </a:ext>
            </a:extLst>
          </p:cNvPr>
          <p:cNvSpPr>
            <a:spLocks noGrp="1"/>
          </p:cNvSpPr>
          <p:nvPr>
            <p:ph type="sldNum" sz="quarter" idx="14"/>
          </p:nvPr>
        </p:nvSpPr>
        <p:spPr/>
        <p:txBody>
          <a:bodyPr/>
          <a:lstStyle/>
          <a:p>
            <a:r>
              <a:rPr lang="en-AU"/>
              <a:t>Page [</a:t>
            </a:r>
            <a:fld id="{29D5CE74-914C-4689-99FC-1AEF49CE2B47}" type="slidenum">
              <a:rPr smtClean="0"/>
              <a:pPr/>
              <a:t>‹#›</a:t>
            </a:fld>
            <a:r>
              <a:t>]</a:t>
            </a:r>
            <a:endParaRPr lang="en-AU" dirty="0"/>
          </a:p>
        </p:txBody>
      </p:sp>
    </p:spTree>
    <p:extLst>
      <p:ext uri="{BB962C8B-B14F-4D97-AF65-F5344CB8AC3E}">
        <p14:creationId xmlns:p14="http://schemas.microsoft.com/office/powerpoint/2010/main" val="5465479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267260" y="6437192"/>
            <a:ext cx="1579139" cy="216000"/>
          </a:xfrm>
          <a:prstGeom prst="rect">
            <a:avLst/>
          </a:prstGeom>
        </p:spPr>
        <p:txBody>
          <a:bodyPr vert="horz" lIns="0" tIns="0" rIns="0" bIns="0" rtlCol="0" anchor="ctr"/>
          <a:lstStyle>
            <a:lvl1pPr algn="r">
              <a:lnSpc>
                <a:spcPts val="1200"/>
              </a:lnSpc>
              <a:defRPr lang="en-AU" sz="1000" b="1" smtClean="0">
                <a:solidFill>
                  <a:schemeClr val="bg2"/>
                </a:solidFill>
                <a:latin typeface="+mn-lt"/>
                <a:cs typeface="Arial" pitchFamily="34" charset="0"/>
              </a:defRPr>
            </a:lvl1pPr>
          </a:lstStyle>
          <a:p>
            <a:r>
              <a:rPr lang="en-AU" dirty="0"/>
              <a:t>Page [</a:t>
            </a:r>
            <a:fld id="{29D5CE74-914C-4689-99FC-1AEF49CE2B47}" type="slidenum">
              <a:rPr smtClean="0"/>
              <a:pPr/>
              <a:t>‹#›</a:t>
            </a:fld>
            <a:r>
              <a:rPr dirty="0"/>
              <a:t>]</a:t>
            </a:r>
            <a:endParaRPr lang="en-AU" dirty="0"/>
          </a:p>
        </p:txBody>
      </p:sp>
      <p:sp>
        <p:nvSpPr>
          <p:cNvPr id="4" name="Footer Placeholder 3">
            <a:extLst>
              <a:ext uri="{FF2B5EF4-FFF2-40B4-BE49-F238E27FC236}">
                <a16:creationId xmlns:a16="http://schemas.microsoft.com/office/drawing/2014/main" id="{D379F384-E22A-4C04-2D3F-76823C04012A}"/>
              </a:ext>
            </a:extLst>
          </p:cNvPr>
          <p:cNvSpPr>
            <a:spLocks noGrp="1"/>
          </p:cNvSpPr>
          <p:nvPr>
            <p:ph type="ftr" sz="quarter" idx="3"/>
          </p:nvPr>
        </p:nvSpPr>
        <p:spPr>
          <a:xfrm>
            <a:off x="345600" y="6437192"/>
            <a:ext cx="4114800" cy="216000"/>
          </a:xfrm>
          <a:prstGeom prst="rect">
            <a:avLst/>
          </a:prstGeom>
        </p:spPr>
        <p:txBody>
          <a:bodyPr vert="horz" lIns="0" tIns="0" rIns="0" bIns="0" rtlCol="0" anchor="ctr"/>
          <a:lstStyle>
            <a:lvl1pPr algn="l">
              <a:lnSpc>
                <a:spcPts val="1200"/>
              </a:lnSpc>
              <a:defRPr sz="1000" b="1">
                <a:solidFill>
                  <a:schemeClr val="bg2"/>
                </a:solidFill>
              </a:defRPr>
            </a:lvl1pPr>
          </a:lstStyle>
          <a:p>
            <a:r>
              <a:rPr lang="en-AU" dirty="0"/>
              <a:t>[Insert Identifier] | [Insert Report Title]</a:t>
            </a:r>
          </a:p>
        </p:txBody>
      </p:sp>
      <p:sp>
        <p:nvSpPr>
          <p:cNvPr id="3" name="Text Placeholder 2"/>
          <p:cNvSpPr>
            <a:spLocks noGrp="1"/>
          </p:cNvSpPr>
          <p:nvPr>
            <p:ph type="body" idx="1"/>
          </p:nvPr>
        </p:nvSpPr>
        <p:spPr>
          <a:xfrm>
            <a:off x="345600" y="1870255"/>
            <a:ext cx="11501912" cy="4273200"/>
          </a:xfrm>
          <a:prstGeom prst="rect">
            <a:avLst/>
          </a:prstGeom>
        </p:spPr>
        <p:txBody>
          <a:bodyPr vert="horz" lIns="0" tIns="0" rIns="0" bIns="0" rtlCol="0">
            <a:noAutofit/>
          </a:bodyPr>
          <a:lstStyle/>
          <a:p>
            <a:pPr lvl="0"/>
            <a:r>
              <a:rPr lang="en-AU" noProof="0" dirty="0"/>
              <a:t>Use the increase/decrease list level buttons to change styles</a:t>
            </a:r>
          </a:p>
          <a:p>
            <a:pPr lvl="1"/>
            <a:r>
              <a:rPr lang="en-AU" noProof="0" dirty="0"/>
              <a:t>Second level</a:t>
            </a:r>
          </a:p>
          <a:p>
            <a:pPr lvl="2"/>
            <a:r>
              <a:rPr lang="en-AU" noProof="0" dirty="0"/>
              <a:t>Third level</a:t>
            </a:r>
          </a:p>
          <a:p>
            <a:pPr lvl="3"/>
            <a:r>
              <a:rPr lang="en-AU" noProof="0" dirty="0"/>
              <a:t>Fourth level</a:t>
            </a:r>
          </a:p>
          <a:p>
            <a:pPr lvl="4"/>
            <a:r>
              <a:rPr lang="en-AU" noProof="0" dirty="0"/>
              <a:t>Fifth level</a:t>
            </a:r>
          </a:p>
          <a:p>
            <a:pPr lvl="5"/>
            <a:r>
              <a:rPr lang="en-AU" noProof="0" dirty="0"/>
              <a:t>Sixth level</a:t>
            </a:r>
          </a:p>
          <a:p>
            <a:pPr lvl="6"/>
            <a:r>
              <a:rPr lang="en-AU" noProof="0" dirty="0"/>
              <a:t>Seventh level</a:t>
            </a:r>
          </a:p>
          <a:p>
            <a:pPr lvl="7"/>
            <a:r>
              <a:rPr lang="en-AU" noProof="0" dirty="0"/>
              <a:t>Eighth level</a:t>
            </a:r>
          </a:p>
          <a:p>
            <a:pPr lvl="8"/>
            <a:r>
              <a:rPr lang="en-AU" noProof="0" dirty="0"/>
              <a:t>Ninth level</a:t>
            </a:r>
          </a:p>
        </p:txBody>
      </p:sp>
      <p:pic>
        <p:nvPicPr>
          <p:cNvPr id="8" name="Picture Placeholder 10" descr="Logo&#10;&#10;Description automatically generated">
            <a:extLst>
              <a:ext uri="{FF2B5EF4-FFF2-40B4-BE49-F238E27FC236}">
                <a16:creationId xmlns:a16="http://schemas.microsoft.com/office/drawing/2014/main" id="{186FA8D1-9047-12AF-8731-019C3A7101D9}"/>
              </a:ext>
            </a:extLst>
          </p:cNvPr>
          <p:cNvPicPr>
            <a:picLocks noChangeAspect="1"/>
          </p:cNvPicPr>
          <p:nvPr userDrawn="1"/>
        </p:nvPicPr>
        <p:blipFill rotWithShape="1">
          <a:blip r:embed="rId6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
        <p:nvSpPr>
          <p:cNvPr id="2" name="Title Placeholder 1"/>
          <p:cNvSpPr>
            <a:spLocks noGrp="1"/>
          </p:cNvSpPr>
          <p:nvPr>
            <p:ph type="title"/>
          </p:nvPr>
        </p:nvSpPr>
        <p:spPr>
          <a:xfrm>
            <a:off x="345600" y="342000"/>
            <a:ext cx="9695205" cy="531544"/>
          </a:xfrm>
          <a:prstGeom prst="rect">
            <a:avLst/>
          </a:prstGeom>
        </p:spPr>
        <p:txBody>
          <a:bodyPr vert="horz" lIns="0" tIns="0" rIns="0" bIns="0" rtlCol="0" anchor="t">
            <a:noAutofit/>
          </a:bodyPr>
          <a:lstStyle/>
          <a:p>
            <a:r>
              <a:rPr lang="en-US" noProof="0"/>
              <a:t>Click to edit Master title style</a:t>
            </a:r>
            <a:endParaRPr lang="en-AU" noProof="0" dirty="0"/>
          </a:p>
        </p:txBody>
      </p:sp>
    </p:spTree>
    <p:extLst>
      <p:ext uri="{BB962C8B-B14F-4D97-AF65-F5344CB8AC3E}">
        <p14:creationId xmlns:p14="http://schemas.microsoft.com/office/powerpoint/2010/main" val="206345408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5" r:id="rId3"/>
    <p:sldLayoutId id="2147483724" r:id="rId4"/>
    <p:sldLayoutId id="2147483726" r:id="rId5"/>
    <p:sldLayoutId id="2147483727" r:id="rId6"/>
    <p:sldLayoutId id="2147483728" r:id="rId7"/>
    <p:sldLayoutId id="2147483729" r:id="rId8"/>
    <p:sldLayoutId id="2147483730" r:id="rId9"/>
    <p:sldLayoutId id="2147483731" r:id="rId10"/>
    <p:sldLayoutId id="2147483682" r:id="rId11"/>
    <p:sldLayoutId id="2147483732" r:id="rId12"/>
    <p:sldLayoutId id="2147483733" r:id="rId13"/>
    <p:sldLayoutId id="2147483718" r:id="rId14"/>
    <p:sldLayoutId id="2147483719" r:id="rId15"/>
    <p:sldLayoutId id="2147483721" r:id="rId16"/>
    <p:sldLayoutId id="2147483673" r:id="rId17"/>
    <p:sldLayoutId id="2147483659" r:id="rId18"/>
    <p:sldLayoutId id="2147483720" r:id="rId19"/>
    <p:sldLayoutId id="2147483664" r:id="rId20"/>
    <p:sldLayoutId id="2147483710" r:id="rId21"/>
    <p:sldLayoutId id="2147483711" r:id="rId22"/>
    <p:sldLayoutId id="2147483734" r:id="rId23"/>
    <p:sldLayoutId id="2147483655" r:id="rId24"/>
    <p:sldLayoutId id="2147483742" r:id="rId25"/>
    <p:sldLayoutId id="2147483736" r:id="rId26"/>
    <p:sldLayoutId id="2147483738" r:id="rId27"/>
    <p:sldLayoutId id="2147483739" r:id="rId28"/>
    <p:sldLayoutId id="2147483740"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 id="2147483771" r:id="rId58"/>
    <p:sldLayoutId id="2147483772" r:id="rId59"/>
    <p:sldLayoutId id="2147483654" r:id="rId60"/>
  </p:sldLayoutIdLst>
  <p:hf hdr="0" dt="0"/>
  <p:txStyles>
    <p:title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p:titleStyle>
    <p:body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p:bodyStyle>
    <p:otherStyle>
      <a:defPPr>
        <a:defRPr lang="en-US"/>
      </a:defPPr>
      <a:lvl1pPr marL="0" algn="l" defTabSz="1218804" rtl="0" eaLnBrk="1" latinLnBrk="0" hangingPunct="1">
        <a:defRPr sz="1200" kern="1200">
          <a:solidFill>
            <a:schemeClr val="tx1"/>
          </a:solidFill>
          <a:latin typeface="+mn-lt"/>
          <a:ea typeface="+mn-ea"/>
          <a:cs typeface="+mn-cs"/>
        </a:defRPr>
      </a:lvl1pPr>
      <a:lvl2pPr marL="609402" algn="l" defTabSz="1218804" rtl="0" eaLnBrk="1" latinLnBrk="0" hangingPunct="1">
        <a:defRPr sz="1200" kern="1200">
          <a:solidFill>
            <a:schemeClr val="tx1"/>
          </a:solidFill>
          <a:latin typeface="+mn-lt"/>
          <a:ea typeface="+mn-ea"/>
          <a:cs typeface="+mn-cs"/>
        </a:defRPr>
      </a:lvl2pPr>
      <a:lvl3pPr marL="1218804" algn="l" defTabSz="1218804" rtl="0" eaLnBrk="1" latinLnBrk="0" hangingPunct="1">
        <a:defRPr sz="1200" kern="1200">
          <a:solidFill>
            <a:schemeClr val="tx1"/>
          </a:solidFill>
          <a:latin typeface="+mn-lt"/>
          <a:ea typeface="+mn-ea"/>
          <a:cs typeface="+mn-cs"/>
        </a:defRPr>
      </a:lvl3pPr>
      <a:lvl4pPr marL="1828206" algn="l" defTabSz="1218804" rtl="0" eaLnBrk="1" latinLnBrk="0" hangingPunct="1">
        <a:defRPr sz="1200" kern="1200">
          <a:solidFill>
            <a:schemeClr val="tx1"/>
          </a:solidFill>
          <a:latin typeface="+mn-lt"/>
          <a:ea typeface="+mn-ea"/>
          <a:cs typeface="+mn-cs"/>
        </a:defRPr>
      </a:lvl4pPr>
      <a:lvl5pPr marL="2437608" algn="l" defTabSz="1218804" rtl="0" eaLnBrk="1" latinLnBrk="0" hangingPunct="1">
        <a:defRPr sz="1200" kern="1200">
          <a:solidFill>
            <a:schemeClr val="tx1"/>
          </a:solidFill>
          <a:latin typeface="+mn-lt"/>
          <a:ea typeface="+mn-ea"/>
          <a:cs typeface="+mn-cs"/>
        </a:defRPr>
      </a:lvl5pPr>
      <a:lvl6pPr marL="3047009" algn="l" defTabSz="1218804" rtl="0" eaLnBrk="1" latinLnBrk="0" hangingPunct="1">
        <a:defRPr sz="1200" kern="1200">
          <a:solidFill>
            <a:schemeClr val="tx1"/>
          </a:solidFill>
          <a:latin typeface="+mn-lt"/>
          <a:ea typeface="+mn-ea"/>
          <a:cs typeface="+mn-cs"/>
        </a:defRPr>
      </a:lvl6pPr>
      <a:lvl7pPr marL="3656411" algn="l" defTabSz="1218804" rtl="0" eaLnBrk="1" latinLnBrk="0" hangingPunct="1">
        <a:defRPr sz="1200" kern="1200">
          <a:solidFill>
            <a:schemeClr val="tx1"/>
          </a:solidFill>
          <a:latin typeface="+mn-lt"/>
          <a:ea typeface="+mn-ea"/>
          <a:cs typeface="+mn-cs"/>
        </a:defRPr>
      </a:lvl7pPr>
      <a:lvl8pPr marL="4265813" algn="l" defTabSz="1218804" rtl="0" eaLnBrk="1" latinLnBrk="0" hangingPunct="1">
        <a:defRPr sz="1200" kern="1200">
          <a:solidFill>
            <a:schemeClr val="tx1"/>
          </a:solidFill>
          <a:latin typeface="+mn-lt"/>
          <a:ea typeface="+mn-ea"/>
          <a:cs typeface="+mn-cs"/>
        </a:defRPr>
      </a:lvl8pPr>
      <a:lvl9pPr marL="4875215" algn="l" defTabSz="1218804"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2" userDrawn="1">
          <p15:clr>
            <a:srgbClr val="F26B43"/>
          </p15:clr>
        </p15:guide>
        <p15:guide id="2" pos="2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33.png"/></Relationships>
</file>

<file path=ppt/slides/_rels/slide5.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35.jpeg"/></Relationships>
</file>

<file path=ppt/slides/_rels/slide7.xml.rels><?xml version="1.0" encoding="UTF-8" standalone="yes"?>
<Relationships xmlns="http://schemas.openxmlformats.org/package/2006/relationships"><Relationship Id="rId3" Type="http://schemas.openxmlformats.org/officeDocument/2006/relationships/image" Target="../media/image34.ppm"/><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36.png"/><Relationship Id="rId4" Type="http://schemas.openxmlformats.org/officeDocument/2006/relationships/image" Target="../media/image35.jpeg"/></Relationships>
</file>

<file path=ppt/slides/_rels/slide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39.png"/><Relationship Id="rId4" Type="http://schemas.openxmlformats.org/officeDocument/2006/relationships/image" Target="../media/image3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0319C9-5088-0D4D-07BB-014860B3693D}"/>
              </a:ext>
            </a:extLst>
          </p:cNvPr>
          <p:cNvSpPr>
            <a:spLocks noGrp="1"/>
          </p:cNvSpPr>
          <p:nvPr>
            <p:ph type="title"/>
          </p:nvPr>
        </p:nvSpPr>
        <p:spPr>
          <a:xfrm>
            <a:off x="345600" y="1916832"/>
            <a:ext cx="9001001" cy="2726013"/>
          </a:xfrm>
        </p:spPr>
        <p:txBody>
          <a:bodyPr/>
          <a:lstStyle/>
          <a:p>
            <a:r>
              <a:rPr lang="en-US" altLang="zh-CN" sz="4000" dirty="0"/>
              <a:t>Data Quality of Generative Images for Object Detection</a:t>
            </a:r>
            <a:endParaRPr lang="en-AU" sz="4000" dirty="0"/>
          </a:p>
        </p:txBody>
      </p:sp>
      <p:sp>
        <p:nvSpPr>
          <p:cNvPr id="5" name="Title 1">
            <a:extLst>
              <a:ext uri="{FF2B5EF4-FFF2-40B4-BE49-F238E27FC236}">
                <a16:creationId xmlns:a16="http://schemas.microsoft.com/office/drawing/2014/main" id="{2CFF9A49-10B0-47C1-8CC1-55BA14A84DEF}"/>
              </a:ext>
            </a:extLst>
          </p:cNvPr>
          <p:cNvSpPr txBox="1">
            <a:spLocks/>
          </p:cNvSpPr>
          <p:nvPr/>
        </p:nvSpPr>
        <p:spPr>
          <a:xfrm>
            <a:off x="345600" y="4221088"/>
            <a:ext cx="9695205" cy="531544"/>
          </a:xfrm>
          <a:prstGeom prst="rect">
            <a:avLst/>
          </a:prstGeom>
        </p:spPr>
        <p:txBody>
          <a:bodyPr vert="horz" lIns="0" tIns="0" rIns="0" bIns="0" rtlCol="0" anchor="ctr" anchorCtr="0">
            <a:noAutofit/>
          </a:bodyPr>
          <a:lstStyle>
            <a:lvl1pPr algn="l" defTabSz="1218804" rtl="0" eaLnBrk="1" latinLnBrk="0" hangingPunct="1">
              <a:lnSpc>
                <a:spcPct val="100000"/>
              </a:lnSpc>
              <a:spcBef>
                <a:spcPct val="0"/>
              </a:spcBef>
              <a:buNone/>
              <a:defRPr sz="4400" b="1" kern="1200">
                <a:solidFill>
                  <a:schemeClr val="bg1"/>
                </a:solidFill>
                <a:latin typeface="+mj-lt"/>
                <a:ea typeface="+mj-ea"/>
                <a:cs typeface="Arial" pitchFamily="34" charset="0"/>
              </a:defRPr>
            </a:lvl1pPr>
          </a:lstStyle>
          <a:p>
            <a:r>
              <a:rPr lang="en-AU" sz="2000" dirty="0"/>
              <a:t>Presenter: </a:t>
            </a:r>
            <a:r>
              <a:rPr lang="en-AU" sz="2000" dirty="0" err="1"/>
              <a:t>Jingcheng</a:t>
            </a:r>
            <a:r>
              <a:rPr lang="en-AU" sz="2000" dirty="0"/>
              <a:t> Qian 1640690</a:t>
            </a:r>
          </a:p>
        </p:txBody>
      </p:sp>
    </p:spTree>
    <p:extLst>
      <p:ext uri="{BB962C8B-B14F-4D97-AF65-F5344CB8AC3E}">
        <p14:creationId xmlns:p14="http://schemas.microsoft.com/office/powerpoint/2010/main" val="3366627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3324446"/>
          </a:xfrm>
        </p:spPr>
        <p:txBody>
          <a:bodyPr/>
          <a:lstStyle/>
          <a:p>
            <a:pPr lvl="3"/>
            <a:r>
              <a:rPr lang="en-US" altLang="zh-CN" sz="2000" dirty="0">
                <a:latin typeface="+mn-ea"/>
              </a:rPr>
              <a:t>Data Bottleneck</a:t>
            </a:r>
          </a:p>
          <a:p>
            <a:pPr lvl="4"/>
            <a:r>
              <a:rPr lang="en-US" altLang="zh-CN" sz="2000" dirty="0">
                <a:latin typeface="+mn-ea"/>
              </a:rPr>
              <a:t>costly annotation  </a:t>
            </a:r>
          </a:p>
          <a:p>
            <a:pPr lvl="4"/>
            <a:r>
              <a:rPr lang="en-US" altLang="zh-CN" sz="2000" dirty="0">
                <a:latin typeface="+mn-ea"/>
              </a:rPr>
              <a:t>data-hungry detectors</a:t>
            </a:r>
          </a:p>
          <a:p>
            <a:pPr marL="238878" lvl="3" indent="0">
              <a:buNone/>
            </a:pPr>
            <a:endParaRPr lang="en-US" altLang="zh-CN" sz="2000" dirty="0"/>
          </a:p>
        </p:txBody>
      </p:sp>
    </p:spTree>
    <p:extLst>
      <p:ext uri="{BB962C8B-B14F-4D97-AF65-F5344CB8AC3E}">
        <p14:creationId xmlns:p14="http://schemas.microsoft.com/office/powerpoint/2010/main" val="3066373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8" name="矩形 7">
            <a:extLst>
              <a:ext uri="{FF2B5EF4-FFF2-40B4-BE49-F238E27FC236}">
                <a16:creationId xmlns:a16="http://schemas.microsoft.com/office/drawing/2014/main" id="{A2292301-67E1-40BC-8A63-0621646E48D0}"/>
              </a:ext>
            </a:extLst>
          </p:cNvPr>
          <p:cNvSpPr/>
          <p:nvPr/>
        </p:nvSpPr>
        <p:spPr>
          <a:xfrm>
            <a:off x="4511824" y="5033732"/>
            <a:ext cx="7406585" cy="276999"/>
          </a:xfrm>
          <a:prstGeom prst="rect">
            <a:avLst/>
          </a:prstGeom>
        </p:spPr>
        <p:txBody>
          <a:bodyPr wrap="square">
            <a:spAutoFit/>
          </a:bodyPr>
          <a:lstStyle/>
          <a:p>
            <a:pPr lvl="2"/>
            <a:r>
              <a:rPr lang="en-US" altLang="zh-CN" sz="1200" dirty="0"/>
              <a:t>Figure 1: Traditional methods (rotate,</a:t>
            </a:r>
            <a:r>
              <a:rPr lang="zh-CN" altLang="en-US" sz="1200" dirty="0"/>
              <a:t> </a:t>
            </a:r>
            <a:r>
              <a:rPr lang="en-US" altLang="zh-CN" sz="1200" dirty="0"/>
              <a:t>flip,…)</a:t>
            </a:r>
            <a:r>
              <a:rPr lang="zh-CN" altLang="en-US" sz="1200" dirty="0"/>
              <a:t> </a:t>
            </a:r>
            <a:r>
              <a:rPr lang="en-US" altLang="zh-CN" sz="1200" dirty="0"/>
              <a:t>cannot create unseen events.</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3324446"/>
          </a:xfrm>
        </p:spPr>
        <p:txBody>
          <a:bodyPr/>
          <a:lstStyle/>
          <a:p>
            <a:pPr lvl="3"/>
            <a:r>
              <a:rPr lang="en-US" altLang="zh-CN" sz="2000" dirty="0">
                <a:solidFill>
                  <a:schemeClr val="tx1">
                    <a:lumMod val="50000"/>
                    <a:lumOff val="50000"/>
                  </a:schemeClr>
                </a:solidFill>
                <a:latin typeface="+mn-ea"/>
              </a:rPr>
              <a:t>Data Bottleneck</a:t>
            </a:r>
          </a:p>
          <a:p>
            <a:pPr lvl="4"/>
            <a:r>
              <a:rPr lang="en-US" altLang="zh-CN" sz="2000" dirty="0">
                <a:solidFill>
                  <a:schemeClr val="tx1">
                    <a:lumMod val="50000"/>
                    <a:lumOff val="50000"/>
                  </a:schemeClr>
                </a:solidFill>
                <a:latin typeface="+mn-ea"/>
              </a:rPr>
              <a:t>costly annotation  </a:t>
            </a:r>
          </a:p>
          <a:p>
            <a:pPr lvl="4"/>
            <a:r>
              <a:rPr lang="en-US" altLang="zh-CN" sz="2000" dirty="0">
                <a:solidFill>
                  <a:schemeClr val="tx1">
                    <a:lumMod val="50000"/>
                    <a:lumOff val="50000"/>
                  </a:schemeClr>
                </a:solidFill>
                <a:latin typeface="+mn-ea"/>
              </a:rPr>
              <a:t>data-hungry detectors</a:t>
            </a:r>
          </a:p>
          <a:p>
            <a:pPr lvl="3"/>
            <a:r>
              <a:rPr lang="en-US" altLang="zh-CN" sz="2000" dirty="0">
                <a:latin typeface="+mn-ea"/>
              </a:rPr>
              <a:t>Limits of Augmentation</a:t>
            </a:r>
          </a:p>
          <a:p>
            <a:pPr lvl="4"/>
            <a:r>
              <a:rPr lang="en-US" altLang="zh-CN" sz="2000" dirty="0">
                <a:latin typeface="+mn-ea"/>
              </a:rPr>
              <a:t>pixel transforms only  </a:t>
            </a:r>
          </a:p>
          <a:p>
            <a:pPr lvl="4"/>
            <a:r>
              <a:rPr lang="en-US" altLang="zh-CN" sz="2000" dirty="0">
                <a:latin typeface="+mn-ea"/>
              </a:rPr>
              <a:t>no new scenes </a:t>
            </a:r>
          </a:p>
          <a:p>
            <a:pPr lvl="3"/>
            <a:r>
              <a:rPr lang="en-US" altLang="zh-CN" sz="2000" dirty="0">
                <a:latin typeface="+mn-ea"/>
              </a:rPr>
              <a:t>Long-Tail Challenge</a:t>
            </a:r>
          </a:p>
          <a:p>
            <a:pPr lvl="4"/>
            <a:r>
              <a:rPr lang="en-US" altLang="zh-CN" sz="2000" dirty="0">
                <a:latin typeface="+mn-ea"/>
              </a:rPr>
              <a:t>rare events, harsh conditions  </a:t>
            </a:r>
          </a:p>
          <a:p>
            <a:pPr lvl="4"/>
            <a:r>
              <a:rPr lang="en-US" altLang="zh-CN" sz="2000" dirty="0">
                <a:latin typeface="+mn-ea"/>
              </a:rPr>
              <a:t>safety-critical domains  </a:t>
            </a:r>
          </a:p>
          <a:p>
            <a:pPr marL="238878" lvl="3" indent="0">
              <a:buNone/>
            </a:pPr>
            <a:endParaRPr lang="en-US" altLang="zh-CN" sz="2000" dirty="0"/>
          </a:p>
        </p:txBody>
      </p:sp>
      <p:pic>
        <p:nvPicPr>
          <p:cNvPr id="18" name="图片 17" descr="雨中的街道&#10;&#10;描述已自动生成">
            <a:extLst>
              <a:ext uri="{FF2B5EF4-FFF2-40B4-BE49-F238E27FC236}">
                <a16:creationId xmlns:a16="http://schemas.microsoft.com/office/drawing/2014/main" id="{7BD79334-2D08-F8B7-FC23-F8BF9D0CF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8307" y="352761"/>
            <a:ext cx="3850141" cy="4583822"/>
          </a:xfrm>
          <a:prstGeom prst="rect">
            <a:avLst/>
          </a:prstGeom>
        </p:spPr>
      </p:pic>
    </p:spTree>
    <p:extLst>
      <p:ext uri="{BB962C8B-B14F-4D97-AF65-F5344CB8AC3E}">
        <p14:creationId xmlns:p14="http://schemas.microsoft.com/office/powerpoint/2010/main" val="12250634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Background</a:t>
            </a:r>
            <a:endParaRPr lang="en-AU" sz="3200" dirty="0"/>
          </a:p>
        </p:txBody>
      </p:sp>
      <p:sp>
        <p:nvSpPr>
          <p:cNvPr id="8" name="矩形 7">
            <a:extLst>
              <a:ext uri="{FF2B5EF4-FFF2-40B4-BE49-F238E27FC236}">
                <a16:creationId xmlns:a16="http://schemas.microsoft.com/office/drawing/2014/main" id="{A2292301-67E1-40BC-8A63-0621646E48D0}"/>
              </a:ext>
            </a:extLst>
          </p:cNvPr>
          <p:cNvSpPr/>
          <p:nvPr/>
        </p:nvSpPr>
        <p:spPr>
          <a:xfrm>
            <a:off x="4511824" y="5033732"/>
            <a:ext cx="7406585" cy="276999"/>
          </a:xfrm>
          <a:prstGeom prst="rect">
            <a:avLst/>
          </a:prstGeom>
        </p:spPr>
        <p:txBody>
          <a:bodyPr wrap="square">
            <a:spAutoFit/>
          </a:bodyPr>
          <a:lstStyle/>
          <a:p>
            <a:pPr lvl="2"/>
            <a:r>
              <a:rPr lang="en-US" altLang="zh-CN" sz="1200" dirty="0"/>
              <a:t>Figure 1: Traditional methods (rotate,</a:t>
            </a:r>
            <a:r>
              <a:rPr lang="zh-CN" altLang="en-US" sz="1200" dirty="0"/>
              <a:t> </a:t>
            </a:r>
            <a:r>
              <a:rPr lang="en-US" altLang="zh-CN" sz="1200" dirty="0"/>
              <a:t>flip,…)</a:t>
            </a:r>
            <a:r>
              <a:rPr lang="zh-CN" altLang="en-US" sz="1200" dirty="0"/>
              <a:t> </a:t>
            </a:r>
            <a:r>
              <a:rPr lang="en-US" altLang="zh-CN" sz="1200" dirty="0"/>
              <a:t>cannot create unseen events.</a:t>
            </a:r>
            <a:endParaRPr lang="en-US" altLang="zh-CN" sz="1200" dirty="0">
              <a:latin typeface="+mn-ea"/>
            </a:endParaRPr>
          </a:p>
        </p:txBody>
      </p:sp>
      <p:sp>
        <p:nvSpPr>
          <p:cNvPr id="11" name="AutoShape 3" descr="https://www.ndss-symposium.org/ndss-paper/asgard-protecting-on-device-deep-neural-networks-with-virtualization-based-trusted-execution-environments/">
            <a:extLst>
              <a:ext uri="{FF2B5EF4-FFF2-40B4-BE49-F238E27FC236}">
                <a16:creationId xmlns:a16="http://schemas.microsoft.com/office/drawing/2014/main" id="{BC021D7C-8363-461A-A986-02AFA321EA0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
        <p:nvSpPr>
          <p:cNvPr id="22" name="Content Placeholder 2">
            <a:extLst>
              <a:ext uri="{FF2B5EF4-FFF2-40B4-BE49-F238E27FC236}">
                <a16:creationId xmlns:a16="http://schemas.microsoft.com/office/drawing/2014/main" id="{9A0F6328-09D9-47E5-941F-7B692B125195}"/>
              </a:ext>
            </a:extLst>
          </p:cNvPr>
          <p:cNvSpPr>
            <a:spLocks noGrp="1"/>
          </p:cNvSpPr>
          <p:nvPr>
            <p:ph sz="quarter" idx="14"/>
          </p:nvPr>
        </p:nvSpPr>
        <p:spPr>
          <a:xfrm>
            <a:off x="345599" y="1256682"/>
            <a:ext cx="5318353" cy="4476574"/>
          </a:xfrm>
        </p:spPr>
        <p:txBody>
          <a:bodyPr/>
          <a:lstStyle/>
          <a:p>
            <a:pPr lvl="3"/>
            <a:r>
              <a:rPr lang="en-US" altLang="zh-CN" sz="2000" dirty="0">
                <a:solidFill>
                  <a:schemeClr val="tx1">
                    <a:lumMod val="50000"/>
                    <a:lumOff val="50000"/>
                  </a:schemeClr>
                </a:solidFill>
                <a:latin typeface="+mn-ea"/>
              </a:rPr>
              <a:t>Data Bottleneck</a:t>
            </a:r>
          </a:p>
          <a:p>
            <a:pPr lvl="4"/>
            <a:r>
              <a:rPr lang="en-US" altLang="zh-CN" sz="2000" dirty="0">
                <a:solidFill>
                  <a:schemeClr val="tx1">
                    <a:lumMod val="50000"/>
                    <a:lumOff val="50000"/>
                  </a:schemeClr>
                </a:solidFill>
                <a:latin typeface="+mn-ea"/>
              </a:rPr>
              <a:t>costly annotation  </a:t>
            </a:r>
          </a:p>
          <a:p>
            <a:pPr lvl="4"/>
            <a:r>
              <a:rPr lang="en-US" altLang="zh-CN" sz="2000" dirty="0">
                <a:solidFill>
                  <a:schemeClr val="tx1">
                    <a:lumMod val="50000"/>
                    <a:lumOff val="50000"/>
                  </a:schemeClr>
                </a:solidFill>
                <a:latin typeface="+mn-ea"/>
              </a:rPr>
              <a:t>data-hungry detectors</a:t>
            </a:r>
          </a:p>
          <a:p>
            <a:pPr lvl="3"/>
            <a:r>
              <a:rPr lang="en-US" altLang="zh-CN" sz="2000" dirty="0">
                <a:solidFill>
                  <a:schemeClr val="tx1">
                    <a:lumMod val="50000"/>
                    <a:lumOff val="50000"/>
                  </a:schemeClr>
                </a:solidFill>
                <a:latin typeface="+mn-ea"/>
              </a:rPr>
              <a:t>Limits of Augmentation</a:t>
            </a:r>
          </a:p>
          <a:p>
            <a:pPr lvl="4"/>
            <a:r>
              <a:rPr lang="en-US" altLang="zh-CN" sz="2000" dirty="0">
                <a:solidFill>
                  <a:schemeClr val="tx1">
                    <a:lumMod val="50000"/>
                    <a:lumOff val="50000"/>
                  </a:schemeClr>
                </a:solidFill>
                <a:latin typeface="+mn-ea"/>
              </a:rPr>
              <a:t>pixel transforms only  </a:t>
            </a:r>
          </a:p>
          <a:p>
            <a:pPr lvl="4"/>
            <a:r>
              <a:rPr lang="en-US" altLang="zh-CN" sz="2000" dirty="0">
                <a:solidFill>
                  <a:schemeClr val="tx1">
                    <a:lumMod val="50000"/>
                    <a:lumOff val="50000"/>
                  </a:schemeClr>
                </a:solidFill>
                <a:latin typeface="+mn-ea"/>
              </a:rPr>
              <a:t>no new scenes </a:t>
            </a:r>
          </a:p>
          <a:p>
            <a:pPr lvl="3"/>
            <a:r>
              <a:rPr lang="en-US" altLang="zh-CN" sz="2000" dirty="0">
                <a:solidFill>
                  <a:schemeClr val="tx1">
                    <a:lumMod val="50000"/>
                    <a:lumOff val="50000"/>
                  </a:schemeClr>
                </a:solidFill>
                <a:latin typeface="+mn-ea"/>
              </a:rPr>
              <a:t>Long-Tail Challenge</a:t>
            </a:r>
          </a:p>
          <a:p>
            <a:pPr lvl="4"/>
            <a:r>
              <a:rPr lang="en-US" altLang="zh-CN" sz="2000" dirty="0">
                <a:solidFill>
                  <a:schemeClr val="tx1">
                    <a:lumMod val="50000"/>
                    <a:lumOff val="50000"/>
                  </a:schemeClr>
                </a:solidFill>
                <a:latin typeface="+mn-ea"/>
              </a:rPr>
              <a:t>rare events, harsh conditions  </a:t>
            </a:r>
          </a:p>
          <a:p>
            <a:pPr lvl="4"/>
            <a:r>
              <a:rPr lang="en-US" altLang="zh-CN" sz="2000" dirty="0">
                <a:solidFill>
                  <a:schemeClr val="tx1">
                    <a:lumMod val="50000"/>
                    <a:lumOff val="50000"/>
                  </a:schemeClr>
                </a:solidFill>
                <a:latin typeface="+mn-ea"/>
              </a:rPr>
              <a:t>safety-critical domains  </a:t>
            </a:r>
          </a:p>
          <a:p>
            <a:pPr lvl="3"/>
            <a:r>
              <a:rPr lang="en-US" altLang="zh-CN" sz="2000" dirty="0">
                <a:latin typeface="+mn-ea"/>
              </a:rPr>
              <a:t>Generative Models   </a:t>
            </a:r>
          </a:p>
          <a:p>
            <a:pPr lvl="4"/>
            <a:r>
              <a:rPr lang="en-US" altLang="zh-CN" sz="2000" dirty="0">
                <a:latin typeface="+mn-ea"/>
              </a:rPr>
              <a:t>Bridge between real and synthetic data</a:t>
            </a:r>
            <a:endParaRPr lang="en-US" altLang="zh-CN" sz="2000" dirty="0"/>
          </a:p>
          <a:p>
            <a:pPr marL="238878" lvl="3" indent="0">
              <a:buNone/>
            </a:pPr>
            <a:endParaRPr lang="en-US" altLang="zh-CN" sz="2000" dirty="0"/>
          </a:p>
        </p:txBody>
      </p:sp>
      <p:pic>
        <p:nvPicPr>
          <p:cNvPr id="18" name="图片 17" descr="雨中的街道&#10;&#10;描述已自动生成">
            <a:extLst>
              <a:ext uri="{FF2B5EF4-FFF2-40B4-BE49-F238E27FC236}">
                <a16:creationId xmlns:a16="http://schemas.microsoft.com/office/drawing/2014/main" id="{7BD79334-2D08-F8B7-FC23-F8BF9D0CF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8307" y="352761"/>
            <a:ext cx="3850141" cy="4583822"/>
          </a:xfrm>
          <a:prstGeom prst="rect">
            <a:avLst/>
          </a:prstGeom>
        </p:spPr>
      </p:pic>
      <p:grpSp>
        <p:nvGrpSpPr>
          <p:cNvPr id="7" name="组合 6">
            <a:extLst>
              <a:ext uri="{FF2B5EF4-FFF2-40B4-BE49-F238E27FC236}">
                <a16:creationId xmlns:a16="http://schemas.microsoft.com/office/drawing/2014/main" id="{2840E967-8ED5-6D47-A2D5-617E35E45D5F}"/>
              </a:ext>
            </a:extLst>
          </p:cNvPr>
          <p:cNvGrpSpPr/>
          <p:nvPr/>
        </p:nvGrpSpPr>
        <p:grpSpPr>
          <a:xfrm>
            <a:off x="4500084" y="275410"/>
            <a:ext cx="7406585" cy="5344711"/>
            <a:chOff x="4500084" y="275410"/>
            <a:chExt cx="7406585" cy="5344711"/>
          </a:xfrm>
        </p:grpSpPr>
        <p:pic>
          <p:nvPicPr>
            <p:cNvPr id="4" name="图片 3" descr="汽车行驶在路上&#10;&#10;描述已自动生成">
              <a:extLst>
                <a:ext uri="{FF2B5EF4-FFF2-40B4-BE49-F238E27FC236}">
                  <a16:creationId xmlns:a16="http://schemas.microsoft.com/office/drawing/2014/main" id="{9325E75C-BBB5-359E-BEE7-F4520C3289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05851" y="275410"/>
              <a:ext cx="5078850" cy="5078850"/>
            </a:xfrm>
            <a:prstGeom prst="rect">
              <a:avLst/>
            </a:prstGeom>
          </p:spPr>
        </p:pic>
        <p:sp>
          <p:nvSpPr>
            <p:cNvPr id="5" name="矩形 4">
              <a:extLst>
                <a:ext uri="{FF2B5EF4-FFF2-40B4-BE49-F238E27FC236}">
                  <a16:creationId xmlns:a16="http://schemas.microsoft.com/office/drawing/2014/main" id="{E3EECE8D-1B85-888F-9094-826A8D76927A}"/>
                </a:ext>
              </a:extLst>
            </p:cNvPr>
            <p:cNvSpPr/>
            <p:nvPr/>
          </p:nvSpPr>
          <p:spPr>
            <a:xfrm>
              <a:off x="4500084" y="5343122"/>
              <a:ext cx="7406585" cy="276999"/>
            </a:xfrm>
            <a:prstGeom prst="rect">
              <a:avLst/>
            </a:prstGeom>
          </p:spPr>
          <p:txBody>
            <a:bodyPr wrap="square">
              <a:spAutoFit/>
            </a:bodyPr>
            <a:lstStyle/>
            <a:p>
              <a:pPr lvl="2"/>
              <a:r>
                <a:rPr lang="en-US" altLang="zh-CN" sz="1200" dirty="0"/>
                <a:t>Figure 2: Image generated by prompt ‘a car in foggy weather’ using SD3.5-Large.</a:t>
              </a:r>
              <a:endParaRPr lang="en-US" altLang="zh-CN" sz="1200" dirty="0">
                <a:latin typeface="+mn-ea"/>
              </a:endParaRPr>
            </a:p>
          </p:txBody>
        </p:sp>
      </p:grpSp>
    </p:spTree>
    <p:extLst>
      <p:ext uri="{BB962C8B-B14F-4D97-AF65-F5344CB8AC3E}">
        <p14:creationId xmlns:p14="http://schemas.microsoft.com/office/powerpoint/2010/main" val="1919777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t>Traditional Augmentation</a:t>
            </a:r>
          </a:p>
          <a:p>
            <a:pPr lvl="4"/>
            <a:r>
              <a:rPr lang="en-US" altLang="zh-CN" sz="1800" dirty="0"/>
              <a:t>rotate, crop, or mix</a:t>
            </a:r>
          </a:p>
          <a:p>
            <a:pPr lvl="4"/>
            <a:r>
              <a:rPr lang="en-US" altLang="zh-CN" sz="1800" dirty="0"/>
              <a:t>can’t generate unseen scenes </a:t>
            </a:r>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spTree>
    <p:extLst>
      <p:ext uri="{BB962C8B-B14F-4D97-AF65-F5344CB8AC3E}">
        <p14:creationId xmlns:p14="http://schemas.microsoft.com/office/powerpoint/2010/main" val="407595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solidFill>
                  <a:schemeClr val="tx1">
                    <a:lumMod val="50000"/>
                    <a:lumOff val="50000"/>
                  </a:schemeClr>
                </a:solidFill>
              </a:rPr>
              <a:t>Traditional Augmentation</a:t>
            </a:r>
          </a:p>
          <a:p>
            <a:pPr lvl="4"/>
            <a:r>
              <a:rPr lang="en-US" altLang="zh-CN" sz="1800" dirty="0">
                <a:solidFill>
                  <a:schemeClr val="tx1">
                    <a:lumMod val="50000"/>
                    <a:lumOff val="50000"/>
                  </a:schemeClr>
                </a:solidFill>
              </a:rPr>
              <a:t>rotate, crop, or mix</a:t>
            </a:r>
          </a:p>
          <a:p>
            <a:pPr lvl="4"/>
            <a:r>
              <a:rPr lang="en-US" altLang="zh-CN" sz="1800" dirty="0">
                <a:solidFill>
                  <a:schemeClr val="tx1">
                    <a:lumMod val="50000"/>
                    <a:lumOff val="50000"/>
                  </a:schemeClr>
                </a:solidFill>
              </a:rPr>
              <a:t>can’t generate unseen scenes </a:t>
            </a:r>
          </a:p>
          <a:p>
            <a:pPr lvl="3"/>
            <a:r>
              <a:rPr lang="en-US" altLang="zh-CN" sz="2000" dirty="0"/>
              <a:t>Simulation</a:t>
            </a:r>
          </a:p>
          <a:p>
            <a:pPr lvl="4"/>
            <a:r>
              <a:rPr lang="en-US" altLang="zh-CN" sz="1800" dirty="0"/>
              <a:t>GTA-V/CARLA can render labeled scenes</a:t>
            </a:r>
          </a:p>
          <a:p>
            <a:pPr lvl="4"/>
            <a:r>
              <a:rPr lang="en-US" altLang="zh-CN" sz="1800" dirty="0"/>
              <a:t>look artificial and unrealistic</a:t>
            </a:r>
          </a:p>
          <a:p>
            <a:pPr lvl="3"/>
            <a:endParaRPr lang="en-US" altLang="zh-CN" sz="2000" dirty="0"/>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pic>
        <p:nvPicPr>
          <p:cNvPr id="5" name="图片 4" descr="街道边的建筑和汽车&#10;&#10;描述已自动生成">
            <a:extLst>
              <a:ext uri="{FF2B5EF4-FFF2-40B4-BE49-F238E27FC236}">
                <a16:creationId xmlns:a16="http://schemas.microsoft.com/office/drawing/2014/main" id="{1B655CDF-D6DB-D6CA-BEA9-938CE39A9193}"/>
              </a:ext>
            </a:extLst>
          </p:cNvPr>
          <p:cNvPicPr>
            <a:picLocks noChangeAspect="1"/>
          </p:cNvPicPr>
          <p:nvPr/>
        </p:nvPicPr>
        <p:blipFill>
          <a:blip r:embed="rId4" cstate="print">
            <a:extLst>
              <a:ext uri="{28A0092B-C50C-407E-A947-70E740481C1C}">
                <a14:useLocalDpi xmlns:a14="http://schemas.microsoft.com/office/drawing/2010/main" val="0"/>
              </a:ext>
            </a:extLst>
          </a:blip>
          <a:srcRect r="19345"/>
          <a:stretch/>
        </p:blipFill>
        <p:spPr>
          <a:xfrm>
            <a:off x="6023992" y="1166225"/>
            <a:ext cx="5110796" cy="3564397"/>
          </a:xfrm>
          <a:prstGeom prst="rect">
            <a:avLst/>
          </a:prstGeom>
        </p:spPr>
      </p:pic>
    </p:spTree>
    <p:extLst>
      <p:ext uri="{BB962C8B-B14F-4D97-AF65-F5344CB8AC3E}">
        <p14:creationId xmlns:p14="http://schemas.microsoft.com/office/powerpoint/2010/main" val="14050212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a:solidFill>
                  <a:schemeClr val="tx1">
                    <a:lumMod val="50000"/>
                    <a:lumOff val="50000"/>
                  </a:schemeClr>
                </a:solidFill>
              </a:rPr>
              <a:t>Traditional Augmentation</a:t>
            </a:r>
          </a:p>
          <a:p>
            <a:pPr lvl="4"/>
            <a:r>
              <a:rPr lang="en-US" altLang="zh-CN" sz="1800" dirty="0">
                <a:solidFill>
                  <a:schemeClr val="tx1">
                    <a:lumMod val="50000"/>
                    <a:lumOff val="50000"/>
                  </a:schemeClr>
                </a:solidFill>
              </a:rPr>
              <a:t>rotate, crop, or mix</a:t>
            </a:r>
          </a:p>
          <a:p>
            <a:pPr lvl="4"/>
            <a:r>
              <a:rPr lang="en-US" altLang="zh-CN" sz="1800" dirty="0">
                <a:solidFill>
                  <a:schemeClr val="tx1">
                    <a:lumMod val="50000"/>
                    <a:lumOff val="50000"/>
                  </a:schemeClr>
                </a:solidFill>
              </a:rPr>
              <a:t>can’t generate unseen scenes </a:t>
            </a:r>
          </a:p>
          <a:p>
            <a:pPr lvl="3"/>
            <a:r>
              <a:rPr lang="en-US" altLang="zh-CN" sz="2000" dirty="0">
                <a:solidFill>
                  <a:schemeClr val="tx1">
                    <a:lumMod val="50000"/>
                    <a:lumOff val="50000"/>
                  </a:schemeClr>
                </a:solidFill>
              </a:rPr>
              <a:t>Simulation</a:t>
            </a:r>
          </a:p>
          <a:p>
            <a:pPr lvl="4"/>
            <a:r>
              <a:rPr lang="en-US" altLang="zh-CN" sz="1800" dirty="0">
                <a:solidFill>
                  <a:schemeClr val="tx1">
                    <a:lumMod val="50000"/>
                    <a:lumOff val="50000"/>
                  </a:schemeClr>
                </a:solidFill>
              </a:rPr>
              <a:t>GTA-V/CARLA can render labeled scenes</a:t>
            </a:r>
          </a:p>
          <a:p>
            <a:pPr lvl="4"/>
            <a:r>
              <a:rPr lang="en-US" altLang="zh-CN" sz="1800" dirty="0">
                <a:solidFill>
                  <a:schemeClr val="tx1">
                    <a:lumMod val="50000"/>
                    <a:lumOff val="50000"/>
                  </a:schemeClr>
                </a:solidFill>
              </a:rPr>
              <a:t>look artificial and unrealistic</a:t>
            </a:r>
          </a:p>
          <a:p>
            <a:pPr lvl="3"/>
            <a:r>
              <a:rPr lang="en-US" altLang="zh-CN" sz="2000" dirty="0"/>
              <a:t>Domain Adaptation</a:t>
            </a:r>
          </a:p>
          <a:p>
            <a:pPr lvl="4"/>
            <a:r>
              <a:rPr lang="en-US" altLang="zh-CN" sz="1800" dirty="0"/>
              <a:t>converts synthetic to realistic images</a:t>
            </a:r>
          </a:p>
          <a:p>
            <a:pPr lvl="4"/>
            <a:r>
              <a:rPr lang="en-US" altLang="zh-CN" sz="1800" dirty="0"/>
              <a:t>domain gap remains</a:t>
            </a:r>
          </a:p>
          <a:p>
            <a:pPr lvl="3"/>
            <a:endParaRPr lang="en-US" altLang="zh-CN" sz="2000" dirty="0"/>
          </a:p>
        </p:txBody>
      </p:sp>
      <p:pic>
        <p:nvPicPr>
          <p:cNvPr id="10" name="图片 9" descr="猫的照片上写着字&#10;&#10;描述已自动生成">
            <a:extLst>
              <a:ext uri="{FF2B5EF4-FFF2-40B4-BE49-F238E27FC236}">
                <a16:creationId xmlns:a16="http://schemas.microsoft.com/office/drawing/2014/main" id="{C908C846-59F1-020A-CAE4-4615A6CD8E4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146" y="764704"/>
            <a:ext cx="5110796" cy="3523443"/>
          </a:xfrm>
          <a:prstGeom prst="rect">
            <a:avLst/>
          </a:prstGeom>
        </p:spPr>
      </p:pic>
      <p:pic>
        <p:nvPicPr>
          <p:cNvPr id="5" name="图片 4" descr="街道边的建筑和汽车&#10;&#10;描述已自动生成">
            <a:extLst>
              <a:ext uri="{FF2B5EF4-FFF2-40B4-BE49-F238E27FC236}">
                <a16:creationId xmlns:a16="http://schemas.microsoft.com/office/drawing/2014/main" id="{1B655CDF-D6DB-D6CA-BEA9-938CE39A9193}"/>
              </a:ext>
            </a:extLst>
          </p:cNvPr>
          <p:cNvPicPr>
            <a:picLocks noChangeAspect="1"/>
          </p:cNvPicPr>
          <p:nvPr/>
        </p:nvPicPr>
        <p:blipFill>
          <a:blip r:embed="rId4" cstate="print">
            <a:extLst>
              <a:ext uri="{28A0092B-C50C-407E-A947-70E740481C1C}">
                <a14:useLocalDpi xmlns:a14="http://schemas.microsoft.com/office/drawing/2010/main" val="0"/>
              </a:ext>
            </a:extLst>
          </a:blip>
          <a:srcRect r="19345"/>
          <a:stretch/>
        </p:blipFill>
        <p:spPr>
          <a:xfrm>
            <a:off x="6023992" y="1166225"/>
            <a:ext cx="5110796" cy="3564397"/>
          </a:xfrm>
          <a:prstGeom prst="rect">
            <a:avLst/>
          </a:prstGeom>
        </p:spPr>
      </p:pic>
      <p:pic>
        <p:nvPicPr>
          <p:cNvPr id="6" name="图片 5" descr="房间的摆设布局&#10;&#10;中度可信度描述已自动生成">
            <a:extLst>
              <a:ext uri="{FF2B5EF4-FFF2-40B4-BE49-F238E27FC236}">
                <a16:creationId xmlns:a16="http://schemas.microsoft.com/office/drawing/2014/main" id="{2DB741D8-1E53-22C8-02E2-B514F7C02A48}"/>
              </a:ext>
            </a:extLst>
          </p:cNvPr>
          <p:cNvPicPr>
            <a:picLocks noChangeAspect="1"/>
          </p:cNvPicPr>
          <p:nvPr/>
        </p:nvPicPr>
        <p:blipFill>
          <a:blip r:embed="rId5">
            <a:extLst>
              <a:ext uri="{28A0092B-C50C-407E-A947-70E740481C1C}">
                <a14:useLocalDpi xmlns:a14="http://schemas.microsoft.com/office/drawing/2010/main" val="0"/>
              </a:ext>
            </a:extLst>
          </a:blip>
          <a:srcRect l="1006" r="59496" b="3010"/>
          <a:stretch/>
        </p:blipFill>
        <p:spPr>
          <a:xfrm>
            <a:off x="5982198" y="1547140"/>
            <a:ext cx="4770580" cy="3610527"/>
          </a:xfrm>
          <a:prstGeom prst="rect">
            <a:avLst/>
          </a:prstGeom>
        </p:spPr>
      </p:pic>
    </p:spTree>
    <p:extLst>
      <p:ext uri="{BB962C8B-B14F-4D97-AF65-F5344CB8AC3E}">
        <p14:creationId xmlns:p14="http://schemas.microsoft.com/office/powerpoint/2010/main" val="33763014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err="1">
                <a:solidFill>
                  <a:srgbClr val="000F46"/>
                </a:solidFill>
              </a:rPr>
              <a:t>LoRA</a:t>
            </a:r>
            <a:r>
              <a:rPr lang="en-US" altLang="zh-CN" sz="2000" dirty="0">
                <a:solidFill>
                  <a:srgbClr val="000F46"/>
                </a:solidFill>
              </a:rPr>
              <a:t> (Low-Rank Adaptation)</a:t>
            </a:r>
          </a:p>
          <a:p>
            <a:pPr lvl="4"/>
            <a:r>
              <a:rPr lang="en-US" altLang="zh-CN" sz="1800" dirty="0">
                <a:solidFill>
                  <a:srgbClr val="000F46"/>
                </a:solidFill>
              </a:rPr>
              <a:t>lightweight tuning method</a:t>
            </a:r>
          </a:p>
          <a:p>
            <a:pPr lvl="4"/>
            <a:r>
              <a:rPr lang="en-US" altLang="zh-CN" sz="1800" dirty="0">
                <a:solidFill>
                  <a:srgbClr val="000F46"/>
                </a:solidFill>
              </a:rPr>
              <a:t>adapt to a new domain</a:t>
            </a:r>
          </a:p>
        </p:txBody>
      </p:sp>
      <p:pic>
        <p:nvPicPr>
          <p:cNvPr id="5" name="图片 4">
            <a:extLst>
              <a:ext uri="{FF2B5EF4-FFF2-40B4-BE49-F238E27FC236}">
                <a16:creationId xmlns:a16="http://schemas.microsoft.com/office/drawing/2014/main" id="{5D54D347-29AC-4095-2EA9-B105380197D8}"/>
              </a:ext>
            </a:extLst>
          </p:cNvPr>
          <p:cNvPicPr>
            <a:picLocks noChangeAspect="1"/>
          </p:cNvPicPr>
          <p:nvPr/>
        </p:nvPicPr>
        <p:blipFill>
          <a:blip r:embed="rId3"/>
          <a:stretch>
            <a:fillRect/>
          </a:stretch>
        </p:blipFill>
        <p:spPr>
          <a:xfrm>
            <a:off x="6542501" y="1603519"/>
            <a:ext cx="3144328" cy="2890753"/>
          </a:xfrm>
          <a:prstGeom prst="rect">
            <a:avLst/>
          </a:prstGeom>
        </p:spPr>
      </p:pic>
      <p:sp>
        <p:nvSpPr>
          <p:cNvPr id="6" name="矩形 5">
            <a:extLst>
              <a:ext uri="{FF2B5EF4-FFF2-40B4-BE49-F238E27FC236}">
                <a16:creationId xmlns:a16="http://schemas.microsoft.com/office/drawing/2014/main" id="{DF114E33-0EA3-87A6-AA46-11F8ACD8A014}"/>
              </a:ext>
            </a:extLst>
          </p:cNvPr>
          <p:cNvSpPr/>
          <p:nvPr/>
        </p:nvSpPr>
        <p:spPr>
          <a:xfrm>
            <a:off x="5087888" y="4494272"/>
            <a:ext cx="5616624" cy="276999"/>
          </a:xfrm>
          <a:prstGeom prst="rect">
            <a:avLst/>
          </a:prstGeom>
        </p:spPr>
        <p:txBody>
          <a:bodyPr wrap="square">
            <a:spAutoFit/>
          </a:bodyPr>
          <a:lstStyle/>
          <a:p>
            <a:pPr lvl="2" algn="just"/>
            <a:r>
              <a:rPr lang="en-US" altLang="zh-CN" sz="1200" dirty="0"/>
              <a:t>Figure 3: </a:t>
            </a:r>
            <a:r>
              <a:rPr lang="en-US" altLang="zh-CN" sz="1200" dirty="0" err="1"/>
              <a:t>LoRA’s</a:t>
            </a:r>
            <a:r>
              <a:rPr lang="en-US" altLang="zh-CN" sz="1200" dirty="0"/>
              <a:t> </a:t>
            </a:r>
            <a:r>
              <a:rPr lang="en-US" altLang="zh-CN" sz="1050" dirty="0" err="1"/>
              <a:t>reparametrization</a:t>
            </a:r>
            <a:r>
              <a:rPr lang="en-US" altLang="zh-CN" sz="1050" dirty="0"/>
              <a:t>, which only trains A and B.</a:t>
            </a:r>
            <a:endParaRPr lang="en-US" altLang="zh-CN" sz="1200" dirty="0">
              <a:latin typeface="+mn-ea"/>
            </a:endParaRPr>
          </a:p>
        </p:txBody>
      </p:sp>
    </p:spTree>
    <p:extLst>
      <p:ext uri="{BB962C8B-B14F-4D97-AF65-F5344CB8AC3E}">
        <p14:creationId xmlns:p14="http://schemas.microsoft.com/office/powerpoint/2010/main" val="3593769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Previous 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5246345" cy="3744416"/>
          </a:xfrm>
        </p:spPr>
        <p:txBody>
          <a:bodyPr/>
          <a:lstStyle/>
          <a:p>
            <a:pPr lvl="3"/>
            <a:r>
              <a:rPr lang="en-US" altLang="zh-CN" sz="2000" dirty="0" err="1">
                <a:solidFill>
                  <a:schemeClr val="tx1">
                    <a:lumMod val="50000"/>
                    <a:lumOff val="50000"/>
                  </a:schemeClr>
                </a:solidFill>
              </a:rPr>
              <a:t>LoRA</a:t>
            </a:r>
            <a:r>
              <a:rPr lang="en-US" altLang="zh-CN" sz="2000" dirty="0">
                <a:solidFill>
                  <a:schemeClr val="tx1">
                    <a:lumMod val="50000"/>
                    <a:lumOff val="50000"/>
                  </a:schemeClr>
                </a:solidFill>
              </a:rPr>
              <a:t> (Low-Rank Adaptation)</a:t>
            </a:r>
          </a:p>
          <a:p>
            <a:pPr lvl="4"/>
            <a:r>
              <a:rPr lang="en-US" altLang="zh-CN" sz="1800" dirty="0">
                <a:solidFill>
                  <a:schemeClr val="tx1">
                    <a:lumMod val="50000"/>
                    <a:lumOff val="50000"/>
                  </a:schemeClr>
                </a:solidFill>
              </a:rPr>
              <a:t>lightweight tuning method</a:t>
            </a:r>
          </a:p>
          <a:p>
            <a:pPr lvl="4"/>
            <a:r>
              <a:rPr lang="en-US" altLang="zh-CN" sz="1800" dirty="0">
                <a:solidFill>
                  <a:schemeClr val="tx1">
                    <a:lumMod val="50000"/>
                    <a:lumOff val="50000"/>
                  </a:schemeClr>
                </a:solidFill>
              </a:rPr>
              <a:t>adapt to a new domain</a:t>
            </a:r>
          </a:p>
          <a:p>
            <a:pPr lvl="3"/>
            <a:r>
              <a:rPr lang="en-US" altLang="zh-CN" sz="2000" dirty="0" err="1"/>
              <a:t>Controlnet</a:t>
            </a:r>
            <a:endParaRPr lang="en-US" altLang="zh-CN" sz="2000" dirty="0"/>
          </a:p>
          <a:p>
            <a:pPr lvl="4"/>
            <a:r>
              <a:rPr lang="en-US" altLang="zh-CN" sz="1800" dirty="0"/>
              <a:t>structural information</a:t>
            </a:r>
          </a:p>
          <a:p>
            <a:pPr lvl="4"/>
            <a:r>
              <a:rPr lang="en-US" altLang="zh-CN" sz="1800" dirty="0"/>
              <a:t>respect the original layout</a:t>
            </a:r>
            <a:endParaRPr lang="en-US" altLang="zh-CN" sz="2000" dirty="0"/>
          </a:p>
        </p:txBody>
      </p:sp>
      <p:pic>
        <p:nvPicPr>
          <p:cNvPr id="5" name="图片 4">
            <a:extLst>
              <a:ext uri="{FF2B5EF4-FFF2-40B4-BE49-F238E27FC236}">
                <a16:creationId xmlns:a16="http://schemas.microsoft.com/office/drawing/2014/main" id="{5D54D347-29AC-4095-2EA9-B105380197D8}"/>
              </a:ext>
            </a:extLst>
          </p:cNvPr>
          <p:cNvPicPr>
            <a:picLocks noChangeAspect="1"/>
          </p:cNvPicPr>
          <p:nvPr/>
        </p:nvPicPr>
        <p:blipFill>
          <a:blip r:embed="rId3"/>
          <a:stretch>
            <a:fillRect/>
          </a:stretch>
        </p:blipFill>
        <p:spPr>
          <a:xfrm>
            <a:off x="6542501" y="1603519"/>
            <a:ext cx="3144328" cy="2890753"/>
          </a:xfrm>
          <a:prstGeom prst="rect">
            <a:avLst/>
          </a:prstGeom>
        </p:spPr>
      </p:pic>
      <p:sp>
        <p:nvSpPr>
          <p:cNvPr id="6" name="矩形 5">
            <a:extLst>
              <a:ext uri="{FF2B5EF4-FFF2-40B4-BE49-F238E27FC236}">
                <a16:creationId xmlns:a16="http://schemas.microsoft.com/office/drawing/2014/main" id="{DF114E33-0EA3-87A6-AA46-11F8ACD8A014}"/>
              </a:ext>
            </a:extLst>
          </p:cNvPr>
          <p:cNvSpPr/>
          <p:nvPr/>
        </p:nvSpPr>
        <p:spPr>
          <a:xfrm>
            <a:off x="5087888" y="4494272"/>
            <a:ext cx="5616624" cy="276999"/>
          </a:xfrm>
          <a:prstGeom prst="rect">
            <a:avLst/>
          </a:prstGeom>
        </p:spPr>
        <p:txBody>
          <a:bodyPr wrap="square">
            <a:spAutoFit/>
          </a:bodyPr>
          <a:lstStyle/>
          <a:p>
            <a:pPr lvl="2" algn="just"/>
            <a:r>
              <a:rPr lang="en-US" altLang="zh-CN" sz="1200" dirty="0"/>
              <a:t>Figure 3: </a:t>
            </a:r>
            <a:r>
              <a:rPr lang="en-US" altLang="zh-CN" sz="1200" dirty="0" err="1"/>
              <a:t>LoRA’s</a:t>
            </a:r>
            <a:r>
              <a:rPr lang="en-US" altLang="zh-CN" sz="1200" dirty="0"/>
              <a:t> </a:t>
            </a:r>
            <a:r>
              <a:rPr lang="en-US" altLang="zh-CN" sz="1050" dirty="0" err="1"/>
              <a:t>reparametrization</a:t>
            </a:r>
            <a:r>
              <a:rPr lang="en-US" altLang="zh-CN" sz="1050" dirty="0"/>
              <a:t>, which only trains A and B.</a:t>
            </a:r>
            <a:endParaRPr lang="en-US" altLang="zh-CN" sz="1200" dirty="0">
              <a:latin typeface="+mn-ea"/>
            </a:endParaRPr>
          </a:p>
        </p:txBody>
      </p:sp>
      <p:grpSp>
        <p:nvGrpSpPr>
          <p:cNvPr id="17" name="组合 16">
            <a:extLst>
              <a:ext uri="{FF2B5EF4-FFF2-40B4-BE49-F238E27FC236}">
                <a16:creationId xmlns:a16="http://schemas.microsoft.com/office/drawing/2014/main" id="{56FA1A13-AE04-C162-F882-29F859FA1BA9}"/>
              </a:ext>
            </a:extLst>
          </p:cNvPr>
          <p:cNvGrpSpPr/>
          <p:nvPr/>
        </p:nvGrpSpPr>
        <p:grpSpPr>
          <a:xfrm>
            <a:off x="4655841" y="1584114"/>
            <a:ext cx="7421225" cy="3113707"/>
            <a:chOff x="4114800" y="2132856"/>
            <a:chExt cx="7924800" cy="2638415"/>
          </a:xfrm>
        </p:grpSpPr>
        <p:pic>
          <p:nvPicPr>
            <p:cNvPr id="13" name="图片 12" descr="男子的脸部特写与配字黑白照&#10;&#10;中度可信度描述已自动生成">
              <a:extLst>
                <a:ext uri="{FF2B5EF4-FFF2-40B4-BE49-F238E27FC236}">
                  <a16:creationId xmlns:a16="http://schemas.microsoft.com/office/drawing/2014/main" id="{6E00CD80-45D3-959E-2063-4C0CA9F5FF34}"/>
                </a:ext>
              </a:extLst>
            </p:cNvPr>
            <p:cNvPicPr>
              <a:picLocks noChangeAspect="1"/>
            </p:cNvPicPr>
            <p:nvPr/>
          </p:nvPicPr>
          <p:blipFill>
            <a:blip r:embed="rId4">
              <a:extLst>
                <a:ext uri="{28A0092B-C50C-407E-A947-70E740481C1C}">
                  <a14:useLocalDpi xmlns:a14="http://schemas.microsoft.com/office/drawing/2010/main" val="0"/>
                </a:ext>
              </a:extLst>
            </a:blip>
            <a:srcRect t="17288" b="16126"/>
            <a:stretch/>
          </p:blipFill>
          <p:spPr>
            <a:xfrm>
              <a:off x="4114800" y="2132856"/>
              <a:ext cx="3962400" cy="2638415"/>
            </a:xfrm>
            <a:prstGeom prst="rect">
              <a:avLst/>
            </a:prstGeom>
          </p:spPr>
        </p:pic>
        <p:pic>
          <p:nvPicPr>
            <p:cNvPr id="15" name="图片 14" descr="图片包含 建筑, 围栏, 户外, 人行道&#10;&#10;描述已自动生成">
              <a:extLst>
                <a:ext uri="{FF2B5EF4-FFF2-40B4-BE49-F238E27FC236}">
                  <a16:creationId xmlns:a16="http://schemas.microsoft.com/office/drawing/2014/main" id="{87B0BA30-B490-2D18-C97B-46C2F1E5A7C6}"/>
                </a:ext>
              </a:extLst>
            </p:cNvPr>
            <p:cNvPicPr>
              <a:picLocks noChangeAspect="1"/>
            </p:cNvPicPr>
            <p:nvPr/>
          </p:nvPicPr>
          <p:blipFill>
            <a:blip r:embed="rId5">
              <a:extLst>
                <a:ext uri="{28A0092B-C50C-407E-A947-70E740481C1C}">
                  <a14:useLocalDpi xmlns:a14="http://schemas.microsoft.com/office/drawing/2010/main" val="0"/>
                </a:ext>
              </a:extLst>
            </a:blip>
            <a:srcRect t="17289" b="16125"/>
            <a:stretch/>
          </p:blipFill>
          <p:spPr>
            <a:xfrm>
              <a:off x="8077200" y="2132856"/>
              <a:ext cx="3962400" cy="2638415"/>
            </a:xfrm>
            <a:prstGeom prst="rect">
              <a:avLst/>
            </a:prstGeom>
          </p:spPr>
        </p:pic>
      </p:grpSp>
      <p:sp>
        <p:nvSpPr>
          <p:cNvPr id="4" name="矩形 3">
            <a:extLst>
              <a:ext uri="{FF2B5EF4-FFF2-40B4-BE49-F238E27FC236}">
                <a16:creationId xmlns:a16="http://schemas.microsoft.com/office/drawing/2014/main" id="{CB4EC120-14CF-38A1-7FDD-16C24FE3F252}"/>
              </a:ext>
            </a:extLst>
          </p:cNvPr>
          <p:cNvSpPr/>
          <p:nvPr/>
        </p:nvSpPr>
        <p:spPr>
          <a:xfrm>
            <a:off x="5240288" y="4725770"/>
            <a:ext cx="5616624" cy="276999"/>
          </a:xfrm>
          <a:prstGeom prst="rect">
            <a:avLst/>
          </a:prstGeom>
        </p:spPr>
        <p:txBody>
          <a:bodyPr wrap="square">
            <a:spAutoFit/>
          </a:bodyPr>
          <a:lstStyle/>
          <a:p>
            <a:pPr lvl="2" algn="just"/>
            <a:r>
              <a:rPr lang="en-US" altLang="zh-CN" sz="1200" dirty="0"/>
              <a:t>Figure 4: Canny map </a:t>
            </a:r>
            <a:r>
              <a:rPr lang="en-US" altLang="zh-CN" sz="1200" dirty="0" err="1"/>
              <a:t>controlnet</a:t>
            </a:r>
            <a:r>
              <a:rPr lang="en-US" altLang="zh-CN" sz="1200" dirty="0"/>
              <a:t> example</a:t>
            </a:r>
            <a:endParaRPr lang="en-US" altLang="zh-CN" sz="1200" dirty="0">
              <a:latin typeface="+mn-ea"/>
            </a:endParaRPr>
          </a:p>
        </p:txBody>
      </p:sp>
    </p:spTree>
    <p:extLst>
      <p:ext uri="{BB962C8B-B14F-4D97-AF65-F5344CB8AC3E}">
        <p14:creationId xmlns:p14="http://schemas.microsoft.com/office/powerpoint/2010/main" val="803763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Research Objectives</a:t>
            </a:r>
            <a:endParaRPr lang="en-AU" sz="3200" dirty="0"/>
          </a:p>
        </p:txBody>
      </p:sp>
      <p:sp>
        <p:nvSpPr>
          <p:cNvPr id="4" name="Content Placeholder 2">
            <a:extLst>
              <a:ext uri="{FF2B5EF4-FFF2-40B4-BE49-F238E27FC236}">
                <a16:creationId xmlns:a16="http://schemas.microsoft.com/office/drawing/2014/main" id="{0BB607EE-D3DB-5055-DA72-410BBF051C35}"/>
              </a:ext>
            </a:extLst>
          </p:cNvPr>
          <p:cNvSpPr txBox="1">
            <a:spLocks/>
          </p:cNvSpPr>
          <p:nvPr/>
        </p:nvSpPr>
        <p:spPr>
          <a:xfrm>
            <a:off x="73770" y="1366412"/>
            <a:ext cx="7488832" cy="2088232"/>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581778" lvl="3" indent="-342900">
              <a:buFont typeface="+mj-lt"/>
              <a:buAutoNum type="arabicPeriod"/>
            </a:pPr>
            <a:r>
              <a:rPr lang="en-US" altLang="zh-CN" sz="2000" dirty="0"/>
              <a:t>Quantify domain gap (real vs synthetic)</a:t>
            </a:r>
          </a:p>
          <a:p>
            <a:pPr marL="581778" lvl="3" indent="-342900">
              <a:buFont typeface="+mj-lt"/>
              <a:buAutoNum type="arabicPeriod"/>
            </a:pPr>
            <a:r>
              <a:rPr lang="en-US" altLang="zh-CN" sz="2000" dirty="0"/>
              <a:t>Evaluate cross-domain robustness</a:t>
            </a:r>
          </a:p>
          <a:p>
            <a:pPr marL="581778" lvl="3" indent="-342900">
              <a:buFont typeface="+mj-lt"/>
              <a:buAutoNum type="arabicPeriod"/>
            </a:pPr>
            <a:r>
              <a:rPr lang="en-US" altLang="zh-CN" sz="2000" dirty="0"/>
              <a:t>Assess realism &amp; annotation consistency</a:t>
            </a:r>
          </a:p>
          <a:p>
            <a:pPr marL="581778" lvl="3" indent="-342900">
              <a:buFont typeface="+mj-lt"/>
              <a:buAutoNum type="arabicPeriod"/>
            </a:pPr>
            <a:r>
              <a:rPr lang="en-US" altLang="zh-CN" sz="2000" dirty="0"/>
              <a:t>Provide best practices for generative data use</a:t>
            </a:r>
            <a:endParaRPr lang="en-US" altLang="zh-CN" sz="2800" dirty="0">
              <a:latin typeface="+mn-ea"/>
            </a:endParaRPr>
          </a:p>
        </p:txBody>
      </p:sp>
    </p:spTree>
    <p:extLst>
      <p:ext uri="{BB962C8B-B14F-4D97-AF65-F5344CB8AC3E}">
        <p14:creationId xmlns:p14="http://schemas.microsoft.com/office/powerpoint/2010/main" val="2931462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Research Framework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246344" cy="2125064"/>
          </a:xfrm>
        </p:spPr>
        <p:txBody>
          <a:bodyPr/>
          <a:lstStyle/>
          <a:p>
            <a:pPr lvl="2" indent="0">
              <a:buNone/>
            </a:pPr>
            <a:r>
              <a:rPr lang="en-US" altLang="zh-CN" sz="2000" dirty="0"/>
              <a:t>A closed-loop research framework includes:</a:t>
            </a:r>
          </a:p>
          <a:p>
            <a:pPr>
              <a:buFont typeface="+mj-lt"/>
              <a:buAutoNum type="arabicPeriod"/>
            </a:pPr>
            <a:r>
              <a:rPr lang="en-US" altLang="zh-CN" sz="2000" b="0" dirty="0"/>
              <a:t>Controlled data generation</a:t>
            </a:r>
          </a:p>
          <a:p>
            <a:pPr>
              <a:buFont typeface="+mj-lt"/>
              <a:buAutoNum type="arabicPeriod"/>
            </a:pPr>
            <a:r>
              <a:rPr lang="en-US" altLang="zh-CN" sz="2000" b="0" dirty="0"/>
              <a:t>Quality filtering</a:t>
            </a:r>
          </a:p>
          <a:p>
            <a:pPr>
              <a:buFont typeface="+mj-lt"/>
              <a:buAutoNum type="arabicPeriod"/>
            </a:pPr>
            <a:r>
              <a:rPr lang="en-US" altLang="zh-CN" sz="2000" b="0" dirty="0"/>
              <a:t>Detector training</a:t>
            </a:r>
          </a:p>
          <a:p>
            <a:pPr>
              <a:buFont typeface="+mj-lt"/>
              <a:buAutoNum type="arabicPeriod"/>
            </a:pPr>
            <a:r>
              <a:rPr lang="en-US" altLang="zh-CN" sz="2000" b="0" dirty="0"/>
              <a:t>Multi-level evaluation</a:t>
            </a:r>
          </a:p>
          <a:p>
            <a:pPr lvl="3"/>
            <a:endParaRPr lang="en-US" altLang="zh-CN" sz="1800" b="1" dirty="0">
              <a:latin typeface="+mn-ea"/>
            </a:endParaRPr>
          </a:p>
        </p:txBody>
      </p:sp>
      <p:pic>
        <p:nvPicPr>
          <p:cNvPr id="6" name="图片 5" descr="图片包含 图形用户界面">
            <a:extLst>
              <a:ext uri="{FF2B5EF4-FFF2-40B4-BE49-F238E27FC236}">
                <a16:creationId xmlns:a16="http://schemas.microsoft.com/office/drawing/2014/main" id="{0048279A-173B-F1FB-2672-390812F5E8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63752" y="2132856"/>
            <a:ext cx="7050038" cy="2935230"/>
          </a:xfrm>
          <a:prstGeom prst="rect">
            <a:avLst/>
          </a:prstGeom>
        </p:spPr>
      </p:pic>
      <p:sp>
        <p:nvSpPr>
          <p:cNvPr id="5" name="矩形 4">
            <a:extLst>
              <a:ext uri="{FF2B5EF4-FFF2-40B4-BE49-F238E27FC236}">
                <a16:creationId xmlns:a16="http://schemas.microsoft.com/office/drawing/2014/main" id="{93776D03-BA43-5424-4C22-E730FCE6CE89}"/>
              </a:ext>
            </a:extLst>
          </p:cNvPr>
          <p:cNvSpPr/>
          <p:nvPr/>
        </p:nvSpPr>
        <p:spPr>
          <a:xfrm>
            <a:off x="4295800" y="5373216"/>
            <a:ext cx="6192688" cy="307777"/>
          </a:xfrm>
          <a:prstGeom prst="rect">
            <a:avLst/>
          </a:prstGeom>
        </p:spPr>
        <p:txBody>
          <a:bodyPr wrap="square">
            <a:spAutoFit/>
          </a:bodyPr>
          <a:lstStyle/>
          <a:p>
            <a:pPr lvl="2"/>
            <a:r>
              <a:rPr lang="en-US" altLang="zh-CN" sz="1400" dirty="0"/>
              <a:t>Figure 3: Pipeline of the closed-loop research framework. </a:t>
            </a:r>
          </a:p>
        </p:txBody>
      </p:sp>
    </p:spTree>
    <p:extLst>
      <p:ext uri="{BB962C8B-B14F-4D97-AF65-F5344CB8AC3E}">
        <p14:creationId xmlns:p14="http://schemas.microsoft.com/office/powerpoint/2010/main" val="1436543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Methodology: Generation Pipeline</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4176464"/>
          </a:xfrm>
        </p:spPr>
        <p:txBody>
          <a:bodyPr/>
          <a:lstStyle/>
          <a:p>
            <a:pPr lvl="2"/>
            <a:r>
              <a:rPr lang="en-US" altLang="zh-CN" sz="2000" dirty="0"/>
              <a:t>Framework: </a:t>
            </a:r>
            <a:r>
              <a:rPr lang="en-US" altLang="zh-CN" sz="2000" dirty="0" err="1"/>
              <a:t>ComfyUI</a:t>
            </a:r>
            <a:endParaRPr lang="en-US" altLang="zh-CN" sz="2000" dirty="0"/>
          </a:p>
          <a:p>
            <a:pPr lvl="3"/>
            <a:r>
              <a:rPr lang="en-US" altLang="zh-CN" sz="2000" dirty="0"/>
              <a:t>modular, node-based workflow</a:t>
            </a:r>
          </a:p>
          <a:p>
            <a:pPr lvl="3"/>
            <a:r>
              <a:rPr lang="en-US" altLang="zh-CN" sz="2000" dirty="0"/>
              <a:t>flexible combination &amp; reproducibility</a:t>
            </a:r>
          </a:p>
          <a:p>
            <a:pPr lvl="2"/>
            <a:r>
              <a:rPr lang="en-US" altLang="zh-CN" sz="2000" dirty="0"/>
              <a:t>Core Models: Stable Diffusion, FLUX</a:t>
            </a:r>
          </a:p>
          <a:p>
            <a:pPr lvl="2"/>
            <a:r>
              <a:rPr lang="en-US" altLang="zh-CN" sz="2000" dirty="0"/>
              <a:t>Structural Control: ControlNet</a:t>
            </a:r>
          </a:p>
          <a:p>
            <a:pPr lvl="3"/>
            <a:r>
              <a:rPr lang="en-US" altLang="zh-CN" sz="2000" dirty="0"/>
              <a:t>visual prior conditioning</a:t>
            </a:r>
          </a:p>
          <a:p>
            <a:pPr lvl="3"/>
            <a:r>
              <a:rPr lang="en-US" altLang="zh-CN" sz="2000" dirty="0"/>
              <a:t>ensures spatial and label consistency</a:t>
            </a:r>
          </a:p>
          <a:p>
            <a:pPr lvl="2"/>
            <a:r>
              <a:rPr lang="en-US" altLang="zh-CN" sz="2000" dirty="0"/>
              <a:t>Lightweight Adaptation: </a:t>
            </a:r>
            <a:r>
              <a:rPr lang="en-US" altLang="zh-CN" sz="2000" dirty="0" err="1"/>
              <a:t>LoRA</a:t>
            </a:r>
            <a:endParaRPr lang="en-US" altLang="zh-CN" sz="2000" dirty="0"/>
          </a:p>
          <a:p>
            <a:pPr lvl="3"/>
            <a:r>
              <a:rPr lang="en-US" altLang="zh-CN" sz="2000" dirty="0"/>
              <a:t>efficient domain fine-tuning</a:t>
            </a:r>
          </a:p>
          <a:p>
            <a:pPr lvl="3"/>
            <a:r>
              <a:rPr lang="en-US" altLang="zh-CN" sz="2000" dirty="0"/>
              <a:t>improves realism without full retraining</a:t>
            </a:r>
          </a:p>
          <a:p>
            <a:pPr marL="238878" lvl="3" indent="0">
              <a:buNone/>
            </a:pPr>
            <a:endParaRPr lang="en-US" altLang="zh-CN" sz="1800" b="1" dirty="0">
              <a:latin typeface="+mn-ea"/>
            </a:endParaRPr>
          </a:p>
        </p:txBody>
      </p:sp>
      <p:pic>
        <p:nvPicPr>
          <p:cNvPr id="8" name="图片 7" descr="许多照片放在一起&#10;&#10;描述已自动生成">
            <a:extLst>
              <a:ext uri="{FF2B5EF4-FFF2-40B4-BE49-F238E27FC236}">
                <a16:creationId xmlns:a16="http://schemas.microsoft.com/office/drawing/2014/main" id="{D0B61D39-9613-F2BB-4255-D8E309F2D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31904" y="873544"/>
            <a:ext cx="6381734" cy="4571680"/>
          </a:xfrm>
          <a:prstGeom prst="rect">
            <a:avLst/>
          </a:prstGeom>
        </p:spPr>
      </p:pic>
      <p:sp>
        <p:nvSpPr>
          <p:cNvPr id="11" name="矩形 10">
            <a:extLst>
              <a:ext uri="{FF2B5EF4-FFF2-40B4-BE49-F238E27FC236}">
                <a16:creationId xmlns:a16="http://schemas.microsoft.com/office/drawing/2014/main" id="{B2C23386-5EBA-DE8D-33AD-C707471DFCA2}"/>
              </a:ext>
            </a:extLst>
          </p:cNvPr>
          <p:cNvSpPr/>
          <p:nvPr/>
        </p:nvSpPr>
        <p:spPr>
          <a:xfrm>
            <a:off x="3935760" y="5538466"/>
            <a:ext cx="7992888" cy="307777"/>
          </a:xfrm>
          <a:prstGeom prst="rect">
            <a:avLst/>
          </a:prstGeom>
        </p:spPr>
        <p:txBody>
          <a:bodyPr wrap="square">
            <a:spAutoFit/>
          </a:bodyPr>
          <a:lstStyle/>
          <a:p>
            <a:pPr lvl="2"/>
            <a:r>
              <a:rPr lang="en-US" altLang="zh-CN" sz="1400" dirty="0"/>
              <a:t>Figure 4: Current </a:t>
            </a:r>
            <a:r>
              <a:rPr lang="en-US" altLang="zh-CN" sz="1400" dirty="0" err="1"/>
              <a:t>ComfyUI</a:t>
            </a:r>
            <a:r>
              <a:rPr lang="en-US" altLang="zh-CN" sz="1400" dirty="0"/>
              <a:t> workflow using SD3.5 and canny </a:t>
            </a:r>
            <a:r>
              <a:rPr lang="en-US" altLang="zh-CN" sz="1400" dirty="0" err="1"/>
              <a:t>controlnet</a:t>
            </a:r>
            <a:r>
              <a:rPr lang="en-US" altLang="zh-CN" sz="1400" dirty="0"/>
              <a:t> generation.</a:t>
            </a:r>
          </a:p>
        </p:txBody>
      </p:sp>
    </p:spTree>
    <p:extLst>
      <p:ext uri="{BB962C8B-B14F-4D97-AF65-F5344CB8AC3E}">
        <p14:creationId xmlns:p14="http://schemas.microsoft.com/office/powerpoint/2010/main" val="2466218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Methodology: Downstream Task</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6830520" cy="2880320"/>
          </a:xfrm>
        </p:spPr>
        <p:txBody>
          <a:bodyPr/>
          <a:lstStyle/>
          <a:p>
            <a:pPr lvl="2"/>
            <a:r>
              <a:rPr lang="en-US" altLang="zh-CN" sz="2000" dirty="0">
                <a:latin typeface="+mn-ea"/>
              </a:rPr>
              <a:t>Detection Models: YOLO, RT-DETR</a:t>
            </a:r>
          </a:p>
          <a:p>
            <a:pPr lvl="3"/>
            <a:r>
              <a:rPr lang="en-US" altLang="zh-CN" sz="1800" dirty="0">
                <a:latin typeface="+mn-ea"/>
              </a:rPr>
              <a:t>balance between accuracy and real-time efficiency</a:t>
            </a:r>
          </a:p>
          <a:p>
            <a:pPr lvl="2"/>
            <a:r>
              <a:rPr lang="en-US" altLang="zh-CN" sz="2000" dirty="0">
                <a:latin typeface="+mn-ea"/>
              </a:rPr>
              <a:t>Training Strategy</a:t>
            </a:r>
          </a:p>
          <a:p>
            <a:pPr lvl="3"/>
            <a:r>
              <a:rPr lang="en-US" altLang="zh-CN" sz="1800" dirty="0">
                <a:latin typeface="+mn-ea"/>
              </a:rPr>
              <a:t>mixed ratios of real &amp; synthetic data</a:t>
            </a:r>
          </a:p>
          <a:p>
            <a:pPr lvl="2"/>
            <a:r>
              <a:rPr lang="en-US" altLang="zh-CN" sz="2000" dirty="0">
                <a:latin typeface="+mn-ea"/>
              </a:rPr>
              <a:t>Objective</a:t>
            </a:r>
          </a:p>
          <a:p>
            <a:pPr lvl="3"/>
            <a:r>
              <a:rPr lang="en-US" altLang="zh-CN" sz="1800" dirty="0">
                <a:latin typeface="+mn-ea"/>
              </a:rPr>
              <a:t>quantify value of generative data</a:t>
            </a:r>
          </a:p>
          <a:p>
            <a:pPr lvl="3"/>
            <a:r>
              <a:rPr lang="en-US" altLang="zh-CN" sz="1800" dirty="0">
                <a:latin typeface="+mn-ea"/>
              </a:rPr>
              <a:t>identify optimal balance for cost-effective training</a:t>
            </a:r>
            <a:br>
              <a:rPr lang="en-US" altLang="zh-CN" sz="1400" dirty="0"/>
            </a:br>
            <a:endParaRPr lang="en-US" altLang="zh-CN" sz="1600" b="1" dirty="0">
              <a:latin typeface="+mn-ea"/>
            </a:endParaRPr>
          </a:p>
        </p:txBody>
      </p:sp>
      <p:pic>
        <p:nvPicPr>
          <p:cNvPr id="8" name="图片 7" descr="形状&#10;&#10;低可信度描述已自动生成">
            <a:extLst>
              <a:ext uri="{FF2B5EF4-FFF2-40B4-BE49-F238E27FC236}">
                <a16:creationId xmlns:a16="http://schemas.microsoft.com/office/drawing/2014/main" id="{A98EB840-C58A-847E-2C64-5C4D787D8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1504" y="4544296"/>
            <a:ext cx="8476471" cy="1332909"/>
          </a:xfrm>
          <a:prstGeom prst="rect">
            <a:avLst/>
          </a:prstGeom>
        </p:spPr>
      </p:pic>
      <p:sp>
        <p:nvSpPr>
          <p:cNvPr id="9" name="矩形 8">
            <a:extLst>
              <a:ext uri="{FF2B5EF4-FFF2-40B4-BE49-F238E27FC236}">
                <a16:creationId xmlns:a16="http://schemas.microsoft.com/office/drawing/2014/main" id="{5B575147-D1AC-F3C1-F37F-10B24BCD5FA5}"/>
              </a:ext>
            </a:extLst>
          </p:cNvPr>
          <p:cNvSpPr/>
          <p:nvPr/>
        </p:nvSpPr>
        <p:spPr>
          <a:xfrm>
            <a:off x="1631504" y="4204161"/>
            <a:ext cx="8208912" cy="307777"/>
          </a:xfrm>
          <a:prstGeom prst="rect">
            <a:avLst/>
          </a:prstGeom>
        </p:spPr>
        <p:txBody>
          <a:bodyPr wrap="square">
            <a:spAutoFit/>
          </a:bodyPr>
          <a:lstStyle/>
          <a:p>
            <a:pPr lvl="2"/>
            <a:r>
              <a:rPr lang="en-US" altLang="zh-CN" sz="1400" dirty="0"/>
              <a:t>Table 1: Planned training configurations with different real–synthetic data ratios. </a:t>
            </a:r>
          </a:p>
        </p:txBody>
      </p:sp>
    </p:spTree>
    <p:extLst>
      <p:ext uri="{BB962C8B-B14F-4D97-AF65-F5344CB8AC3E}">
        <p14:creationId xmlns:p14="http://schemas.microsoft.com/office/powerpoint/2010/main" val="34877261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Evaluation</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268760"/>
            <a:ext cx="5030320" cy="5112568"/>
          </a:xfrm>
        </p:spPr>
        <p:txBody>
          <a:bodyPr/>
          <a:lstStyle/>
          <a:p>
            <a:pPr lvl="2"/>
            <a:r>
              <a:rPr lang="en-US" altLang="zh-CN" sz="2000" dirty="0"/>
              <a:t>Downstream Performance</a:t>
            </a:r>
          </a:p>
          <a:p>
            <a:pPr lvl="3"/>
            <a:r>
              <a:rPr lang="en-US" altLang="zh-CN" sz="1800" dirty="0" err="1"/>
              <a:t>mAP</a:t>
            </a:r>
            <a:r>
              <a:rPr lang="en-US" altLang="zh-CN" sz="1800" dirty="0"/>
              <a:t>, AP50</a:t>
            </a:r>
          </a:p>
          <a:p>
            <a:pPr lvl="3"/>
            <a:r>
              <a:rPr lang="en-US" altLang="zh-CN" sz="1800" dirty="0"/>
              <a:t>task-oriented measure</a:t>
            </a:r>
          </a:p>
          <a:p>
            <a:pPr lvl="3"/>
            <a:endParaRPr lang="en-US" altLang="zh-CN" sz="1800" dirty="0"/>
          </a:p>
          <a:p>
            <a:pPr lvl="2"/>
            <a:r>
              <a:rPr lang="en-US" altLang="zh-CN" sz="2000" dirty="0"/>
              <a:t>Perceptual Quality</a:t>
            </a:r>
          </a:p>
          <a:p>
            <a:pPr lvl="3"/>
            <a:r>
              <a:rPr lang="en-US" altLang="zh-CN" sz="1800" dirty="0"/>
              <a:t>FID, IS</a:t>
            </a:r>
          </a:p>
          <a:p>
            <a:pPr lvl="3"/>
            <a:r>
              <a:rPr lang="en-US" altLang="zh-CN" sz="1800" dirty="0"/>
              <a:t>fidelity &amp; diversity</a:t>
            </a:r>
          </a:p>
          <a:p>
            <a:pPr lvl="2"/>
            <a:r>
              <a:rPr lang="en-US" altLang="zh-CN" sz="2000" dirty="0"/>
              <a:t>Semantic Consistency</a:t>
            </a:r>
          </a:p>
          <a:p>
            <a:pPr lvl="3"/>
            <a:r>
              <a:rPr lang="en-US" altLang="zh-CN" sz="1800" dirty="0"/>
              <a:t>CLIP / DINOv2 Score</a:t>
            </a:r>
          </a:p>
          <a:p>
            <a:pPr lvl="3"/>
            <a:r>
              <a:rPr lang="en-US" altLang="zh-CN" sz="1800" dirty="0"/>
              <a:t>alignment with labels</a:t>
            </a:r>
          </a:p>
          <a:p>
            <a:pPr lvl="2"/>
            <a:r>
              <a:rPr lang="en-US" altLang="zh-CN" sz="2000" dirty="0"/>
              <a:t>Human Evaluation</a:t>
            </a:r>
          </a:p>
          <a:p>
            <a:pPr lvl="3"/>
            <a:r>
              <a:rPr lang="en-US" altLang="zh-CN" sz="1800" dirty="0"/>
              <a:t>subjective realism &amp; annotation faithfulness</a:t>
            </a:r>
          </a:p>
          <a:p>
            <a:pPr lvl="3"/>
            <a:r>
              <a:rPr lang="en-US" altLang="zh-CN" sz="1800" dirty="0"/>
              <a:t>complements automated metrics</a:t>
            </a:r>
            <a:endParaRPr lang="en-US" altLang="zh-CN" sz="1800" dirty="0">
              <a:latin typeface="+mn-ea"/>
            </a:endParaRPr>
          </a:p>
        </p:txBody>
      </p:sp>
      <p:pic>
        <p:nvPicPr>
          <p:cNvPr id="6" name="图片 5" descr="一些人在路上骑机车&#10;&#10;描述已自动生成">
            <a:extLst>
              <a:ext uri="{FF2B5EF4-FFF2-40B4-BE49-F238E27FC236}">
                <a16:creationId xmlns:a16="http://schemas.microsoft.com/office/drawing/2014/main" id="{825460EF-9750-C80D-9C83-63CB0D8E77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1463" y="1663806"/>
            <a:ext cx="7161201" cy="3530387"/>
          </a:xfrm>
          <a:prstGeom prst="rect">
            <a:avLst/>
          </a:prstGeom>
        </p:spPr>
      </p:pic>
      <p:sp>
        <p:nvSpPr>
          <p:cNvPr id="7" name="矩形 6">
            <a:extLst>
              <a:ext uri="{FF2B5EF4-FFF2-40B4-BE49-F238E27FC236}">
                <a16:creationId xmlns:a16="http://schemas.microsoft.com/office/drawing/2014/main" id="{5E52DD5A-A525-84DB-7513-B984EDCF6A59}"/>
              </a:ext>
            </a:extLst>
          </p:cNvPr>
          <p:cNvSpPr/>
          <p:nvPr/>
        </p:nvSpPr>
        <p:spPr>
          <a:xfrm>
            <a:off x="4367808" y="5218083"/>
            <a:ext cx="7992888" cy="307777"/>
          </a:xfrm>
          <a:prstGeom prst="rect">
            <a:avLst/>
          </a:prstGeom>
        </p:spPr>
        <p:txBody>
          <a:bodyPr wrap="square">
            <a:spAutoFit/>
          </a:bodyPr>
          <a:lstStyle/>
          <a:p>
            <a:pPr lvl="2"/>
            <a:r>
              <a:rPr lang="en-US" altLang="zh-CN" sz="1400" dirty="0"/>
              <a:t>Figure 5: Higher CLIP/DINOv2 scores indicate stronger semantic faithfulness.</a:t>
            </a:r>
          </a:p>
        </p:txBody>
      </p:sp>
    </p:spTree>
    <p:extLst>
      <p:ext uri="{BB962C8B-B14F-4D97-AF65-F5344CB8AC3E}">
        <p14:creationId xmlns:p14="http://schemas.microsoft.com/office/powerpoint/2010/main" val="3649907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a:xfrm>
            <a:off x="345600" y="342000"/>
            <a:ext cx="9695205" cy="531544"/>
          </a:xfrm>
        </p:spPr>
        <p:txBody>
          <a:bodyPr/>
          <a:lstStyle/>
          <a:p>
            <a:r>
              <a:rPr lang="en-US" altLang="zh-CN" sz="3200" dirty="0"/>
              <a:t>Expected Contributions</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600" y="1192856"/>
            <a:ext cx="9854856" cy="3964336"/>
          </a:xfrm>
        </p:spPr>
        <p:txBody>
          <a:bodyPr/>
          <a:lstStyle/>
          <a:p>
            <a:pPr marL="342900" indent="-342900">
              <a:lnSpc>
                <a:spcPct val="150000"/>
              </a:lnSpc>
              <a:buFont typeface="Arial" panose="020B0604020202020204" pitchFamily="34" charset="0"/>
              <a:buChar char="•"/>
            </a:pPr>
            <a:r>
              <a:rPr lang="en-US" altLang="zh-CN" sz="2000" dirty="0"/>
              <a:t>Clarify the domain gap </a:t>
            </a:r>
            <a:r>
              <a:rPr lang="en-US" altLang="zh-CN" sz="2000" b="0" dirty="0"/>
              <a:t>between real and synthetic data and quantify its impact on object detection accuracy.</a:t>
            </a:r>
          </a:p>
          <a:p>
            <a:pPr marL="342900" indent="-342900">
              <a:lnSpc>
                <a:spcPct val="150000"/>
              </a:lnSpc>
              <a:buFont typeface="Arial" panose="020B0604020202020204" pitchFamily="34" charset="0"/>
              <a:buChar char="•"/>
            </a:pPr>
            <a:r>
              <a:rPr lang="en-US" altLang="zh-CN" sz="2000" dirty="0"/>
              <a:t>Demonstrate the transferability </a:t>
            </a:r>
            <a:r>
              <a:rPr lang="en-US" altLang="zh-CN" sz="2000" b="0" dirty="0"/>
              <a:t>of detectors trained on synthetic data to real-world environments.</a:t>
            </a:r>
          </a:p>
          <a:p>
            <a:pPr marL="342900" indent="-342900">
              <a:lnSpc>
                <a:spcPct val="150000"/>
              </a:lnSpc>
              <a:buFont typeface="Arial" panose="020B0604020202020204" pitchFamily="34" charset="0"/>
              <a:buChar char="•"/>
            </a:pPr>
            <a:r>
              <a:rPr lang="en-US" altLang="zh-CN" sz="2000" dirty="0"/>
              <a:t>Establish evaluation criteria </a:t>
            </a:r>
            <a:r>
              <a:rPr lang="en-US" altLang="zh-CN" sz="2000" b="0" dirty="0"/>
              <a:t>connecting image diversity, realism, and annotation consistency to detection performance.</a:t>
            </a:r>
          </a:p>
          <a:p>
            <a:pPr marL="342900" indent="-342900">
              <a:lnSpc>
                <a:spcPct val="150000"/>
              </a:lnSpc>
              <a:buFont typeface="Arial" panose="020B0604020202020204" pitchFamily="34" charset="0"/>
              <a:buChar char="•"/>
            </a:pPr>
            <a:r>
              <a:rPr lang="en-US" altLang="zh-CN" sz="2000" dirty="0"/>
              <a:t>Formulate practical guidelines </a:t>
            </a:r>
            <a:r>
              <a:rPr lang="en-US" altLang="zh-CN" sz="2000" b="0" dirty="0"/>
              <a:t>for integrating generative data into object detection training pipelines.</a:t>
            </a:r>
          </a:p>
          <a:p>
            <a:pPr lvl="3"/>
            <a:endParaRPr lang="en-AU" sz="2000" dirty="0">
              <a:latin typeface="+mn-ea"/>
            </a:endParaRPr>
          </a:p>
        </p:txBody>
      </p:sp>
    </p:spTree>
    <p:extLst>
      <p:ext uri="{BB962C8B-B14F-4D97-AF65-F5344CB8AC3E}">
        <p14:creationId xmlns:p14="http://schemas.microsoft.com/office/powerpoint/2010/main" val="5439298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Reference</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665636"/>
            <a:ext cx="10430921" cy="3851596"/>
          </a:xfrm>
        </p:spPr>
        <p:txBody>
          <a:bodyPr/>
          <a:lstStyle/>
          <a:p>
            <a:pPr marL="457200" lvl="2" indent="-457200">
              <a:buFont typeface="+mj-lt"/>
              <a:buAutoNum type="arabicPeriod"/>
            </a:pPr>
            <a:r>
              <a:rPr lang="en-US" altLang="zh-CN" sz="1600" b="0" i="0" dirty="0">
                <a:solidFill>
                  <a:srgbClr val="333333"/>
                </a:solidFill>
                <a:effectLst/>
                <a:latin typeface="HelveticaNeue Regular"/>
              </a:rPr>
              <a:t>H. Fang, B. Han, S. Zhang, S. Zhou, C. Hu and W. -M. Ye, "Data Augmentation for Object Detection via Controllable Diffusion Models," </a:t>
            </a:r>
            <a:r>
              <a:rPr lang="en-US" altLang="zh-CN" sz="1600" b="0" i="1" dirty="0">
                <a:solidFill>
                  <a:srgbClr val="333333"/>
                </a:solidFill>
                <a:effectLst/>
                <a:latin typeface="HelveticaNeue Regular"/>
              </a:rPr>
              <a:t>2024 IEEE/CVF Winter Conference on Applications of Computer Vision (WACV)</a:t>
            </a:r>
            <a:r>
              <a:rPr lang="en-US" altLang="zh-CN" sz="1600" b="0" i="0" dirty="0">
                <a:solidFill>
                  <a:srgbClr val="333333"/>
                </a:solidFill>
                <a:effectLst/>
                <a:latin typeface="HelveticaNeue Regular"/>
              </a:rPr>
              <a:t>, Waikoloa, HI, USA, 2024, pp. 1246-1255, </a:t>
            </a:r>
            <a:r>
              <a:rPr lang="en-US" altLang="zh-CN" sz="1600" b="0" i="0" dirty="0" err="1">
                <a:solidFill>
                  <a:srgbClr val="333333"/>
                </a:solidFill>
                <a:effectLst/>
                <a:latin typeface="HelveticaNeue Regular"/>
              </a:rPr>
              <a:t>doi</a:t>
            </a:r>
            <a:r>
              <a:rPr lang="en-US" altLang="zh-CN" sz="1600" b="0" i="0" dirty="0">
                <a:solidFill>
                  <a:srgbClr val="333333"/>
                </a:solidFill>
                <a:effectLst/>
                <a:latin typeface="HelveticaNeue Regular"/>
              </a:rPr>
              <a:t>: 10.1109/WACV57701.2024.00129.</a:t>
            </a:r>
          </a:p>
          <a:p>
            <a:pPr marL="457200" lvl="2" indent="-457200">
              <a:buFont typeface="+mj-lt"/>
              <a:buAutoNum type="arabicPeriod"/>
            </a:pPr>
            <a:r>
              <a:rPr lang="en-US" altLang="zh-CN" sz="1600" b="0" i="0" dirty="0">
                <a:solidFill>
                  <a:srgbClr val="333333"/>
                </a:solidFill>
                <a:effectLst/>
                <a:latin typeface="HelveticaNeue Regular"/>
              </a:rPr>
              <a:t>L. Zhang, A. Rao and M. </a:t>
            </a:r>
            <a:r>
              <a:rPr lang="en-US" altLang="zh-CN" sz="1600" b="0" i="0" dirty="0" err="1">
                <a:solidFill>
                  <a:srgbClr val="333333"/>
                </a:solidFill>
                <a:effectLst/>
                <a:latin typeface="HelveticaNeue Regular"/>
              </a:rPr>
              <a:t>Agrawala</a:t>
            </a:r>
            <a:r>
              <a:rPr lang="en-US" altLang="zh-CN" sz="1600" b="0" i="0" dirty="0">
                <a:solidFill>
                  <a:srgbClr val="333333"/>
                </a:solidFill>
                <a:effectLst/>
                <a:latin typeface="HelveticaNeue Regular"/>
              </a:rPr>
              <a:t>, "Adding Conditional Control to Text-to-Image Diffusion Models," </a:t>
            </a:r>
            <a:r>
              <a:rPr lang="en-US" altLang="zh-CN" sz="1600" b="0" i="1" dirty="0">
                <a:solidFill>
                  <a:srgbClr val="333333"/>
                </a:solidFill>
                <a:effectLst/>
                <a:latin typeface="HelveticaNeue Regular"/>
              </a:rPr>
              <a:t>2023 IEEE/CVF International Conference on Computer Vision (ICCV)</a:t>
            </a:r>
            <a:r>
              <a:rPr lang="en-US" altLang="zh-CN" sz="1600" b="0" i="0" dirty="0">
                <a:solidFill>
                  <a:srgbClr val="333333"/>
                </a:solidFill>
                <a:effectLst/>
                <a:latin typeface="HelveticaNeue Regular"/>
              </a:rPr>
              <a:t>, Paris, France, 2023, pp. 3813-3824, </a:t>
            </a:r>
            <a:r>
              <a:rPr lang="en-US" altLang="zh-CN" sz="1600" b="0" i="0" dirty="0" err="1">
                <a:solidFill>
                  <a:srgbClr val="333333"/>
                </a:solidFill>
                <a:effectLst/>
                <a:latin typeface="HelveticaNeue Regular"/>
              </a:rPr>
              <a:t>doi</a:t>
            </a:r>
            <a:r>
              <a:rPr lang="en-US" altLang="zh-CN" sz="1600" b="0" i="0" dirty="0">
                <a:solidFill>
                  <a:srgbClr val="333333"/>
                </a:solidFill>
                <a:effectLst/>
                <a:latin typeface="HelveticaNeue Regular"/>
              </a:rPr>
              <a:t>: 10.1109/ICCV51070.2023.00355.</a:t>
            </a:r>
            <a:endParaRPr lang="en-US" altLang="zh-CN" sz="1600" dirty="0">
              <a:solidFill>
                <a:srgbClr val="333333"/>
              </a:solidFill>
              <a:latin typeface="HelveticaNeue Regular"/>
            </a:endParaRPr>
          </a:p>
          <a:p>
            <a:pPr marL="457200" lvl="2" indent="-457200">
              <a:buFont typeface="+mj-lt"/>
              <a:buAutoNum type="arabicPeriod"/>
            </a:pPr>
            <a:r>
              <a:rPr lang="en-US" altLang="zh-CN" sz="1600" b="0" i="0" dirty="0">
                <a:solidFill>
                  <a:srgbClr val="222222"/>
                </a:solidFill>
                <a:effectLst/>
                <a:latin typeface="Arial" panose="020B0604020202020204" pitchFamily="34" charset="0"/>
              </a:rPr>
              <a:t>Hu, E.J., Shen, Y., Wallis, P., Allen-Zhu, Z., Li, Y., Wang, S., Wang, L. and Chen, W., 2022. Lora: Low-rank adaptation of large language models. ICLR, 1(2), p.3.</a:t>
            </a:r>
          </a:p>
          <a:p>
            <a:pPr marL="457200" lvl="2" indent="-457200">
              <a:buFont typeface="+mj-lt"/>
              <a:buAutoNum type="arabicPeriod"/>
            </a:pPr>
            <a:r>
              <a:rPr lang="en-US" altLang="zh-CN" sz="1600" b="0" i="0" dirty="0" err="1">
                <a:solidFill>
                  <a:srgbClr val="222222"/>
                </a:solidFill>
                <a:effectLst/>
                <a:latin typeface="Arial" panose="020B0604020202020204" pitchFamily="34" charset="0"/>
              </a:rPr>
              <a:t>Nowruzi</a:t>
            </a:r>
            <a:r>
              <a:rPr lang="en-US" altLang="zh-CN" sz="1600" b="0" i="0" dirty="0">
                <a:solidFill>
                  <a:srgbClr val="222222"/>
                </a:solidFill>
                <a:effectLst/>
                <a:latin typeface="Arial" panose="020B0604020202020204" pitchFamily="34" charset="0"/>
              </a:rPr>
              <a:t>, Farzan </a:t>
            </a:r>
            <a:r>
              <a:rPr lang="en-US" altLang="zh-CN" sz="1600" b="0" i="0" dirty="0" err="1">
                <a:solidFill>
                  <a:srgbClr val="222222"/>
                </a:solidFill>
                <a:effectLst/>
                <a:latin typeface="Arial" panose="020B0604020202020204" pitchFamily="34" charset="0"/>
              </a:rPr>
              <a:t>Erlik</a:t>
            </a:r>
            <a:r>
              <a:rPr lang="en-US" altLang="zh-CN" sz="1600" b="0" i="0" dirty="0">
                <a:solidFill>
                  <a:srgbClr val="222222"/>
                </a:solidFill>
                <a:effectLst/>
                <a:latin typeface="Arial" panose="020B0604020202020204" pitchFamily="34" charset="0"/>
              </a:rPr>
              <a:t>, et al. "How much real data do we actually need: Analyzing object detection performance using synthetic and real data." </a:t>
            </a:r>
            <a:r>
              <a:rPr lang="en-US" altLang="zh-CN" sz="1600" b="0" i="1" dirty="0" err="1">
                <a:solidFill>
                  <a:srgbClr val="222222"/>
                </a:solidFill>
                <a:effectLst/>
                <a:latin typeface="Arial" panose="020B0604020202020204" pitchFamily="34" charset="0"/>
              </a:rPr>
              <a:t>arXiv</a:t>
            </a:r>
            <a:r>
              <a:rPr lang="en-US" altLang="zh-CN" sz="1600" b="0" i="1" dirty="0">
                <a:solidFill>
                  <a:srgbClr val="222222"/>
                </a:solidFill>
                <a:effectLst/>
                <a:latin typeface="Arial" panose="020B0604020202020204" pitchFamily="34" charset="0"/>
              </a:rPr>
              <a:t> preprint arXiv:1907.07061</a:t>
            </a:r>
            <a:r>
              <a:rPr lang="en-US" altLang="zh-CN" sz="1600" b="0" i="0" dirty="0">
                <a:solidFill>
                  <a:srgbClr val="222222"/>
                </a:solidFill>
                <a:effectLst/>
                <a:latin typeface="Arial" panose="020B0604020202020204" pitchFamily="34" charset="0"/>
              </a:rPr>
              <a:t> (2019).</a:t>
            </a:r>
            <a:endParaRPr lang="en-US" altLang="zh-CN" sz="2000" dirty="0">
              <a:solidFill>
                <a:schemeClr val="tx1"/>
              </a:solidFill>
            </a:endParaRPr>
          </a:p>
        </p:txBody>
      </p:sp>
    </p:spTree>
    <p:extLst>
      <p:ext uri="{BB962C8B-B14F-4D97-AF65-F5344CB8AC3E}">
        <p14:creationId xmlns:p14="http://schemas.microsoft.com/office/powerpoint/2010/main" val="608756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Motivation &amp; Research Objectives</a:t>
            </a:r>
            <a:endParaRPr lang="en-AU" sz="3200" dirty="0"/>
          </a:p>
        </p:txBody>
      </p:sp>
      <p:sp>
        <p:nvSpPr>
          <p:cNvPr id="3" name="Content Placeholder 2">
            <a:extLst>
              <a:ext uri="{FF2B5EF4-FFF2-40B4-BE49-F238E27FC236}">
                <a16:creationId xmlns:a16="http://schemas.microsoft.com/office/drawing/2014/main" id="{4303A67E-6EFA-DB93-30F6-8692F71BC30B}"/>
              </a:ext>
            </a:extLst>
          </p:cNvPr>
          <p:cNvSpPr>
            <a:spLocks noGrp="1"/>
          </p:cNvSpPr>
          <p:nvPr>
            <p:ph sz="quarter" idx="14"/>
          </p:nvPr>
        </p:nvSpPr>
        <p:spPr>
          <a:xfrm>
            <a:off x="345599" y="1268760"/>
            <a:ext cx="10070881" cy="1728192"/>
          </a:xfrm>
        </p:spPr>
        <p:txBody>
          <a:bodyPr/>
          <a:lstStyle/>
          <a:p>
            <a:pPr lvl="3"/>
            <a:r>
              <a:rPr lang="en-US" altLang="zh-CN" sz="2000" dirty="0">
                <a:latin typeface="+mn-ea"/>
              </a:rPr>
              <a:t>Synthetic images still show domain gaps (texture, lighting, semantics)</a:t>
            </a:r>
          </a:p>
          <a:p>
            <a:pPr lvl="3"/>
            <a:r>
              <a:rPr lang="en-US" altLang="zh-CN" sz="2000" dirty="0">
                <a:latin typeface="+mn-ea"/>
              </a:rPr>
              <a:t>Structural controllers (</a:t>
            </a:r>
            <a:r>
              <a:rPr lang="en-US" altLang="zh-CN" sz="2000" dirty="0" err="1">
                <a:latin typeface="+mn-ea"/>
              </a:rPr>
              <a:t>controlnet</a:t>
            </a:r>
            <a:r>
              <a:rPr lang="en-US" altLang="zh-CN" sz="2000" dirty="0">
                <a:latin typeface="+mn-ea"/>
              </a:rPr>
              <a:t>) improve spatial fidelity</a:t>
            </a:r>
          </a:p>
          <a:p>
            <a:pPr lvl="3"/>
            <a:r>
              <a:rPr lang="en-US" altLang="zh-CN" sz="2000" dirty="0">
                <a:latin typeface="+mn-ea"/>
              </a:rPr>
              <a:t>Lack systematic study on generative components impact on data quality </a:t>
            </a:r>
          </a:p>
          <a:p>
            <a:pPr lvl="3"/>
            <a:r>
              <a:rPr lang="en-US" altLang="zh-CN" sz="2000" dirty="0">
                <a:latin typeface="+mn-ea"/>
              </a:rPr>
              <a:t>Industry like autonomous driving need reliable detection under scarce data</a:t>
            </a:r>
          </a:p>
        </p:txBody>
      </p:sp>
      <p:sp>
        <p:nvSpPr>
          <p:cNvPr id="4" name="Content Placeholder 2">
            <a:extLst>
              <a:ext uri="{FF2B5EF4-FFF2-40B4-BE49-F238E27FC236}">
                <a16:creationId xmlns:a16="http://schemas.microsoft.com/office/drawing/2014/main" id="{0BB607EE-D3DB-5055-DA72-410BBF051C35}"/>
              </a:ext>
            </a:extLst>
          </p:cNvPr>
          <p:cNvSpPr txBox="1">
            <a:spLocks/>
          </p:cNvSpPr>
          <p:nvPr/>
        </p:nvSpPr>
        <p:spPr>
          <a:xfrm>
            <a:off x="345598" y="3609021"/>
            <a:ext cx="6398474" cy="1728192"/>
          </a:xfrm>
          <a:prstGeom prst="rect">
            <a:avLst/>
          </a:prstGeom>
        </p:spPr>
        <p:txBody>
          <a:bodyPr vert="horz" lIns="0" tIns="0" rIns="0" bIns="0" rtlCol="0">
            <a:noAutofit/>
          </a:bodyPr>
          <a:lst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a:lstStyle>
          <a:p>
            <a:pPr marL="581778" lvl="3" indent="-342900">
              <a:buFont typeface="+mj-lt"/>
              <a:buAutoNum type="arabicPeriod"/>
            </a:pPr>
            <a:r>
              <a:rPr lang="en-US" altLang="zh-CN" sz="2000" dirty="0"/>
              <a:t>Quantify domain gap (real vs synthetic)</a:t>
            </a:r>
          </a:p>
          <a:p>
            <a:pPr marL="581778" lvl="3" indent="-342900">
              <a:buFont typeface="+mj-lt"/>
              <a:buAutoNum type="arabicPeriod"/>
            </a:pPr>
            <a:r>
              <a:rPr lang="en-US" altLang="zh-CN" sz="2000" dirty="0"/>
              <a:t>Evaluate cross-domain robustness</a:t>
            </a:r>
          </a:p>
          <a:p>
            <a:pPr marL="581778" lvl="3" indent="-342900">
              <a:buFont typeface="+mj-lt"/>
              <a:buAutoNum type="arabicPeriod"/>
            </a:pPr>
            <a:r>
              <a:rPr lang="en-US" altLang="zh-CN" sz="2000" dirty="0"/>
              <a:t>Assess realism &amp; annotation consistency</a:t>
            </a:r>
          </a:p>
          <a:p>
            <a:pPr marL="581778" lvl="3" indent="-342900">
              <a:buFont typeface="+mj-lt"/>
              <a:buAutoNum type="arabicPeriod"/>
            </a:pPr>
            <a:r>
              <a:rPr lang="en-US" altLang="zh-CN" sz="2000" dirty="0"/>
              <a:t>Provide best practices for generative data use</a:t>
            </a:r>
            <a:endParaRPr lang="en-US" altLang="zh-CN" sz="2800" dirty="0">
              <a:latin typeface="+mn-ea"/>
            </a:endParaRPr>
          </a:p>
        </p:txBody>
      </p:sp>
      <p:pic>
        <p:nvPicPr>
          <p:cNvPr id="6" name="图片 5" descr="手机屏幕截图&#10;&#10;描述已自动生成">
            <a:extLst>
              <a:ext uri="{FF2B5EF4-FFF2-40B4-BE49-F238E27FC236}">
                <a16:creationId xmlns:a16="http://schemas.microsoft.com/office/drawing/2014/main" id="{75E8C3CD-9E45-5443-EC97-F43E4A319EA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528" b="96367" l="113" r="99775">
                        <a14:foregroundMark x1="34234" y1="28436" x2="34234" y2="28436"/>
                        <a14:foregroundMark x1="35586" y1="27014" x2="35586" y2="27014"/>
                        <a14:foregroundMark x1="34009" y1="27804" x2="34009" y2="27804"/>
                        <a14:foregroundMark x1="32207" y1="29068" x2="32207" y2="29068"/>
                        <a14:foregroundMark x1="36599" y1="29858" x2="36599" y2="29858"/>
                        <a14:foregroundMark x1="36149" y1="28594" x2="36149" y2="28594"/>
                        <a14:foregroundMark x1="32432" y1="28752" x2="32432" y2="28752"/>
                        <a14:foregroundMark x1="31532" y1="36019" x2="31532" y2="36019"/>
                        <a14:foregroundMark x1="29505" y1="41548" x2="29505" y2="41548"/>
                        <a14:foregroundMark x1="33559" y1="43602" x2="33559" y2="43602"/>
                        <a14:foregroundMark x1="30631" y1="47709" x2="30631" y2="47709"/>
                        <a14:foregroundMark x1="30068" y1="47867" x2="30068" y2="47867"/>
                        <a14:foregroundMark x1="9459" y1="61137" x2="9459" y2="61137"/>
                        <a14:foregroundMark x1="7207" y1="61453" x2="6532" y2="61453"/>
                        <a14:foregroundMark x1="4167" y1="61295" x2="4167" y2="61295"/>
                        <a14:foregroundMark x1="3491" y1="59874" x2="3491" y2="59874"/>
                        <a14:foregroundMark x1="3153" y1="58610" x2="3153" y2="58610"/>
                        <a14:foregroundMark x1="9122" y1="58294" x2="9122" y2="58294"/>
                        <a14:foregroundMark x1="10811" y1="57188" x2="10811" y2="57188"/>
                        <a14:foregroundMark x1="14977" y1="61927" x2="14977" y2="61927"/>
                        <a14:foregroundMark x1="17117" y1="64771" x2="17117" y2="64771"/>
                        <a14:foregroundMark x1="20383" y1="66035" x2="20383" y2="66035"/>
                        <a14:foregroundMark x1="21171" y1="62401" x2="21171" y2="62401"/>
                        <a14:foregroundMark x1="18919" y1="58452" x2="19369" y2="58294"/>
                        <a14:foregroundMark x1="21622" y1="58294" x2="21622" y2="58294"/>
                        <a14:foregroundMark x1="10135" y1="64139" x2="10135" y2="64139"/>
                        <a14:foregroundMark x1="8221" y1="67141" x2="8221" y2="67141"/>
                        <a14:foregroundMark x1="5293" y1="68088" x2="4842" y2="67773"/>
                        <a14:foregroundMark x1="2365" y1="66825" x2="2365" y2="66825"/>
                        <a14:foregroundMark x1="1914" y1="64297" x2="2477" y2="61611"/>
                        <a14:foregroundMark x1="3829" y1="59558" x2="3829" y2="59558"/>
                        <a14:foregroundMark x1="30068" y1="63191" x2="30068" y2="63191"/>
                        <a14:foregroundMark x1="34797" y1="95103" x2="34797" y2="95103"/>
                        <a14:foregroundMark x1="32995" y1="97156" x2="32995" y2="97156"/>
                        <a14:foregroundMark x1="34797" y1="93207" x2="34797" y2="93207"/>
                        <a14:foregroundMark x1="78153" y1="87204" x2="78153" y2="87204"/>
                        <a14:foregroundMark x1="80405" y1="88942" x2="80405" y2="88942"/>
                        <a14:foregroundMark x1="84459" y1="89258" x2="84459" y2="89258"/>
                        <a14:foregroundMark x1="73536" y1="88468" x2="71847" y2="88468"/>
                        <a14:foregroundMark x1="70833" y1="88468" x2="70833" y2="88468"/>
                        <a14:foregroundMark x1="82883" y1="89415" x2="84009" y2="89415"/>
                        <a14:foregroundMark x1="85811" y1="89415" x2="85023" y2="89415"/>
                        <a14:foregroundMark x1="79955" y1="89258" x2="84234" y2="87520"/>
                        <a14:foregroundMark x1="81869" y1="82780" x2="81869" y2="82780"/>
                        <a14:foregroundMark x1="79955" y1="82622" x2="77590" y2="82622"/>
                        <a14:foregroundMark x1="75338" y1="82780" x2="74099" y2="82938"/>
                        <a14:foregroundMark x1="71396" y1="83096" x2="71396" y2="83096"/>
                        <a14:foregroundMark x1="71959" y1="80569" x2="71959" y2="80569"/>
                        <a14:foregroundMark x1="70608" y1="80569" x2="70608" y2="80569"/>
                        <a14:foregroundMark x1="81982" y1="81991" x2="81982" y2="81991"/>
                        <a14:foregroundMark x1="84797" y1="82464" x2="84797" y2="82464"/>
                        <a14:foregroundMark x1="82658" y1="82464" x2="82658" y2="82464"/>
                        <a14:foregroundMark x1="88063" y1="59716" x2="88063" y2="59716"/>
                        <a14:foregroundMark x1="83108" y1="60664" x2="83108" y2="60664"/>
                        <a14:foregroundMark x1="94482" y1="61611" x2="94482" y2="61611"/>
                        <a14:foregroundMark x1="96171" y1="60348" x2="96171" y2="60348"/>
                        <a14:foregroundMark x1="96959" y1="63033" x2="97072" y2="63823"/>
                        <a14:foregroundMark x1="97185" y1="65719" x2="97185" y2="65719"/>
                        <a14:foregroundMark x1="64077" y1="7899" x2="64077" y2="7899"/>
                        <a14:foregroundMark x1="62950" y1="4897" x2="62950" y2="4897"/>
                        <a14:foregroundMark x1="68018" y1="3633" x2="68468" y2="3633"/>
                        <a14:foregroundMark x1="70045" y1="3633" x2="70045" y2="3633"/>
                        <a14:foregroundMark x1="68468" y1="25276" x2="68468" y2="25276"/>
                        <a14:foregroundMark x1="70270" y1="25592" x2="70270" y2="25592"/>
                        <a14:foregroundMark x1="64865" y1="3002" x2="64865" y2="3002"/>
                        <a14:foregroundMark x1="63851" y1="3002" x2="63851" y2="3002"/>
                        <a14:foregroundMark x1="66104" y1="65245" x2="66104" y2="65245"/>
                        <a14:foregroundMark x1="70270" y1="64771" x2="70270" y2="64771"/>
                        <a14:foregroundMark x1="42905" y1="63033" x2="42905" y2="63033"/>
                        <a14:foregroundMark x1="43243" y1="59874" x2="43243" y2="59874"/>
                        <a14:foregroundMark x1="43806" y1="63823" x2="43806" y2="63823"/>
                        <a14:foregroundMark x1="56982" y1="61769" x2="56982" y2="61769"/>
                        <a14:foregroundMark x1="75901" y1="61769" x2="75901" y2="61769"/>
                        <a14:foregroundMark x1="74662" y1="59558" x2="74662" y2="59558"/>
                        <a14:foregroundMark x1="75338" y1="56398" x2="75338" y2="56398"/>
                        <a14:foregroundMark x1="75563" y1="52607" x2="75563" y2="51501"/>
                        <a14:foregroundMark x1="75450" y1="48657" x2="75450" y2="47709"/>
                        <a14:foregroundMark x1="75450" y1="45182" x2="75450" y2="45182"/>
                        <a14:foregroundMark x1="74662" y1="57188" x2="74550" y2="57662"/>
                        <a14:foregroundMark x1="74550" y1="61137" x2="74550" y2="62085"/>
                        <a14:foregroundMark x1="71959" y1="63349" x2="71959" y2="63349"/>
                        <a14:foregroundMark x1="76464" y1="63191" x2="77703" y2="63033"/>
                        <a14:foregroundMark x1="78716" y1="62875" x2="78716" y2="62875"/>
                        <a14:foregroundMark x1="76014" y1="59242" x2="75676" y2="50079"/>
                        <a14:foregroundMark x1="65878" y1="48973" x2="66104" y2="38547"/>
                        <a14:foregroundMark x1="66441" y1="29068" x2="65991" y2="34439"/>
                        <a14:foregroundMark x1="66104" y1="29068" x2="45608" y2="30648"/>
                        <a14:foregroundMark x1="45608" y1="30648" x2="66779" y2="27646"/>
                        <a14:foregroundMark x1="66667" y1="28436" x2="39752" y2="29700"/>
                        <a14:foregroundMark x1="39752" y1="29700" x2="53153" y2="27488"/>
                        <a14:foregroundMark x1="53153" y1="27488" x2="60923" y2="27488"/>
                        <a14:foregroundMark x1="34685" y1="31596" x2="35248" y2="33017"/>
                        <a14:foregroundMark x1="42905" y1="45972" x2="41779" y2="81517"/>
                        <a14:foregroundMark x1="42905" y1="65877" x2="43581" y2="77409"/>
                        <a14:foregroundMark x1="72748" y1="81675" x2="77027" y2="82464"/>
                        <a14:foregroundMark x1="71509" y1="89889" x2="85473" y2="88152"/>
                        <a14:foregroundMark x1="85473" y1="88152" x2="86824" y2="88468"/>
                        <a14:foregroundMark x1="75676" y1="83570" x2="75676" y2="83570"/>
                        <a14:foregroundMark x1="77815" y1="83570" x2="79842" y2="83570"/>
                        <a14:foregroundMark x1="82995" y1="83254" x2="85023" y2="83254"/>
                        <a14:foregroundMark x1="85023" y1="83254" x2="84910" y2="84202"/>
                        <a14:foregroundMark x1="82883" y1="87046" x2="82658" y2="87520"/>
                        <a14:foregroundMark x1="81532" y1="84518" x2="76351" y2="82622"/>
                        <a14:foregroundMark x1="74550" y1="82306" x2="72072" y2="82306"/>
                        <a14:foregroundMark x1="71847" y1="82464" x2="83108" y2="80885"/>
                        <a14:foregroundMark x1="71509" y1="81043" x2="84009" y2="81517"/>
                        <a14:foregroundMark x1="82095" y1="81517" x2="84685" y2="83728"/>
                        <a14:foregroundMark x1="84572" y1="88784" x2="85923" y2="87994"/>
                        <a14:foregroundMark x1="86149" y1="88468" x2="85135" y2="88942"/>
                        <a14:foregroundMark x1="82095" y1="89731" x2="75788" y2="89731"/>
                        <a14:foregroundMark x1="74775" y1="89573" x2="70833" y2="90363"/>
                        <a14:foregroundMark x1="69595" y1="90363" x2="69595" y2="90363"/>
                        <a14:foregroundMark x1="69932" y1="86572" x2="70270" y2="84202"/>
                        <a14:foregroundMark x1="70495" y1="81833" x2="69820" y2="90363"/>
                        <a14:foregroundMark x1="70383" y1="82464" x2="77928" y2="81991"/>
                        <a14:foregroundMark x1="70495" y1="80569" x2="74550" y2="79779"/>
                        <a14:foregroundMark x1="70946" y1="79621" x2="86261" y2="80727"/>
                        <a14:foregroundMark x1="86261" y1="80727" x2="84910" y2="82780"/>
                        <a14:foregroundMark x1="83221" y1="81517" x2="83221" y2="81517"/>
                        <a14:foregroundMark x1="84122" y1="81517" x2="84234" y2="82622"/>
                        <a14:foregroundMark x1="84685" y1="84202" x2="84797" y2="85782"/>
                        <a14:foregroundMark x1="84910" y1="87994" x2="71959" y2="80885"/>
                        <a14:foregroundMark x1="71959" y1="80885" x2="85811" y2="80253"/>
                        <a14:foregroundMark x1="85811" y1="80253" x2="86261" y2="82622"/>
                        <a14:foregroundMark x1="86599" y1="87836" x2="84234" y2="88626"/>
                        <a14:foregroundMark x1="83559" y1="90047" x2="82432" y2="90047"/>
                        <a14:foregroundMark x1="82432" y1="89889" x2="82432" y2="89889"/>
                        <a14:foregroundMark x1="82207" y1="88942" x2="83784" y2="88942"/>
                        <a14:foregroundMark x1="86486" y1="89573" x2="87275" y2="89573"/>
                        <a14:foregroundMark x1="88176" y1="89573" x2="88176" y2="89573"/>
                        <a14:foregroundMark x1="25901" y1="46603" x2="25901" y2="73934"/>
                        <a14:foregroundMark x1="25901" y1="73934" x2="22973" y2="50395"/>
                        <a14:foregroundMark x1="22973" y1="50395" x2="26014" y2="53555"/>
                        <a14:foregroundMark x1="23986" y1="69510" x2="25338" y2="75197"/>
                        <a14:foregroundMark x1="25000" y1="78357" x2="25563" y2="79779"/>
                        <a14:foregroundMark x1="24212" y1="79779" x2="24212" y2="79779"/>
                        <a14:foregroundMark x1="25000" y1="80885" x2="25000" y2="80885"/>
                        <a14:foregroundMark x1="25676" y1="52923" x2="25113" y2="44392"/>
                        <a14:foregroundMark x1="25450" y1="45182" x2="24550" y2="58926"/>
                        <a14:foregroundMark x1="25676" y1="51975" x2="24212" y2="47551"/>
                        <a14:foregroundMark x1="44144" y1="45972" x2="42793" y2="45972"/>
                        <a14:foregroundMark x1="54842" y1="62559" x2="57432" y2="62717"/>
                        <a14:foregroundMark x1="53491" y1="27804" x2="40428" y2="27804"/>
                        <a14:foregroundMark x1="40428" y1="27804" x2="44707" y2="27962"/>
                        <a14:foregroundMark x1="32320" y1="29226" x2="35811" y2="30332"/>
                        <a14:foregroundMark x1="38401" y1="28120" x2="55968" y2="26540"/>
                        <a14:foregroundMark x1="55968" y1="26540" x2="69595" y2="17062"/>
                        <a14:foregroundMark x1="69595" y1="17062" x2="71059" y2="17536"/>
                        <a14:foregroundMark x1="68694" y1="21959" x2="67568" y2="33333"/>
                        <a14:foregroundMark x1="67005" y1="20063" x2="66104" y2="12006"/>
                        <a14:foregroundMark x1="73311" y1="64929" x2="76464" y2="61927"/>
                        <a14:foregroundMark x1="82658" y1="86730" x2="86599" y2="88310"/>
                        <a14:foregroundMark x1="32320" y1="93997" x2="35023" y2="94629"/>
                        <a14:foregroundMark x1="35248" y1="94945" x2="34234" y2="93207"/>
                        <a14:foregroundMark x1="34234" y1="92259" x2="34234" y2="91311"/>
                        <a14:foregroundMark x1="34347" y1="90363" x2="34347" y2="90363"/>
                        <a14:foregroundMark x1="35248" y1="92101" x2="35360" y2="93049"/>
                        <a14:foregroundMark x1="35360" y1="94471" x2="35360" y2="94471"/>
                        <a14:foregroundMark x1="35248" y1="91785" x2="35248" y2="91785"/>
                        <a14:foregroundMark x1="34797" y1="91153" x2="34685" y2="92259"/>
                        <a14:foregroundMark x1="34009" y1="93997" x2="34009" y2="94629"/>
                        <a14:foregroundMark x1="34009" y1="95261" x2="33446" y2="95419"/>
                        <a14:foregroundMark x1="32658" y1="95261" x2="32658" y2="95261"/>
                        <a14:foregroundMark x1="32320" y1="94945" x2="32320" y2="94945"/>
                        <a14:foregroundMark x1="32320" y1="94629" x2="32658" y2="95103"/>
                        <a14:foregroundMark x1="2477" y1="67773" x2="2477" y2="67773"/>
                        <a14:foregroundMark x1="3829" y1="68246" x2="4392" y2="68404"/>
                        <a14:foregroundMark x1="4842" y1="68404" x2="6532" y2="68404"/>
                        <a14:foregroundMark x1="7995" y1="68404" x2="8333" y2="68404"/>
                        <a14:foregroundMark x1="10135" y1="68404" x2="8108" y2="68562"/>
                        <a14:foregroundMark x1="6081" y1="68720" x2="19257" y2="67457"/>
                        <a14:foregroundMark x1="15315" y1="68878" x2="8446" y2="69036"/>
                        <a14:foregroundMark x1="6081" y1="69036" x2="8784" y2="68878"/>
                        <a14:foregroundMark x1="16892" y1="68562" x2="17455" y2="68404"/>
                        <a14:foregroundMark x1="18581" y1="68088" x2="20495" y2="67773"/>
                        <a14:foregroundMark x1="21959" y1="67773" x2="21959" y2="67773"/>
                        <a14:foregroundMark x1="19707" y1="67773" x2="15090" y2="67615"/>
                        <a14:foregroundMark x1="13851" y1="67615" x2="9009" y2="67773"/>
                        <a14:foregroundMark x1="4955" y1="67299" x2="1802" y2="66825"/>
                        <a14:foregroundMark x1="338" y1="66035" x2="225" y2="65245"/>
                        <a14:foregroundMark x1="225" y1="63349" x2="225" y2="61927"/>
                        <a14:foregroundMark x1="338" y1="58768" x2="225" y2="57662"/>
                        <a14:foregroundMark x1="225" y1="57188" x2="225" y2="57188"/>
                        <a14:foregroundMark x1="450" y1="61453" x2="676" y2="65561"/>
                        <a14:foregroundMark x1="1464" y1="69036" x2="1464" y2="68404"/>
                        <a14:foregroundMark x1="2027" y1="59716" x2="1802" y2="58294"/>
                        <a14:foregroundMark x1="1351" y1="56398" x2="225" y2="55924"/>
                        <a14:foregroundMark x1="225" y1="55924" x2="1351" y2="55766"/>
                        <a14:foregroundMark x1="3716" y1="55450" x2="5068" y2="55292"/>
                        <a14:foregroundMark x1="7995" y1="54818" x2="10360" y2="54502"/>
                        <a14:foregroundMark x1="11824" y1="54502" x2="13626" y2="54344"/>
                        <a14:foregroundMark x1="18243" y1="54344" x2="20045" y2="54344"/>
                        <a14:foregroundMark x1="20608" y1="54344" x2="20608" y2="54344"/>
                        <a14:foregroundMark x1="13514" y1="55292" x2="7207" y2="55292"/>
                        <a14:foregroundMark x1="3829" y1="54976" x2="2928" y2="54976"/>
                        <a14:foregroundMark x1="2703" y1="54976" x2="2703" y2="56240"/>
                        <a14:foregroundMark x1="8784" y1="57504" x2="12050" y2="57504"/>
                        <a14:foregroundMark x1="16441" y1="57504" x2="20608" y2="57662"/>
                        <a14:foregroundMark x1="22410" y1="57662" x2="22410" y2="57662"/>
                        <a14:foregroundMark x1="3153" y1="65877" x2="12050" y2="68720"/>
                        <a14:foregroundMark x1="19369" y1="67299" x2="19932" y2="67299"/>
                        <a14:foregroundMark x1="20946" y1="67299" x2="18131" y2="68246"/>
                        <a14:foregroundMark x1="16216" y1="68878" x2="12275" y2="69194"/>
                        <a14:foregroundMark x1="8108" y1="69036" x2="4842" y2="69036"/>
                        <a14:foregroundMark x1="2928" y1="69036" x2="2027" y2="69036"/>
                        <a14:foregroundMark x1="1239" y1="69036" x2="1239" y2="69036"/>
                        <a14:foregroundMark x1="3153" y1="68404" x2="3153" y2="68404"/>
                        <a14:foregroundMark x1="2928" y1="58926" x2="2928" y2="58926"/>
                        <a14:foregroundMark x1="2140" y1="57188" x2="4730" y2="56082"/>
                        <a14:foregroundMark x1="9234" y1="55608" x2="12838" y2="55450"/>
                        <a14:foregroundMark x1="15878" y1="55450" x2="15878" y2="55450"/>
                        <a14:foregroundMark x1="5856" y1="55766" x2="5856" y2="55766"/>
                        <a14:foregroundMark x1="2140" y1="56714" x2="2140" y2="56714"/>
                        <a14:foregroundMark x1="17455" y1="68246" x2="17455" y2="68246"/>
                        <a14:foregroundMark x1="20721" y1="68720" x2="20721" y2="68720"/>
                        <a14:foregroundMark x1="26239" y1="80885" x2="26239" y2="80885"/>
                        <a14:foregroundMark x1="45608" y1="70932" x2="45608" y2="70932"/>
                        <a14:foregroundMark x1="47523" y1="69036" x2="47523" y2="69036"/>
                        <a14:foregroundMark x1="49662" y1="68878" x2="49662" y2="68878"/>
                        <a14:foregroundMark x1="52365" y1="68878" x2="52703" y2="68878"/>
                        <a14:foregroundMark x1="54955" y1="68878" x2="54955" y2="68878"/>
                        <a14:foregroundMark x1="55743" y1="68878" x2="55293" y2="68878"/>
                        <a14:foregroundMark x1="51239" y1="68878" x2="54392" y2="68720"/>
                        <a14:foregroundMark x1="54505" y1="69510" x2="54505" y2="69510"/>
                        <a14:foregroundMark x1="52703" y1="66983" x2="52252" y2="61137"/>
                        <a14:foregroundMark x1="55631" y1="59716" x2="54955" y2="61295"/>
                        <a14:foregroundMark x1="55293" y1="59242" x2="55293" y2="59242"/>
                        <a14:foregroundMark x1="56194" y1="54818" x2="56532" y2="54186"/>
                        <a14:foregroundMark x1="57545" y1="51659" x2="57545" y2="51659"/>
                        <a14:foregroundMark x1="55293" y1="45972" x2="46509" y2="50711"/>
                        <a14:foregroundMark x1="46284" y1="50711" x2="55631" y2="48025"/>
                        <a14:foregroundMark x1="55293" y1="44076" x2="54730" y2="49447"/>
                        <a14:foregroundMark x1="57207" y1="64771" x2="58671" y2="63349"/>
                        <a14:foregroundMark x1="55405" y1="71248" x2="77140" y2="65403"/>
                        <a14:foregroundMark x1="77140" y1="65403" x2="74437" y2="67457"/>
                        <a14:foregroundMark x1="51464" y1="70300" x2="53829" y2="69194"/>
                        <a14:foregroundMark x1="53716" y1="72038" x2="50901" y2="69984"/>
                        <a14:foregroundMark x1="48198" y1="70458" x2="46622" y2="70458"/>
                        <a14:foregroundMark x1="44820" y1="70142" x2="44707" y2="69510"/>
                        <a14:foregroundMark x1="45495" y1="68720" x2="48086" y2="68246"/>
                        <a14:foregroundMark x1="51239" y1="68088" x2="52365" y2="68404"/>
                        <a14:foregroundMark x1="68694" y1="69668" x2="69820" y2="69668"/>
                        <a14:foregroundMark x1="71059" y1="69668" x2="71059" y2="69668"/>
                        <a14:foregroundMark x1="72635" y1="69036" x2="74099" y2="68720"/>
                        <a14:foregroundMark x1="75113" y1="68562" x2="75113" y2="68562"/>
                        <a14:foregroundMark x1="70833" y1="68720" x2="68581" y2="69036"/>
                        <a14:foregroundMark x1="65541" y1="69194" x2="64752" y2="69194"/>
                        <a14:foregroundMark x1="64865" y1="69194" x2="67117" y2="69510"/>
                        <a14:foregroundMark x1="68131" y1="69510" x2="68131" y2="69510"/>
                        <a14:foregroundMark x1="68131" y1="68562" x2="68468" y2="68088"/>
                        <a14:foregroundMark x1="68806" y1="67615" x2="68806" y2="67615"/>
                        <a14:foregroundMark x1="44707" y1="44234" x2="43694" y2="44076"/>
                        <a14:foregroundMark x1="42455" y1="44076" x2="43468" y2="45182"/>
                        <a14:foregroundMark x1="43694" y1="45498" x2="43694" y2="45498"/>
                        <a14:foregroundMark x1="44482" y1="45498" x2="44482" y2="45498"/>
                        <a14:foregroundMark x1="44482" y1="45182" x2="44369" y2="44708"/>
                        <a14:foregroundMark x1="27477" y1="45182" x2="26126" y2="45498"/>
                        <a14:foregroundMark x1="25450" y1="45024" x2="25676" y2="45498"/>
                        <a14:foregroundMark x1="26239" y1="46288" x2="25901" y2="45024"/>
                        <a14:foregroundMark x1="25113" y1="43760" x2="24437" y2="42970"/>
                        <a14:foregroundMark x1="23986" y1="42022" x2="23986" y2="42022"/>
                        <a14:foregroundMark x1="23986" y1="42022" x2="24437" y2="42970"/>
                        <a14:foregroundMark x1="24662" y1="44234" x2="24662" y2="45814"/>
                        <a14:foregroundMark x1="24662" y1="47235" x2="24662" y2="48657"/>
                        <a14:foregroundMark x1="25000" y1="51027" x2="25338" y2="53397"/>
                        <a14:foregroundMark x1="33333" y1="30806" x2="32995" y2="30490"/>
                        <a14:foregroundMark x1="31982" y1="29542" x2="31982" y2="29542"/>
                        <a14:foregroundMark x1="32095" y1="28436" x2="32095" y2="27804"/>
                        <a14:foregroundMark x1="32095" y1="27172" x2="32995" y2="27014"/>
                        <a14:foregroundMark x1="33671" y1="26540" x2="34459" y2="26540"/>
                        <a14:foregroundMark x1="36036" y1="26540" x2="36599" y2="26540"/>
                        <a14:foregroundMark x1="37162" y1="26540" x2="37162" y2="26540"/>
                        <a14:foregroundMark x1="34122" y1="26540" x2="32432" y2="26540"/>
                        <a14:foregroundMark x1="31532" y1="26224" x2="30968" y2="26224"/>
                        <a14:foregroundMark x1="31419" y1="26224" x2="33221" y2="26224"/>
                        <a14:foregroundMark x1="34797" y1="26224" x2="37387" y2="26382"/>
                        <a14:foregroundMark x1="37838" y1="26540" x2="37838" y2="26540"/>
                        <a14:foregroundMark x1="34122" y1="26698" x2="32995" y2="26698"/>
                        <a14:foregroundMark x1="30968" y1="26382" x2="30968" y2="26382"/>
                        <a14:foregroundMark x1="31644" y1="26066" x2="34009" y2="25908"/>
                        <a14:foregroundMark x1="34459" y1="25908" x2="35360" y2="25908"/>
                        <a14:foregroundMark x1="36036" y1="25908" x2="36599" y2="25908"/>
                        <a14:foregroundMark x1="37275" y1="25750" x2="37275" y2="25750"/>
                        <a14:foregroundMark x1="34122" y1="25750" x2="32320" y2="25908"/>
                        <a14:foregroundMark x1="31644" y1="26066" x2="30968" y2="27804"/>
                        <a14:foregroundMark x1="30743" y1="28752" x2="30743" y2="30648"/>
                        <a14:foregroundMark x1="31081" y1="31596" x2="32207" y2="32227"/>
                        <a14:foregroundMark x1="33784" y1="32385" x2="36036" y2="32385"/>
                        <a14:foregroundMark x1="37050" y1="32385" x2="37613" y2="32701"/>
                        <a14:foregroundMark x1="60923" y1="26698" x2="60586" y2="25276"/>
                        <a14:foregroundMark x1="60473" y1="22749" x2="60473" y2="20379"/>
                        <a14:foregroundMark x1="60473" y1="17852" x2="60923" y2="15324"/>
                        <a14:foregroundMark x1="62500" y1="13270" x2="65090" y2="12638"/>
                        <a14:foregroundMark x1="67568" y1="12480" x2="70270" y2="12480"/>
                        <a14:foregroundMark x1="75000" y1="12480" x2="75000" y2="12480"/>
                        <a14:foregroundMark x1="72297" y1="14376" x2="70270" y2="14692"/>
                        <a14:foregroundMark x1="66329" y1="13744" x2="62838" y2="13428"/>
                        <a14:foregroundMark x1="60586" y1="13902" x2="60023" y2="15324"/>
                        <a14:foregroundMark x1="60248" y1="16746" x2="60248" y2="19431"/>
                        <a14:foregroundMark x1="60360" y1="21011" x2="60360" y2="22907"/>
                        <a14:foregroundMark x1="60360" y1="24487" x2="60360" y2="24329"/>
                        <a14:foregroundMark x1="60811" y1="18167" x2="61036" y2="15166"/>
                        <a14:foregroundMark x1="61824" y1="14060" x2="64752" y2="13902"/>
                        <a14:foregroundMark x1="69932" y1="14534" x2="73536" y2="15166"/>
                        <a14:foregroundMark x1="74324" y1="15324" x2="74099" y2="17852"/>
                        <a14:foregroundMark x1="73423" y1="21011" x2="71734" y2="27804"/>
                        <a14:foregroundMark x1="71622" y1="25118" x2="72523" y2="19115"/>
                        <a14:foregroundMark x1="72748" y1="18167" x2="72297" y2="21011"/>
                        <a14:foregroundMark x1="71509" y1="24803" x2="70495" y2="27172"/>
                        <a14:foregroundMark x1="67905" y1="28752" x2="67005" y2="28910"/>
                        <a14:foregroundMark x1="67005" y1="28910" x2="69820" y2="28910"/>
                        <a14:foregroundMark x1="71059" y1="28752" x2="72635" y2="28120"/>
                        <a14:foregroundMark x1="73086" y1="27330" x2="72748" y2="26066"/>
                        <a14:foregroundMark x1="73536" y1="19905" x2="73536" y2="19905"/>
                        <a14:foregroundMark x1="72860" y1="21485" x2="71396" y2="25908"/>
                        <a14:foregroundMark x1="70045" y1="29068" x2="70721" y2="32859"/>
                        <a14:foregroundMark x1="71509" y1="33649" x2="72523" y2="34123"/>
                        <a14:foregroundMark x1="75901" y1="34439" x2="77027" y2="34439"/>
                        <a14:foregroundMark x1="77815" y1="34439" x2="77815" y2="34439"/>
                        <a14:foregroundMark x1="73649" y1="30964" x2="72748" y2="30174"/>
                        <a14:foregroundMark x1="71847" y1="29384" x2="71396" y2="30964"/>
                        <a14:foregroundMark x1="71509" y1="34123" x2="73761" y2="35071"/>
                        <a14:foregroundMark x1="77815" y1="35071" x2="78941" y2="35071"/>
                        <a14:foregroundMark x1="78941" y1="35703" x2="76577" y2="38863"/>
                        <a14:foregroundMark x1="75788" y1="41232" x2="74887" y2="46445"/>
                        <a14:foregroundMark x1="74887" y1="46603" x2="77590" y2="32701"/>
                        <a14:foregroundMark x1="73536" y1="32227" x2="78153" y2="33175"/>
                        <a14:foregroundMark x1="77815" y1="36177" x2="77140" y2="37599"/>
                        <a14:foregroundMark x1="76126" y1="33175" x2="76689" y2="33807"/>
                        <a14:foregroundMark x1="76802" y1="47077" x2="89865" y2="55292"/>
                        <a14:foregroundMark x1="89865" y1="55292" x2="92117" y2="54976"/>
                        <a14:foregroundMark x1="90766" y1="56398" x2="90766" y2="56398"/>
                        <a14:foregroundMark x1="91892" y1="56872" x2="93694" y2="56872"/>
                        <a14:foregroundMark x1="97635" y1="57030" x2="97973" y2="57030"/>
                        <a14:foregroundMark x1="94932" y1="56714" x2="93468" y2="56714"/>
                        <a14:foregroundMark x1="93468" y1="56714" x2="93468" y2="56714"/>
                        <a14:foregroundMark x1="93468" y1="56714" x2="95721" y2="56398"/>
                        <a14:foregroundMark x1="97072" y1="56240" x2="98986" y2="56240"/>
                        <a14:foregroundMark x1="99887" y1="56082" x2="98761" y2="55924"/>
                        <a14:foregroundMark x1="94032" y1="55450" x2="91892" y2="55292"/>
                        <a14:foregroundMark x1="90766" y1="55292" x2="90766" y2="55292"/>
                        <a14:foregroundMark x1="93919" y1="55766" x2="97297" y2="56398"/>
                        <a14:foregroundMark x1="97973" y1="56714" x2="97973" y2="56714"/>
                        <a14:foregroundMark x1="19482" y1="55292" x2="14640" y2="55608"/>
                        <a14:foregroundMark x1="14640" y1="55608" x2="14640" y2="55608"/>
                        <a14:foregroundMark x1="24212" y1="33807" x2="30180" y2="32701"/>
                        <a14:foregroundMark x1="25225" y1="33017" x2="25225" y2="33017"/>
                        <a14:foregroundMark x1="28491" y1="32701" x2="28491" y2="32701"/>
                        <a14:foregroundMark x1="26014" y1="32701" x2="25225" y2="32701"/>
                        <a14:foregroundMark x1="24437" y1="32701" x2="25901" y2="40916"/>
                        <a14:foregroundMark x1="25338" y1="41706" x2="23649" y2="33649"/>
                        <a14:foregroundMark x1="25225" y1="40916" x2="25113" y2="41548"/>
                        <a14:foregroundMark x1="25450" y1="34755" x2="25225" y2="34123"/>
                        <a14:foregroundMark x1="23198" y1="32859" x2="29279" y2="33017"/>
                        <a14:foregroundMark x1="29167" y1="32859" x2="30743" y2="32227"/>
                        <a14:foregroundMark x1="27252" y1="33807" x2="27252" y2="33807"/>
                        <a14:foregroundMark x1="26689" y1="33175" x2="26689" y2="33175"/>
                        <a14:foregroundMark x1="87162" y1="66193" x2="90878" y2="64297"/>
                        <a14:foregroundMark x1="87162" y1="64929" x2="87162" y2="64929"/>
                        <a14:foregroundMark x1="94595" y1="66351" x2="94595" y2="66351"/>
                        <a14:foregroundMark x1="93919" y1="71564" x2="80068" y2="71090"/>
                        <a14:foregroundMark x1="80068" y1="71090" x2="94144" y2="74566"/>
                        <a14:foregroundMark x1="82995" y1="85940" x2="87275" y2="82306"/>
                        <a14:foregroundMark x1="82207" y1="90363" x2="75901" y2="85940"/>
                        <a14:foregroundMark x1="26126" y1="81517" x2="32207" y2="91627"/>
                        <a14:foregroundMark x1="30068" y1="90995" x2="30068" y2="90995"/>
                        <a14:foregroundMark x1="29505" y1="90995" x2="27365" y2="91469"/>
                        <a14:foregroundMark x1="25676" y1="91469" x2="24324" y2="91311"/>
                        <a14:foregroundMark x1="23423" y1="90995" x2="23423" y2="90995"/>
                        <a14:foregroundMark x1="24324" y1="90995" x2="33784" y2="91153"/>
                        <a14:foregroundMark x1="30968" y1="91311" x2="30518" y2="91469"/>
                        <a14:foregroundMark x1="29955" y1="91627" x2="28604" y2="91785"/>
                        <a14:foregroundMark x1="27140" y1="91785" x2="26351" y2="91785"/>
                        <a14:foregroundMark x1="25000" y1="91627" x2="25000" y2="91627"/>
                        <a14:foregroundMark x1="24437" y1="91627" x2="24437" y2="91627"/>
                        <a14:foregroundMark x1="23536" y1="91469" x2="23198" y2="90679"/>
                        <a14:foregroundMark x1="23198" y1="90047" x2="23536" y2="89415"/>
                        <a14:foregroundMark x1="24437" y1="87836" x2="24887" y2="86730"/>
                        <a14:foregroundMark x1="25338" y1="84044" x2="25338" y2="84044"/>
                        <a14:foregroundMark x1="25225" y1="82622" x2="25225" y2="82622"/>
                        <a14:foregroundMark x1="24662" y1="84044" x2="23874" y2="87836"/>
                        <a14:foregroundMark x1="23874" y1="87994" x2="23986" y2="87046"/>
                        <a14:foregroundMark x1="24662" y1="84518" x2="25901" y2="80569"/>
                        <a14:foregroundMark x1="26239" y1="79937" x2="26239" y2="79937"/>
                        <a14:foregroundMark x1="20270" y1="69194" x2="20270" y2="69194"/>
                        <a14:foregroundMark x1="19257" y1="69194" x2="17455" y2="69194"/>
                        <a14:foregroundMark x1="17117" y1="69194" x2="17117" y2="69194"/>
                        <a14:foregroundMark x1="2252" y1="56082" x2="2252" y2="56082"/>
                        <a14:foregroundMark x1="2140" y1="56714" x2="2140" y2="56714"/>
                        <a14:foregroundMark x1="1126" y1="56082" x2="1126" y2="56082"/>
                        <a14:foregroundMark x1="1464" y1="56082" x2="1464" y2="56082"/>
                        <a14:foregroundMark x1="2252" y1="56082" x2="2252" y2="56082"/>
                        <a14:foregroundMark x1="2365" y1="56082" x2="1464" y2="56082"/>
                        <a14:foregroundMark x1="3153" y1="56714" x2="2815" y2="56398"/>
                        <a14:foregroundMark x1="1802" y1="55766" x2="1802" y2="55766"/>
                        <a14:foregroundMark x1="1689" y1="55766" x2="1689" y2="55766"/>
                        <a14:foregroundMark x1="26014" y1="33175" x2="28153" y2="32859"/>
                        <a14:foregroundMark x1="27252" y1="33175" x2="27252" y2="33175"/>
                        <a14:foregroundMark x1="26577" y1="33333" x2="26577" y2="33333"/>
                        <a14:foregroundMark x1="26351" y1="32859" x2="26351" y2="32859"/>
                        <a14:foregroundMark x1="61486" y1="9795" x2="61486" y2="9795"/>
                        <a14:foregroundMark x1="60923" y1="7741" x2="60923" y2="7741"/>
                        <a14:foregroundMark x1="60811" y1="4897" x2="60811" y2="4897"/>
                        <a14:foregroundMark x1="60586" y1="6477" x2="60586" y2="8215"/>
                        <a14:foregroundMark x1="60586" y1="9479" x2="60586" y2="9479"/>
                        <a14:foregroundMark x1="60586" y1="10111" x2="61599" y2="11058"/>
                        <a14:foregroundMark x1="72297" y1="8847" x2="72297" y2="8847"/>
                        <a14:foregroundMark x1="71847" y1="6951" x2="71734" y2="6161"/>
                        <a14:foregroundMark x1="71622" y1="4581" x2="71622" y2="3949"/>
                        <a14:foregroundMark x1="71622" y1="3318" x2="71622" y2="3318"/>
                        <a14:foregroundMark x1="71622" y1="2528" x2="71622" y2="2528"/>
                        <a14:foregroundMark x1="71396" y1="6161" x2="71509" y2="9637"/>
                        <a14:foregroundMark x1="71509" y1="10900" x2="71622" y2="12480"/>
                        <a14:foregroundMark x1="71284" y1="6635" x2="71284" y2="2528"/>
                        <a14:backgroundMark x1="16329" y1="20379" x2="16329" y2="20379"/>
                        <a14:backgroundMark x1="24212" y1="19115" x2="24212" y2="19115"/>
                        <a14:backgroundMark x1="85473" y1="25908" x2="85473" y2="25908"/>
                        <a14:backgroundMark x1="83896" y1="24803" x2="83896" y2="24803"/>
                        <a14:backgroundMark x1="85473" y1="34281" x2="85811" y2="40442"/>
                        <a14:backgroundMark x1="79505" y1="71090" x2="79505" y2="71090"/>
                      </a14:backgroundRemoval>
                    </a14:imgEffect>
                  </a14:imgLayer>
                </a14:imgProps>
              </a:ext>
              <a:ext uri="{28A0092B-C50C-407E-A947-70E740481C1C}">
                <a14:useLocalDpi xmlns:a14="http://schemas.microsoft.com/office/drawing/2010/main" val="0"/>
              </a:ext>
            </a:extLst>
          </a:blip>
          <a:stretch>
            <a:fillRect/>
          </a:stretch>
        </p:blipFill>
        <p:spPr>
          <a:xfrm>
            <a:off x="7248128" y="2384885"/>
            <a:ext cx="4141655" cy="2952328"/>
          </a:xfrm>
          <a:prstGeom prst="rect">
            <a:avLst/>
          </a:prstGeom>
        </p:spPr>
      </p:pic>
      <p:sp>
        <p:nvSpPr>
          <p:cNvPr id="9" name="矩形 8">
            <a:extLst>
              <a:ext uri="{FF2B5EF4-FFF2-40B4-BE49-F238E27FC236}">
                <a16:creationId xmlns:a16="http://schemas.microsoft.com/office/drawing/2014/main" id="{0B6A9D03-9BE1-C620-05CE-8D78AD34F4EF}"/>
              </a:ext>
            </a:extLst>
          </p:cNvPr>
          <p:cNvSpPr/>
          <p:nvPr/>
        </p:nvSpPr>
        <p:spPr>
          <a:xfrm>
            <a:off x="5955200" y="5435351"/>
            <a:ext cx="5688632" cy="307777"/>
          </a:xfrm>
          <a:prstGeom prst="rect">
            <a:avLst/>
          </a:prstGeom>
        </p:spPr>
        <p:txBody>
          <a:bodyPr wrap="square">
            <a:spAutoFit/>
          </a:bodyPr>
          <a:lstStyle/>
          <a:p>
            <a:pPr lvl="2"/>
            <a:r>
              <a:rPr lang="en-US" altLang="zh-CN" sz="1400" dirty="0"/>
              <a:t>Figure 2: Structure of the controllable diffusion model.</a:t>
            </a:r>
          </a:p>
        </p:txBody>
      </p:sp>
    </p:spTree>
    <p:extLst>
      <p:ext uri="{BB962C8B-B14F-4D97-AF65-F5344CB8AC3E}">
        <p14:creationId xmlns:p14="http://schemas.microsoft.com/office/powerpoint/2010/main" val="15215330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4D9D8-8E46-6E9E-01AF-65F8717CCBC2}"/>
              </a:ext>
            </a:extLst>
          </p:cNvPr>
          <p:cNvSpPr>
            <a:spLocks noGrp="1"/>
          </p:cNvSpPr>
          <p:nvPr>
            <p:ph type="title"/>
          </p:nvPr>
        </p:nvSpPr>
        <p:spPr/>
        <p:txBody>
          <a:bodyPr/>
          <a:lstStyle/>
          <a:p>
            <a:r>
              <a:rPr lang="en-US" altLang="zh-CN" sz="3200" dirty="0"/>
              <a:t>Appendix</a:t>
            </a:r>
            <a:endParaRPr lang="en-AU" sz="3200" dirty="0"/>
          </a:p>
        </p:txBody>
      </p:sp>
      <p:pic>
        <p:nvPicPr>
          <p:cNvPr id="3" name="图片 2" descr="手机屏幕截图&#10;&#10;描述已自动生成">
            <a:extLst>
              <a:ext uri="{FF2B5EF4-FFF2-40B4-BE49-F238E27FC236}">
                <a16:creationId xmlns:a16="http://schemas.microsoft.com/office/drawing/2014/main" id="{1E68B47E-B372-81C4-E10B-6937258216DF}"/>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528" b="96367" l="113" r="99775">
                        <a14:foregroundMark x1="34234" y1="28436" x2="34234" y2="28436"/>
                        <a14:foregroundMark x1="35586" y1="27014" x2="35586" y2="27014"/>
                        <a14:foregroundMark x1="34009" y1="27804" x2="34009" y2="27804"/>
                        <a14:foregroundMark x1="32207" y1="29068" x2="32207" y2="29068"/>
                        <a14:foregroundMark x1="36599" y1="29858" x2="36599" y2="29858"/>
                        <a14:foregroundMark x1="36149" y1="28594" x2="36149" y2="28594"/>
                        <a14:foregroundMark x1="32432" y1="28752" x2="32432" y2="28752"/>
                        <a14:foregroundMark x1="31532" y1="36019" x2="31532" y2="36019"/>
                        <a14:foregroundMark x1="29505" y1="41548" x2="29505" y2="41548"/>
                        <a14:foregroundMark x1="33559" y1="43602" x2="33559" y2="43602"/>
                        <a14:foregroundMark x1="30631" y1="47709" x2="30631" y2="47709"/>
                        <a14:foregroundMark x1="30068" y1="47867" x2="30068" y2="47867"/>
                        <a14:foregroundMark x1="9459" y1="61137" x2="9459" y2="61137"/>
                        <a14:foregroundMark x1="7207" y1="61453" x2="6532" y2="61453"/>
                        <a14:foregroundMark x1="4167" y1="61295" x2="4167" y2="61295"/>
                        <a14:foregroundMark x1="3491" y1="59874" x2="3491" y2="59874"/>
                        <a14:foregroundMark x1="3153" y1="58610" x2="3153" y2="58610"/>
                        <a14:foregroundMark x1="9122" y1="58294" x2="9122" y2="58294"/>
                        <a14:foregroundMark x1="10811" y1="57188" x2="10811" y2="57188"/>
                        <a14:foregroundMark x1="14977" y1="61927" x2="14977" y2="61927"/>
                        <a14:foregroundMark x1="17117" y1="64771" x2="17117" y2="64771"/>
                        <a14:foregroundMark x1="20383" y1="66035" x2="20383" y2="66035"/>
                        <a14:foregroundMark x1="21171" y1="62401" x2="21171" y2="62401"/>
                        <a14:foregroundMark x1="18919" y1="58452" x2="19369" y2="58294"/>
                        <a14:foregroundMark x1="21622" y1="58294" x2="21622" y2="58294"/>
                        <a14:foregroundMark x1="10135" y1="64139" x2="10135" y2="64139"/>
                        <a14:foregroundMark x1="8221" y1="67141" x2="8221" y2="67141"/>
                        <a14:foregroundMark x1="5293" y1="68088" x2="4842" y2="67773"/>
                        <a14:foregroundMark x1="2365" y1="66825" x2="2365" y2="66825"/>
                        <a14:foregroundMark x1="1914" y1="64297" x2="2477" y2="61611"/>
                        <a14:foregroundMark x1="3829" y1="59558" x2="3829" y2="59558"/>
                        <a14:foregroundMark x1="30068" y1="63191" x2="30068" y2="63191"/>
                        <a14:foregroundMark x1="34797" y1="95103" x2="34797" y2="95103"/>
                        <a14:foregroundMark x1="32995" y1="97156" x2="32995" y2="97156"/>
                        <a14:foregroundMark x1="34797" y1="93207" x2="34797" y2="93207"/>
                        <a14:foregroundMark x1="78153" y1="87204" x2="78153" y2="87204"/>
                        <a14:foregroundMark x1="80405" y1="88942" x2="80405" y2="88942"/>
                        <a14:foregroundMark x1="84459" y1="89258" x2="84459" y2="89258"/>
                        <a14:foregroundMark x1="73536" y1="88468" x2="71847" y2="88468"/>
                        <a14:foregroundMark x1="70833" y1="88468" x2="70833" y2="88468"/>
                        <a14:foregroundMark x1="82883" y1="89415" x2="84009" y2="89415"/>
                        <a14:foregroundMark x1="85811" y1="89415" x2="85023" y2="89415"/>
                        <a14:foregroundMark x1="79955" y1="89258" x2="84234" y2="87520"/>
                        <a14:foregroundMark x1="81869" y1="82780" x2="81869" y2="82780"/>
                        <a14:foregroundMark x1="79955" y1="82622" x2="77590" y2="82622"/>
                        <a14:foregroundMark x1="75338" y1="82780" x2="74099" y2="82938"/>
                        <a14:foregroundMark x1="71396" y1="83096" x2="71396" y2="83096"/>
                        <a14:foregroundMark x1="71959" y1="80569" x2="71959" y2="80569"/>
                        <a14:foregroundMark x1="70608" y1="80569" x2="70608" y2="80569"/>
                        <a14:foregroundMark x1="81982" y1="81991" x2="81982" y2="81991"/>
                        <a14:foregroundMark x1="84797" y1="82464" x2="84797" y2="82464"/>
                        <a14:foregroundMark x1="82658" y1="82464" x2="82658" y2="82464"/>
                        <a14:foregroundMark x1="88063" y1="59716" x2="88063" y2="59716"/>
                        <a14:foregroundMark x1="83108" y1="60664" x2="83108" y2="60664"/>
                        <a14:foregroundMark x1="94482" y1="61611" x2="94482" y2="61611"/>
                        <a14:foregroundMark x1="96171" y1="60348" x2="96171" y2="60348"/>
                        <a14:foregroundMark x1="96959" y1="63033" x2="97072" y2="63823"/>
                        <a14:foregroundMark x1="97185" y1="65719" x2="97185" y2="65719"/>
                        <a14:foregroundMark x1="64077" y1="7899" x2="64077" y2="7899"/>
                        <a14:foregroundMark x1="62950" y1="4897" x2="62950" y2="4897"/>
                        <a14:foregroundMark x1="68018" y1="3633" x2="68468" y2="3633"/>
                        <a14:foregroundMark x1="70045" y1="3633" x2="70045" y2="3633"/>
                        <a14:foregroundMark x1="68468" y1="25276" x2="68468" y2="25276"/>
                        <a14:foregroundMark x1="70270" y1="25592" x2="70270" y2="25592"/>
                        <a14:foregroundMark x1="64865" y1="3002" x2="64865" y2="3002"/>
                        <a14:foregroundMark x1="63851" y1="3002" x2="63851" y2="3002"/>
                        <a14:foregroundMark x1="66104" y1="65245" x2="66104" y2="65245"/>
                        <a14:foregroundMark x1="70270" y1="64771" x2="70270" y2="64771"/>
                        <a14:foregroundMark x1="42905" y1="63033" x2="42905" y2="63033"/>
                        <a14:foregroundMark x1="43243" y1="59874" x2="43243" y2="59874"/>
                        <a14:foregroundMark x1="43806" y1="63823" x2="43806" y2="63823"/>
                        <a14:foregroundMark x1="56982" y1="61769" x2="56982" y2="61769"/>
                        <a14:foregroundMark x1="75901" y1="61769" x2="75901" y2="61769"/>
                        <a14:foregroundMark x1="74662" y1="59558" x2="74662" y2="59558"/>
                        <a14:foregroundMark x1="75338" y1="56398" x2="75338" y2="56398"/>
                        <a14:foregroundMark x1="75563" y1="52607" x2="75563" y2="51501"/>
                        <a14:foregroundMark x1="75450" y1="48657" x2="75450" y2="47709"/>
                        <a14:foregroundMark x1="75450" y1="45182" x2="75450" y2="45182"/>
                        <a14:foregroundMark x1="74662" y1="57188" x2="74550" y2="57662"/>
                        <a14:foregroundMark x1="74550" y1="61137" x2="74550" y2="62085"/>
                        <a14:foregroundMark x1="71959" y1="63349" x2="71959" y2="63349"/>
                        <a14:foregroundMark x1="76464" y1="63191" x2="77703" y2="63033"/>
                        <a14:foregroundMark x1="78716" y1="62875" x2="78716" y2="62875"/>
                        <a14:foregroundMark x1="76014" y1="59242" x2="75676" y2="50079"/>
                        <a14:foregroundMark x1="65878" y1="48973" x2="66104" y2="38547"/>
                        <a14:foregroundMark x1="66441" y1="29068" x2="65991" y2="34439"/>
                        <a14:foregroundMark x1="66104" y1="29068" x2="45608" y2="30648"/>
                        <a14:foregroundMark x1="45608" y1="30648" x2="66779" y2="27646"/>
                        <a14:foregroundMark x1="66667" y1="28436" x2="39752" y2="29700"/>
                        <a14:foregroundMark x1="39752" y1="29700" x2="53153" y2="27488"/>
                        <a14:foregroundMark x1="53153" y1="27488" x2="60923" y2="27488"/>
                        <a14:foregroundMark x1="34685" y1="31596" x2="35248" y2="33017"/>
                        <a14:foregroundMark x1="42905" y1="45972" x2="41779" y2="81517"/>
                        <a14:foregroundMark x1="42905" y1="65877" x2="43581" y2="77409"/>
                        <a14:foregroundMark x1="72748" y1="81675" x2="77027" y2="82464"/>
                        <a14:foregroundMark x1="71509" y1="89889" x2="85473" y2="88152"/>
                        <a14:foregroundMark x1="85473" y1="88152" x2="86824" y2="88468"/>
                        <a14:foregroundMark x1="75676" y1="83570" x2="75676" y2="83570"/>
                        <a14:foregroundMark x1="77815" y1="83570" x2="79842" y2="83570"/>
                        <a14:foregroundMark x1="82995" y1="83254" x2="85023" y2="83254"/>
                        <a14:foregroundMark x1="85023" y1="83254" x2="84910" y2="84202"/>
                        <a14:foregroundMark x1="82883" y1="87046" x2="82658" y2="87520"/>
                        <a14:foregroundMark x1="81532" y1="84518" x2="76351" y2="82622"/>
                        <a14:foregroundMark x1="74550" y1="82306" x2="72072" y2="82306"/>
                        <a14:foregroundMark x1="71847" y1="82464" x2="83108" y2="80885"/>
                        <a14:foregroundMark x1="71509" y1="81043" x2="84009" y2="81517"/>
                        <a14:foregroundMark x1="82095" y1="81517" x2="84685" y2="83728"/>
                        <a14:foregroundMark x1="84572" y1="88784" x2="85923" y2="87994"/>
                        <a14:foregroundMark x1="86149" y1="88468" x2="85135" y2="88942"/>
                        <a14:foregroundMark x1="82095" y1="89731" x2="75788" y2="89731"/>
                        <a14:foregroundMark x1="74775" y1="89573" x2="70833" y2="90363"/>
                        <a14:foregroundMark x1="69595" y1="90363" x2="69595" y2="90363"/>
                        <a14:foregroundMark x1="69932" y1="86572" x2="70270" y2="84202"/>
                        <a14:foregroundMark x1="70495" y1="81833" x2="69820" y2="90363"/>
                        <a14:foregroundMark x1="70383" y1="82464" x2="77928" y2="81991"/>
                        <a14:foregroundMark x1="70495" y1="80569" x2="74550" y2="79779"/>
                        <a14:foregroundMark x1="70946" y1="79621" x2="86261" y2="80727"/>
                        <a14:foregroundMark x1="86261" y1="80727" x2="84910" y2="82780"/>
                        <a14:foregroundMark x1="83221" y1="81517" x2="83221" y2="81517"/>
                        <a14:foregroundMark x1="84122" y1="81517" x2="84234" y2="82622"/>
                        <a14:foregroundMark x1="84685" y1="84202" x2="84797" y2="85782"/>
                        <a14:foregroundMark x1="84910" y1="87994" x2="71959" y2="80885"/>
                        <a14:foregroundMark x1="71959" y1="80885" x2="85811" y2="80253"/>
                        <a14:foregroundMark x1="85811" y1="80253" x2="86261" y2="82622"/>
                        <a14:foregroundMark x1="86599" y1="87836" x2="84234" y2="88626"/>
                        <a14:foregroundMark x1="83559" y1="90047" x2="82432" y2="90047"/>
                        <a14:foregroundMark x1="82432" y1="89889" x2="82432" y2="89889"/>
                        <a14:foregroundMark x1="82207" y1="88942" x2="83784" y2="88942"/>
                        <a14:foregroundMark x1="86486" y1="89573" x2="87275" y2="89573"/>
                        <a14:foregroundMark x1="88176" y1="89573" x2="88176" y2="89573"/>
                        <a14:foregroundMark x1="25901" y1="46603" x2="25901" y2="73934"/>
                        <a14:foregroundMark x1="25901" y1="73934" x2="22973" y2="50395"/>
                        <a14:foregroundMark x1="22973" y1="50395" x2="26014" y2="53555"/>
                        <a14:foregroundMark x1="23986" y1="69510" x2="25338" y2="75197"/>
                        <a14:foregroundMark x1="25000" y1="78357" x2="25563" y2="79779"/>
                        <a14:foregroundMark x1="24212" y1="79779" x2="24212" y2="79779"/>
                        <a14:foregroundMark x1="25000" y1="80885" x2="25000" y2="80885"/>
                        <a14:foregroundMark x1="25676" y1="52923" x2="25113" y2="44392"/>
                        <a14:foregroundMark x1="25450" y1="45182" x2="24550" y2="58926"/>
                        <a14:foregroundMark x1="25676" y1="51975" x2="24212" y2="47551"/>
                        <a14:foregroundMark x1="44144" y1="45972" x2="42793" y2="45972"/>
                        <a14:foregroundMark x1="54842" y1="62559" x2="57432" y2="62717"/>
                        <a14:foregroundMark x1="53491" y1="27804" x2="40428" y2="27804"/>
                        <a14:foregroundMark x1="40428" y1="27804" x2="44707" y2="27962"/>
                        <a14:foregroundMark x1="32320" y1="29226" x2="35811" y2="30332"/>
                        <a14:foregroundMark x1="38401" y1="28120" x2="55968" y2="26540"/>
                        <a14:foregroundMark x1="55968" y1="26540" x2="69595" y2="17062"/>
                        <a14:foregroundMark x1="69595" y1="17062" x2="71059" y2="17536"/>
                        <a14:foregroundMark x1="68694" y1="21959" x2="67568" y2="33333"/>
                        <a14:foregroundMark x1="67005" y1="20063" x2="66104" y2="12006"/>
                        <a14:foregroundMark x1="73311" y1="64929" x2="76464" y2="61927"/>
                        <a14:foregroundMark x1="82658" y1="86730" x2="86599" y2="88310"/>
                        <a14:foregroundMark x1="32320" y1="93997" x2="35023" y2="94629"/>
                        <a14:foregroundMark x1="35248" y1="94945" x2="34234" y2="93207"/>
                        <a14:foregroundMark x1="34234" y1="92259" x2="34234" y2="91311"/>
                        <a14:foregroundMark x1="34347" y1="90363" x2="34347" y2="90363"/>
                        <a14:foregroundMark x1="35248" y1="92101" x2="35360" y2="93049"/>
                        <a14:foregroundMark x1="35360" y1="94471" x2="35360" y2="94471"/>
                        <a14:foregroundMark x1="35248" y1="91785" x2="35248" y2="91785"/>
                        <a14:foregroundMark x1="34797" y1="91153" x2="34685" y2="92259"/>
                        <a14:foregroundMark x1="34009" y1="93997" x2="34009" y2="94629"/>
                        <a14:foregroundMark x1="34009" y1="95261" x2="33446" y2="95419"/>
                        <a14:foregroundMark x1="32658" y1="95261" x2="32658" y2="95261"/>
                        <a14:foregroundMark x1="32320" y1="94945" x2="32320" y2="94945"/>
                        <a14:foregroundMark x1="32320" y1="94629" x2="32658" y2="95103"/>
                        <a14:foregroundMark x1="2477" y1="67773" x2="2477" y2="67773"/>
                        <a14:foregroundMark x1="3829" y1="68246" x2="4392" y2="68404"/>
                        <a14:foregroundMark x1="4842" y1="68404" x2="6532" y2="68404"/>
                        <a14:foregroundMark x1="7995" y1="68404" x2="8333" y2="68404"/>
                        <a14:foregroundMark x1="10135" y1="68404" x2="8108" y2="68562"/>
                        <a14:foregroundMark x1="6081" y1="68720" x2="19257" y2="67457"/>
                        <a14:foregroundMark x1="15315" y1="68878" x2="8446" y2="69036"/>
                        <a14:foregroundMark x1="6081" y1="69036" x2="8784" y2="68878"/>
                        <a14:foregroundMark x1="16892" y1="68562" x2="17455" y2="68404"/>
                        <a14:foregroundMark x1="18581" y1="68088" x2="20495" y2="67773"/>
                        <a14:foregroundMark x1="21959" y1="67773" x2="21959" y2="67773"/>
                        <a14:foregroundMark x1="19707" y1="67773" x2="15090" y2="67615"/>
                        <a14:foregroundMark x1="13851" y1="67615" x2="9009" y2="67773"/>
                        <a14:foregroundMark x1="4955" y1="67299" x2="1802" y2="66825"/>
                        <a14:foregroundMark x1="338" y1="66035" x2="225" y2="65245"/>
                        <a14:foregroundMark x1="225" y1="63349" x2="225" y2="61927"/>
                        <a14:foregroundMark x1="338" y1="58768" x2="225" y2="57662"/>
                        <a14:foregroundMark x1="225" y1="57188" x2="225" y2="57188"/>
                        <a14:foregroundMark x1="450" y1="61453" x2="676" y2="65561"/>
                        <a14:foregroundMark x1="1464" y1="69036" x2="1464" y2="68404"/>
                        <a14:foregroundMark x1="2027" y1="59716" x2="1802" y2="58294"/>
                        <a14:foregroundMark x1="1351" y1="56398" x2="225" y2="55924"/>
                        <a14:foregroundMark x1="225" y1="55924" x2="1351" y2="55766"/>
                        <a14:foregroundMark x1="3716" y1="55450" x2="5068" y2="55292"/>
                        <a14:foregroundMark x1="7995" y1="54818" x2="10360" y2="54502"/>
                        <a14:foregroundMark x1="11824" y1="54502" x2="13626" y2="54344"/>
                        <a14:foregroundMark x1="18243" y1="54344" x2="20045" y2="54344"/>
                        <a14:foregroundMark x1="20608" y1="54344" x2="20608" y2="54344"/>
                        <a14:foregroundMark x1="13514" y1="55292" x2="7207" y2="55292"/>
                        <a14:foregroundMark x1="3829" y1="54976" x2="2928" y2="54976"/>
                        <a14:foregroundMark x1="2703" y1="54976" x2="2703" y2="56240"/>
                        <a14:foregroundMark x1="8784" y1="57504" x2="12050" y2="57504"/>
                        <a14:foregroundMark x1="16441" y1="57504" x2="20608" y2="57662"/>
                        <a14:foregroundMark x1="22410" y1="57662" x2="22410" y2="57662"/>
                        <a14:foregroundMark x1="3153" y1="65877" x2="12050" y2="68720"/>
                        <a14:foregroundMark x1="19369" y1="67299" x2="19932" y2="67299"/>
                        <a14:foregroundMark x1="20946" y1="67299" x2="18131" y2="68246"/>
                        <a14:foregroundMark x1="16216" y1="68878" x2="12275" y2="69194"/>
                        <a14:foregroundMark x1="8108" y1="69036" x2="4842" y2="69036"/>
                        <a14:foregroundMark x1="2928" y1="69036" x2="2027" y2="69036"/>
                        <a14:foregroundMark x1="1239" y1="69036" x2="1239" y2="69036"/>
                        <a14:foregroundMark x1="3153" y1="68404" x2="3153" y2="68404"/>
                        <a14:foregroundMark x1="2928" y1="58926" x2="2928" y2="58926"/>
                        <a14:foregroundMark x1="2140" y1="57188" x2="4730" y2="56082"/>
                        <a14:foregroundMark x1="9234" y1="55608" x2="12838" y2="55450"/>
                        <a14:foregroundMark x1="15878" y1="55450" x2="15878" y2="55450"/>
                        <a14:foregroundMark x1="5856" y1="55766" x2="5856" y2="55766"/>
                        <a14:foregroundMark x1="2140" y1="56714" x2="2140" y2="56714"/>
                        <a14:foregroundMark x1="17455" y1="68246" x2="17455" y2="68246"/>
                        <a14:foregroundMark x1="20721" y1="68720" x2="20721" y2="68720"/>
                        <a14:foregroundMark x1="26239" y1="80885" x2="26239" y2="80885"/>
                        <a14:foregroundMark x1="45608" y1="70932" x2="45608" y2="70932"/>
                        <a14:foregroundMark x1="47523" y1="69036" x2="47523" y2="69036"/>
                        <a14:foregroundMark x1="49662" y1="68878" x2="49662" y2="68878"/>
                        <a14:foregroundMark x1="52365" y1="68878" x2="52703" y2="68878"/>
                        <a14:foregroundMark x1="54955" y1="68878" x2="54955" y2="68878"/>
                        <a14:foregroundMark x1="55743" y1="68878" x2="55293" y2="68878"/>
                        <a14:foregroundMark x1="51239" y1="68878" x2="54392" y2="68720"/>
                        <a14:foregroundMark x1="54505" y1="69510" x2="54505" y2="69510"/>
                        <a14:foregroundMark x1="52703" y1="66983" x2="52252" y2="61137"/>
                        <a14:foregroundMark x1="55631" y1="59716" x2="54955" y2="61295"/>
                        <a14:foregroundMark x1="55293" y1="59242" x2="55293" y2="59242"/>
                        <a14:foregroundMark x1="56194" y1="54818" x2="56532" y2="54186"/>
                        <a14:foregroundMark x1="57545" y1="51659" x2="57545" y2="51659"/>
                        <a14:foregroundMark x1="55293" y1="45972" x2="46509" y2="50711"/>
                        <a14:foregroundMark x1="46284" y1="50711" x2="55631" y2="48025"/>
                        <a14:foregroundMark x1="55293" y1="44076" x2="54730" y2="49447"/>
                        <a14:foregroundMark x1="57207" y1="64771" x2="58671" y2="63349"/>
                        <a14:foregroundMark x1="55405" y1="71248" x2="77140" y2="65403"/>
                        <a14:foregroundMark x1="77140" y1="65403" x2="74437" y2="67457"/>
                        <a14:foregroundMark x1="51464" y1="70300" x2="53829" y2="69194"/>
                        <a14:foregroundMark x1="53716" y1="72038" x2="50901" y2="69984"/>
                        <a14:foregroundMark x1="48198" y1="70458" x2="46622" y2="70458"/>
                        <a14:foregroundMark x1="44820" y1="70142" x2="44707" y2="69510"/>
                        <a14:foregroundMark x1="45495" y1="68720" x2="48086" y2="68246"/>
                        <a14:foregroundMark x1="51239" y1="68088" x2="52365" y2="68404"/>
                        <a14:foregroundMark x1="68694" y1="69668" x2="69820" y2="69668"/>
                        <a14:foregroundMark x1="71059" y1="69668" x2="71059" y2="69668"/>
                        <a14:foregroundMark x1="72635" y1="69036" x2="74099" y2="68720"/>
                        <a14:foregroundMark x1="75113" y1="68562" x2="75113" y2="68562"/>
                        <a14:foregroundMark x1="70833" y1="68720" x2="68581" y2="69036"/>
                        <a14:foregroundMark x1="65541" y1="69194" x2="64752" y2="69194"/>
                        <a14:foregroundMark x1="64865" y1="69194" x2="67117" y2="69510"/>
                        <a14:foregroundMark x1="68131" y1="69510" x2="68131" y2="69510"/>
                        <a14:foregroundMark x1="68131" y1="68562" x2="68468" y2="68088"/>
                        <a14:foregroundMark x1="68806" y1="67615" x2="68806" y2="67615"/>
                        <a14:foregroundMark x1="44707" y1="44234" x2="43694" y2="44076"/>
                        <a14:foregroundMark x1="42455" y1="44076" x2="43468" y2="45182"/>
                        <a14:foregroundMark x1="43694" y1="45498" x2="43694" y2="45498"/>
                        <a14:foregroundMark x1="44482" y1="45498" x2="44482" y2="45498"/>
                        <a14:foregroundMark x1="44482" y1="45182" x2="44369" y2="44708"/>
                        <a14:foregroundMark x1="27477" y1="45182" x2="26126" y2="45498"/>
                        <a14:foregroundMark x1="25450" y1="45024" x2="25676" y2="45498"/>
                        <a14:foregroundMark x1="26239" y1="46288" x2="25901" y2="45024"/>
                        <a14:foregroundMark x1="25113" y1="43760" x2="24437" y2="42970"/>
                        <a14:foregroundMark x1="23986" y1="42022" x2="23986" y2="42022"/>
                        <a14:foregroundMark x1="23986" y1="42022" x2="24437" y2="42970"/>
                        <a14:foregroundMark x1="24662" y1="44234" x2="24662" y2="45814"/>
                        <a14:foregroundMark x1="24662" y1="47235" x2="24662" y2="48657"/>
                        <a14:foregroundMark x1="25000" y1="51027" x2="25338" y2="53397"/>
                        <a14:foregroundMark x1="33333" y1="30806" x2="32995" y2="30490"/>
                        <a14:foregroundMark x1="31982" y1="29542" x2="31982" y2="29542"/>
                        <a14:foregroundMark x1="32095" y1="28436" x2="32095" y2="27804"/>
                        <a14:foregroundMark x1="32095" y1="27172" x2="32995" y2="27014"/>
                        <a14:foregroundMark x1="33671" y1="26540" x2="34459" y2="26540"/>
                        <a14:foregroundMark x1="36036" y1="26540" x2="36599" y2="26540"/>
                        <a14:foregroundMark x1="37162" y1="26540" x2="37162" y2="26540"/>
                        <a14:foregroundMark x1="34122" y1="26540" x2="32432" y2="26540"/>
                        <a14:foregroundMark x1="31532" y1="26224" x2="30968" y2="26224"/>
                        <a14:foregroundMark x1="31419" y1="26224" x2="33221" y2="26224"/>
                        <a14:foregroundMark x1="34797" y1="26224" x2="37387" y2="26382"/>
                        <a14:foregroundMark x1="37838" y1="26540" x2="37838" y2="26540"/>
                        <a14:foregroundMark x1="34122" y1="26698" x2="32995" y2="26698"/>
                        <a14:foregroundMark x1="30968" y1="26382" x2="30968" y2="26382"/>
                        <a14:foregroundMark x1="31644" y1="26066" x2="34009" y2="25908"/>
                        <a14:foregroundMark x1="34459" y1="25908" x2="35360" y2="25908"/>
                        <a14:foregroundMark x1="36036" y1="25908" x2="36599" y2="25908"/>
                        <a14:foregroundMark x1="37275" y1="25750" x2="37275" y2="25750"/>
                        <a14:foregroundMark x1="34122" y1="25750" x2="32320" y2="25908"/>
                        <a14:foregroundMark x1="31644" y1="26066" x2="30968" y2="27804"/>
                        <a14:foregroundMark x1="30743" y1="28752" x2="30743" y2="30648"/>
                        <a14:foregroundMark x1="31081" y1="31596" x2="32207" y2="32227"/>
                        <a14:foregroundMark x1="33784" y1="32385" x2="36036" y2="32385"/>
                        <a14:foregroundMark x1="37050" y1="32385" x2="37613" y2="32701"/>
                        <a14:foregroundMark x1="60923" y1="26698" x2="60586" y2="25276"/>
                        <a14:foregroundMark x1="60473" y1="22749" x2="60473" y2="20379"/>
                        <a14:foregroundMark x1="60473" y1="17852" x2="60923" y2="15324"/>
                        <a14:foregroundMark x1="62500" y1="13270" x2="65090" y2="12638"/>
                        <a14:foregroundMark x1="67568" y1="12480" x2="70270" y2="12480"/>
                        <a14:foregroundMark x1="75000" y1="12480" x2="75000" y2="12480"/>
                        <a14:foregroundMark x1="72297" y1="14376" x2="70270" y2="14692"/>
                        <a14:foregroundMark x1="66329" y1="13744" x2="62838" y2="13428"/>
                        <a14:foregroundMark x1="60586" y1="13902" x2="60023" y2="15324"/>
                        <a14:foregroundMark x1="60248" y1="16746" x2="60248" y2="19431"/>
                        <a14:foregroundMark x1="60360" y1="21011" x2="60360" y2="22907"/>
                        <a14:foregroundMark x1="60360" y1="24487" x2="60360" y2="24329"/>
                        <a14:foregroundMark x1="60811" y1="18167" x2="61036" y2="15166"/>
                        <a14:foregroundMark x1="61824" y1="14060" x2="64752" y2="13902"/>
                        <a14:foregroundMark x1="69932" y1="14534" x2="73536" y2="15166"/>
                        <a14:foregroundMark x1="74324" y1="15324" x2="74099" y2="17852"/>
                        <a14:foregroundMark x1="73423" y1="21011" x2="71734" y2="27804"/>
                        <a14:foregroundMark x1="71622" y1="25118" x2="72523" y2="19115"/>
                        <a14:foregroundMark x1="72748" y1="18167" x2="72297" y2="21011"/>
                        <a14:foregroundMark x1="71509" y1="24803" x2="70495" y2="27172"/>
                        <a14:foregroundMark x1="67905" y1="28752" x2="67005" y2="28910"/>
                        <a14:foregroundMark x1="67005" y1="28910" x2="69820" y2="28910"/>
                        <a14:foregroundMark x1="71059" y1="28752" x2="72635" y2="28120"/>
                        <a14:foregroundMark x1="73086" y1="27330" x2="72748" y2="26066"/>
                        <a14:foregroundMark x1="73536" y1="19905" x2="73536" y2="19905"/>
                        <a14:foregroundMark x1="72860" y1="21485" x2="71396" y2="25908"/>
                        <a14:foregroundMark x1="70045" y1="29068" x2="70721" y2="32859"/>
                        <a14:foregroundMark x1="71509" y1="33649" x2="72523" y2="34123"/>
                        <a14:foregroundMark x1="75901" y1="34439" x2="77027" y2="34439"/>
                        <a14:foregroundMark x1="77815" y1="34439" x2="77815" y2="34439"/>
                        <a14:foregroundMark x1="73649" y1="30964" x2="72748" y2="30174"/>
                        <a14:foregroundMark x1="71847" y1="29384" x2="71396" y2="30964"/>
                        <a14:foregroundMark x1="71509" y1="34123" x2="73761" y2="35071"/>
                        <a14:foregroundMark x1="77815" y1="35071" x2="78941" y2="35071"/>
                        <a14:foregroundMark x1="78941" y1="35703" x2="76577" y2="38863"/>
                        <a14:foregroundMark x1="75788" y1="41232" x2="74887" y2="46445"/>
                        <a14:foregroundMark x1="74887" y1="46603" x2="77590" y2="32701"/>
                        <a14:foregroundMark x1="73536" y1="32227" x2="78153" y2="33175"/>
                        <a14:foregroundMark x1="77815" y1="36177" x2="77140" y2="37599"/>
                        <a14:foregroundMark x1="76126" y1="33175" x2="76689" y2="33807"/>
                        <a14:foregroundMark x1="76802" y1="47077" x2="89865" y2="55292"/>
                        <a14:foregroundMark x1="89865" y1="55292" x2="92117" y2="54976"/>
                        <a14:foregroundMark x1="90766" y1="56398" x2="90766" y2="56398"/>
                        <a14:foregroundMark x1="91892" y1="56872" x2="93694" y2="56872"/>
                        <a14:foregroundMark x1="97635" y1="57030" x2="97973" y2="57030"/>
                        <a14:foregroundMark x1="94932" y1="56714" x2="93468" y2="56714"/>
                        <a14:foregroundMark x1="93468" y1="56714" x2="93468" y2="56714"/>
                        <a14:foregroundMark x1="93468" y1="56714" x2="95721" y2="56398"/>
                        <a14:foregroundMark x1="97072" y1="56240" x2="98986" y2="56240"/>
                        <a14:foregroundMark x1="99887" y1="56082" x2="98761" y2="55924"/>
                        <a14:foregroundMark x1="94032" y1="55450" x2="91892" y2="55292"/>
                        <a14:foregroundMark x1="90766" y1="55292" x2="90766" y2="55292"/>
                        <a14:foregroundMark x1="93919" y1="55766" x2="97297" y2="56398"/>
                        <a14:foregroundMark x1="97973" y1="56714" x2="97973" y2="56714"/>
                        <a14:foregroundMark x1="19482" y1="55292" x2="14640" y2="55608"/>
                        <a14:foregroundMark x1="14640" y1="55608" x2="14640" y2="55608"/>
                        <a14:foregroundMark x1="24212" y1="33807" x2="30180" y2="32701"/>
                        <a14:foregroundMark x1="25225" y1="33017" x2="25225" y2="33017"/>
                        <a14:foregroundMark x1="28491" y1="32701" x2="28491" y2="32701"/>
                        <a14:foregroundMark x1="26014" y1="32701" x2="25225" y2="32701"/>
                        <a14:foregroundMark x1="24437" y1="32701" x2="25901" y2="40916"/>
                        <a14:foregroundMark x1="25338" y1="41706" x2="23649" y2="33649"/>
                        <a14:foregroundMark x1="25225" y1="40916" x2="25113" y2="41548"/>
                        <a14:foregroundMark x1="25450" y1="34755" x2="25225" y2="34123"/>
                        <a14:foregroundMark x1="23198" y1="32859" x2="29279" y2="33017"/>
                        <a14:foregroundMark x1="29167" y1="32859" x2="30743" y2="32227"/>
                        <a14:foregroundMark x1="27252" y1="33807" x2="27252" y2="33807"/>
                        <a14:foregroundMark x1="26689" y1="33175" x2="26689" y2="33175"/>
                        <a14:foregroundMark x1="87162" y1="66193" x2="90878" y2="64297"/>
                        <a14:foregroundMark x1="87162" y1="64929" x2="87162" y2="64929"/>
                        <a14:foregroundMark x1="94595" y1="66351" x2="94595" y2="66351"/>
                        <a14:foregroundMark x1="93919" y1="71564" x2="80068" y2="71090"/>
                        <a14:foregroundMark x1="80068" y1="71090" x2="94144" y2="74566"/>
                        <a14:foregroundMark x1="82995" y1="85940" x2="87275" y2="82306"/>
                        <a14:foregroundMark x1="82207" y1="90363" x2="75901" y2="85940"/>
                        <a14:foregroundMark x1="26126" y1="81517" x2="32207" y2="91627"/>
                        <a14:foregroundMark x1="30068" y1="90995" x2="30068" y2="90995"/>
                        <a14:foregroundMark x1="29505" y1="90995" x2="27365" y2="91469"/>
                        <a14:foregroundMark x1="25676" y1="91469" x2="24324" y2="91311"/>
                        <a14:foregroundMark x1="23423" y1="90995" x2="23423" y2="90995"/>
                        <a14:foregroundMark x1="24324" y1="90995" x2="33784" y2="91153"/>
                        <a14:foregroundMark x1="30968" y1="91311" x2="30518" y2="91469"/>
                        <a14:foregroundMark x1="29955" y1="91627" x2="28604" y2="91785"/>
                        <a14:foregroundMark x1="27140" y1="91785" x2="26351" y2="91785"/>
                        <a14:foregroundMark x1="25000" y1="91627" x2="25000" y2="91627"/>
                        <a14:foregroundMark x1="24437" y1="91627" x2="24437" y2="91627"/>
                        <a14:foregroundMark x1="23536" y1="91469" x2="23198" y2="90679"/>
                        <a14:foregroundMark x1="23198" y1="90047" x2="23536" y2="89415"/>
                        <a14:foregroundMark x1="24437" y1="87836" x2="24887" y2="86730"/>
                        <a14:foregroundMark x1="25338" y1="84044" x2="25338" y2="84044"/>
                        <a14:foregroundMark x1="25225" y1="82622" x2="25225" y2="82622"/>
                        <a14:foregroundMark x1="24662" y1="84044" x2="23874" y2="87836"/>
                        <a14:foregroundMark x1="23874" y1="87994" x2="23986" y2="87046"/>
                        <a14:foregroundMark x1="24662" y1="84518" x2="25901" y2="80569"/>
                        <a14:foregroundMark x1="26239" y1="79937" x2="26239" y2="79937"/>
                        <a14:foregroundMark x1="20270" y1="69194" x2="20270" y2="69194"/>
                        <a14:foregroundMark x1="19257" y1="69194" x2="17455" y2="69194"/>
                        <a14:foregroundMark x1="17117" y1="69194" x2="17117" y2="69194"/>
                        <a14:foregroundMark x1="2252" y1="56082" x2="2252" y2="56082"/>
                        <a14:foregroundMark x1="2140" y1="56714" x2="2140" y2="56714"/>
                        <a14:foregroundMark x1="1126" y1="56082" x2="1126" y2="56082"/>
                        <a14:foregroundMark x1="1464" y1="56082" x2="1464" y2="56082"/>
                        <a14:foregroundMark x1="2252" y1="56082" x2="2252" y2="56082"/>
                        <a14:foregroundMark x1="2365" y1="56082" x2="1464" y2="56082"/>
                        <a14:foregroundMark x1="3153" y1="56714" x2="2815" y2="56398"/>
                        <a14:foregroundMark x1="1802" y1="55766" x2="1802" y2="55766"/>
                        <a14:foregroundMark x1="1689" y1="55766" x2="1689" y2="55766"/>
                        <a14:foregroundMark x1="26014" y1="33175" x2="28153" y2="32859"/>
                        <a14:foregroundMark x1="27252" y1="33175" x2="27252" y2="33175"/>
                        <a14:foregroundMark x1="26577" y1="33333" x2="26577" y2="33333"/>
                        <a14:foregroundMark x1="26351" y1="32859" x2="26351" y2="32859"/>
                        <a14:foregroundMark x1="61486" y1="9795" x2="61486" y2="9795"/>
                        <a14:foregroundMark x1="60923" y1="7741" x2="60923" y2="7741"/>
                        <a14:foregroundMark x1="60811" y1="4897" x2="60811" y2="4897"/>
                        <a14:foregroundMark x1="60586" y1="6477" x2="60586" y2="8215"/>
                        <a14:foregroundMark x1="60586" y1="9479" x2="60586" y2="9479"/>
                        <a14:foregroundMark x1="60586" y1="10111" x2="61599" y2="11058"/>
                        <a14:foregroundMark x1="72297" y1="8847" x2="72297" y2="8847"/>
                        <a14:foregroundMark x1="71847" y1="6951" x2="71734" y2="6161"/>
                        <a14:foregroundMark x1="71622" y1="4581" x2="71622" y2="3949"/>
                        <a14:foregroundMark x1="71622" y1="3318" x2="71622" y2="3318"/>
                        <a14:foregroundMark x1="71622" y1="2528" x2="71622" y2="2528"/>
                        <a14:foregroundMark x1="71396" y1="6161" x2="71509" y2="9637"/>
                        <a14:foregroundMark x1="71509" y1="10900" x2="71622" y2="12480"/>
                        <a14:foregroundMark x1="71284" y1="6635" x2="71284" y2="2528"/>
                        <a14:backgroundMark x1="16329" y1="20379" x2="16329" y2="20379"/>
                        <a14:backgroundMark x1="24212" y1="19115" x2="24212" y2="19115"/>
                        <a14:backgroundMark x1="85473" y1="25908" x2="85473" y2="25908"/>
                        <a14:backgroundMark x1="83896" y1="24803" x2="83896" y2="24803"/>
                        <a14:backgroundMark x1="85473" y1="34281" x2="85811" y2="40442"/>
                        <a14:backgroundMark x1="79505" y1="71090" x2="79505" y2="71090"/>
                      </a14:backgroundRemoval>
                    </a14:imgEffect>
                  </a14:imgLayer>
                </a14:imgProps>
              </a:ext>
              <a:ext uri="{28A0092B-C50C-407E-A947-70E740481C1C}">
                <a14:useLocalDpi xmlns:a14="http://schemas.microsoft.com/office/drawing/2010/main" val="0"/>
              </a:ext>
            </a:extLst>
          </a:blip>
          <a:stretch>
            <a:fillRect/>
          </a:stretch>
        </p:blipFill>
        <p:spPr>
          <a:xfrm>
            <a:off x="7248128" y="2384885"/>
            <a:ext cx="4141655" cy="2952328"/>
          </a:xfrm>
          <a:prstGeom prst="rect">
            <a:avLst/>
          </a:prstGeom>
        </p:spPr>
      </p:pic>
      <p:sp>
        <p:nvSpPr>
          <p:cNvPr id="4" name="矩形 3">
            <a:extLst>
              <a:ext uri="{FF2B5EF4-FFF2-40B4-BE49-F238E27FC236}">
                <a16:creationId xmlns:a16="http://schemas.microsoft.com/office/drawing/2014/main" id="{9C023F9D-1B5B-E644-407D-E319205473AF}"/>
              </a:ext>
            </a:extLst>
          </p:cNvPr>
          <p:cNvSpPr/>
          <p:nvPr/>
        </p:nvSpPr>
        <p:spPr>
          <a:xfrm>
            <a:off x="5955200" y="5435351"/>
            <a:ext cx="5688632" cy="307777"/>
          </a:xfrm>
          <a:prstGeom prst="rect">
            <a:avLst/>
          </a:prstGeom>
        </p:spPr>
        <p:txBody>
          <a:bodyPr wrap="square">
            <a:spAutoFit/>
          </a:bodyPr>
          <a:lstStyle/>
          <a:p>
            <a:pPr lvl="2"/>
            <a:r>
              <a:rPr lang="en-US" altLang="zh-CN" sz="1400" dirty="0"/>
              <a:t>Figure 2: Structure of the controllable diffusion model.</a:t>
            </a:r>
          </a:p>
        </p:txBody>
      </p:sp>
    </p:spTree>
    <p:extLst>
      <p:ext uri="{BB962C8B-B14F-4D97-AF65-F5344CB8AC3E}">
        <p14:creationId xmlns:p14="http://schemas.microsoft.com/office/powerpoint/2010/main" val="3374294137"/>
      </p:ext>
    </p:extLst>
  </p:cSld>
  <p:clrMapOvr>
    <a:masterClrMapping/>
  </p:clrMapOvr>
</p:sld>
</file>

<file path=ppt/theme/theme1.xml><?xml version="1.0" encoding="utf-8"?>
<a:theme xmlns:a="http://schemas.openxmlformats.org/drawingml/2006/main" name="University of Melbourne">
  <a:themeElements>
    <a:clrScheme name="UOM Option2 Colours">
      <a:dk1>
        <a:sysClr val="windowText" lastClr="000000"/>
      </a:dk1>
      <a:lt1>
        <a:sysClr val="window" lastClr="FFFFFF"/>
      </a:lt1>
      <a:dk2>
        <a:srgbClr val="000000"/>
      </a:dk2>
      <a:lt2>
        <a:srgbClr val="000F46"/>
      </a:lt2>
      <a:accent1>
        <a:srgbClr val="000000"/>
      </a:accent1>
      <a:accent2>
        <a:srgbClr val="46C8F0"/>
      </a:accent2>
      <a:accent3>
        <a:srgbClr val="FF2D3C"/>
      </a:accent3>
      <a:accent4>
        <a:srgbClr val="885771"/>
      </a:accent4>
      <a:accent5>
        <a:srgbClr val="9FB825"/>
      </a:accent5>
      <a:accent6>
        <a:srgbClr val="003C55"/>
      </a:accent6>
      <a:hlink>
        <a:srgbClr val="000F46"/>
      </a:hlink>
      <a:folHlink>
        <a:srgbClr val="000F46"/>
      </a:folHlink>
    </a:clrScheme>
    <a:fontScheme name="University of Melbourn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6E6E6"/>
        </a:solidFill>
        <a:ln>
          <a:noFill/>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Black Sheoak (Dark)">
      <a:srgbClr val="78000D"/>
    </a:custClr>
    <a:custClr name="Possum (Dark)">
      <a:srgbClr val="73234B"/>
    </a:custClr>
    <a:custClr name="Possum (Light)">
      <a:srgbClr val="EB7BBE"/>
    </a:custClr>
    <a:custClr name="Yam Daisy (Dark)">
      <a:srgbClr val="A84500"/>
    </a:custClr>
    <a:custClr name="Yam Daisy (Light)">
      <a:srgbClr val="FFD629"/>
    </a:custClr>
    <a:custClr name="Magpie (Light)">
      <a:srgbClr val="C8C8C8"/>
    </a:custClr>
    <a:custClr name="Mt William Greenstone (Light)">
      <a:srgbClr val="ABC1A7"/>
    </a:custClr>
    <a:custClr name="River Red Gum (Dark)">
      <a:srgbClr val="2C421D"/>
    </a:custClr>
    <a:custClr name="Magpie (Dark)">
      <a:srgbClr val="2D2D2D"/>
    </a:custClr>
    <a:custClr name="Mt William Greenstone (Dark)">
      <a:srgbClr val="444A40"/>
    </a:custClr>
  </a:custClrLst>
  <a:extLst>
    <a:ext uri="{05A4C25C-085E-4340-85A3-A5531E510DB2}">
      <thm15:themeFamily xmlns:thm15="http://schemas.microsoft.com/office/thememl/2012/main" name="Master_University of Melbourne.potx" id="{EEF8E8C5-136A-4328-9120-DC238DB23620}" vid="{3C59B156-C13B-4CA4-AD0B-4F3716D70D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UI/customUI.xml><?xml version="1.0" encoding="utf-8"?>
<customUI xmlns="http://schemas.microsoft.com/office/2006/01/customui">
  <ribbon startFromScratch="false">
    <tabs>
      <tab id="CustomTab" label="University of Melbourne" insertBeforeMso="TabHome" keytip="Q">
        <group idMso="GroupSlides"/>
        <group id="Group1" label="Change Bullet Styles">
          <button idMso="IndentDecrease" visible="true" label="Decrease List Level" size="large"/>
          <button idMso="IndentIncrease" visible="true" label="Increase List Level" size="large"/>
        </group>
        <group id="Group2" label=" ">
          <checkBox idMso="GuidesShowHide" label="Guides"/>
          <splitButton id="groupsplitbutton" size="normal">
            <button idMso="ObjectsGroup"/>
            <menu id="groupsplitmenu" itemSize="large">
              <button idMso="ObjectsUngroup" description="Un-group selected objects" screentip="Un-group selected objects"/>
              <button idMso="ObjectsRegroup" description="Combine and re-Group selected objects" screentip="Combine and re-Group selected objects"/>
            </menu>
          </splitButton>
          <splitButton id="Cropping" size="normal">
            <toggleButton idMso="PictureCrop" label="Crop Tools"/>
            <menu id="CropMenu" itemSize="large">
              <button idMso="PictureFitCrop" description="Resize picture to fit the placeholder proportionally"/>
              <menuSeparator id="croppingmenu2"/>
              <menu idMso="PictureCropAspectRatioMenu" description="Crop image to selected aspect ratio"/>
              <gallery idMso="PictureShapeGallery" description="Crop image to selected shape"/>
            </menu>
          </splitButton>
          <separator id="sep1"/>
          <button idMso="ZoomFitToWindow" size="large" label="Fit to Window"/>
        </group>
        <group id="customGroup3" label="Accessibility Tools">
          <splitButton idMso="MenuAccessibility" visible="true" size="large"/>
          <separator id="Acc"/>
          <toggleButton idMso="AltTextPaneRibbon" visible="true" size="large"/>
          <separator id="sep3"/>
          <toggleButton idMso="SelectionPane" label="Selection Pane" size="large"/>
          <separator id="sep2"/>
          <splitButton id="sendbacksplitbutton" size="large">
            <button idMso="ObjectSendToBack" label="Send to Back"/>
            <menu id="sendbacksplitmenu" itemSize="large">
              <button idMso="ObjectBringToFront" label="Bring to Front"/>
            </menu>
          </splitButton>
        </group>
        <group id="group3" label=" ">
          <button idMso="PictureInsertFromFilePowerPoint" visible="true" size="large" label="Insert Symbols and Patterns" imageMso="InsertPictures"/>
          <button idMso="HeaderFooterInsert" size="large"/>
          <button idMso="PasteTextOnly" size="large" imageMso="Paste" label="Paste Unformatted"/>
        </group>
      </tab>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b4f495-11b8-43f2-b0a6-bd3e9198cf0b">
      <Terms xmlns="http://schemas.microsoft.com/office/infopath/2007/PartnerControls"/>
    </lcf76f155ced4ddcb4097134ff3c332f>
    <TaxCatchAll xmlns="ae8ede3d-ca04-40de-a521-e5739ec48b5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A11C620F3B436428A25057898027FE7" ma:contentTypeVersion="13" ma:contentTypeDescription="Create a new document." ma:contentTypeScope="" ma:versionID="e75af887571335a19ecb0f2c01abbd63">
  <xsd:schema xmlns:xsd="http://www.w3.org/2001/XMLSchema" xmlns:xs="http://www.w3.org/2001/XMLSchema" xmlns:p="http://schemas.microsoft.com/office/2006/metadata/properties" xmlns:ns2="11b4f495-11b8-43f2-b0a6-bd3e9198cf0b" xmlns:ns3="ae8ede3d-ca04-40de-a521-e5739ec48b5f" targetNamespace="http://schemas.microsoft.com/office/2006/metadata/properties" ma:root="true" ma:fieldsID="5a5d3d7acb5601e93c2cbac012439d32" ns2:_="" ns3:_="">
    <xsd:import namespace="11b4f495-11b8-43f2-b0a6-bd3e9198cf0b"/>
    <xsd:import namespace="ae8ede3d-ca04-40de-a521-e5739ec48b5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b4f495-11b8-43f2-b0a6-bd3e9198cf0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Location" ma:index="14" nillable="true" ma:displayName="Location" ma:internalName="MediaServiceLocatio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166921fe-4017-451f-be36-692af8ba859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ae8ede3d-ca04-40de-a521-e5739ec48b5f"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eebe2cbe-a4cc-4daf-9365-b3e719dfc505}" ma:internalName="TaxCatchAll" ma:showField="CatchAllData" ma:web="ae8ede3d-ca04-40de-a521-e5739ec48b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8FFBB9-4FB3-4A1F-8381-B3FA72337E91}">
  <ds:schemaRefs>
    <ds:schemaRef ds:uri="http://purl.org/dc/dcmitype/"/>
    <ds:schemaRef ds:uri="http://schemas.microsoft.com/office/2006/documentManagement/types"/>
    <ds:schemaRef ds:uri="http://schemas.openxmlformats.org/package/2006/metadata/core-properties"/>
    <ds:schemaRef ds:uri="http://purl.org/dc/elements/1.1/"/>
    <ds:schemaRef ds:uri="http://purl.org/dc/terms/"/>
    <ds:schemaRef ds:uri="http://schemas.microsoft.com/office/2006/metadata/properties"/>
    <ds:schemaRef ds:uri="ae8ede3d-ca04-40de-a521-e5739ec48b5f"/>
    <ds:schemaRef ds:uri="http://schemas.microsoft.com/office/infopath/2007/PartnerControls"/>
    <ds:schemaRef ds:uri="11b4f495-11b8-43f2-b0a6-bd3e9198cf0b"/>
    <ds:schemaRef ds:uri="http://www.w3.org/XML/1998/namespace"/>
  </ds:schemaRefs>
</ds:datastoreItem>
</file>

<file path=customXml/itemProps2.xml><?xml version="1.0" encoding="utf-8"?>
<ds:datastoreItem xmlns:ds="http://schemas.openxmlformats.org/officeDocument/2006/customXml" ds:itemID="{FDBE7C61-A3B0-4286-8062-81097C40FC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b4f495-11b8-43f2-b0a6-bd3e9198cf0b"/>
    <ds:schemaRef ds:uri="ae8ede3d-ca04-40de-a521-e5739ec48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2C75387-93F6-4D93-B300-D671EFAD9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Master_University-of-Melbourne</Template>
  <TotalTime>3629</TotalTime>
  <Words>897</Words>
  <Application>Microsoft Office PowerPoint</Application>
  <PresentationFormat>宽屏</PresentationFormat>
  <Paragraphs>155</Paragraphs>
  <Slides>18</Slides>
  <Notes>18</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18</vt:i4>
      </vt:variant>
    </vt:vector>
  </HeadingPairs>
  <TitlesOfParts>
    <vt:vector size="22" baseType="lpstr">
      <vt:lpstr>HelveticaNeue Regular</vt:lpstr>
      <vt:lpstr>Arial</vt:lpstr>
      <vt:lpstr>Calibri</vt:lpstr>
      <vt:lpstr>University of Melbourne</vt:lpstr>
      <vt:lpstr>Data Quality of Generative Images for Object Detection</vt:lpstr>
      <vt:lpstr>Background</vt:lpstr>
      <vt:lpstr>Background</vt:lpstr>
      <vt:lpstr>Background</vt:lpstr>
      <vt:lpstr>Motivation: Previous Work</vt:lpstr>
      <vt:lpstr>Motivation: Previous Work</vt:lpstr>
      <vt:lpstr>Motivation: Previous Work</vt:lpstr>
      <vt:lpstr>Motivation: Previous Work</vt:lpstr>
      <vt:lpstr>Motivation: Previous Work</vt:lpstr>
      <vt:lpstr>Research Objectives</vt:lpstr>
      <vt:lpstr>Research Framework</vt:lpstr>
      <vt:lpstr>Methodology: Generation Pipeline</vt:lpstr>
      <vt:lpstr>Methodology: Downstream Task</vt:lpstr>
      <vt:lpstr>Evaluation</vt:lpstr>
      <vt:lpstr>Expected Contributions</vt:lpstr>
      <vt:lpstr>Reference</vt:lpstr>
      <vt:lpstr>Motivation &amp; Research Objectives</vt:lpstr>
      <vt:lpstr>Appendix</vt:lpstr>
    </vt:vector>
  </TitlesOfParts>
  <Company>The University of Melbourne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 Microsoft PowerPoint</dc:title>
  <dc:creator>Susannah Woodward</dc:creator>
  <cp:lastModifiedBy>景成 钱</cp:lastModifiedBy>
  <cp:revision>38</cp:revision>
  <dcterms:created xsi:type="dcterms:W3CDTF">2024-08-22T01:42:58Z</dcterms:created>
  <dcterms:modified xsi:type="dcterms:W3CDTF">2025-10-19T15:45:28Z</dcterms:modified>
  <cp:category>PowerPoint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0x0101001A11C620F3B436428A25057898027FE7</vt:lpwstr>
  </property>
</Properties>
</file>